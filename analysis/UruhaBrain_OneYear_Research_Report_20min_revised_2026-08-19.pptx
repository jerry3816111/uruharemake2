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01c26b2c1421f" /><Relationship Type="http://schemas.openxmlformats.org/officeDocument/2006/relationships/extended-properties" Target="/docProps/app.xml" Id="R77f025f8c27b4108" /><Relationship Type="http://schemas.openxmlformats.org/officeDocument/2006/relationships/officeDocument" Target="/ppt/presentation.xml" Id="R1cfb5103fab743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0c24bd3f5f46a2"/>
  </p:sldMasterIdLst>
  <p:notesMasterIdLst>
    <p:notesMasterId xmlns:r="http://schemas.openxmlformats.org/officeDocument/2006/relationships" r:id="R4fcac4b4ffc04933"/>
  </p:notesMasterIdLst>
  <p:sldIdLst>
    <p:sldId xmlns:r="http://schemas.openxmlformats.org/officeDocument/2006/relationships" id="256" r:id="R14e5ea8c2b764137"/>
    <p:sldId xmlns:r="http://schemas.openxmlformats.org/officeDocument/2006/relationships" id="257" r:id="Ref914c29cfb74687"/>
    <p:sldId xmlns:r="http://schemas.openxmlformats.org/officeDocument/2006/relationships" id="258" r:id="R616d5044eb9549a6"/>
    <p:sldId xmlns:r="http://schemas.openxmlformats.org/officeDocument/2006/relationships" id="259" r:id="R1dfe3fe32caa44b6"/>
    <p:sldId xmlns:r="http://schemas.openxmlformats.org/officeDocument/2006/relationships" id="260" r:id="R253dcf18544e41f5"/>
    <p:sldId xmlns:r="http://schemas.openxmlformats.org/officeDocument/2006/relationships" id="261" r:id="Rcae3dfc478d3402d"/>
    <p:sldId xmlns:r="http://schemas.openxmlformats.org/officeDocument/2006/relationships" id="262" r:id="R3edc40c22c294247"/>
    <p:sldId xmlns:r="http://schemas.openxmlformats.org/officeDocument/2006/relationships" id="263" r:id="Ra0254725c9e744e9"/>
    <p:sldId xmlns:r="http://schemas.openxmlformats.org/officeDocument/2006/relationships" id="264" r:id="R4762744f00a443fa"/>
    <p:sldId xmlns:r="http://schemas.openxmlformats.org/officeDocument/2006/relationships" id="265" r:id="R1ba10aee133f4f96"/>
    <p:sldId xmlns:r="http://schemas.openxmlformats.org/officeDocument/2006/relationships" id="266" r:id="R98e1b64810524b35"/>
    <p:sldId xmlns:r="http://schemas.openxmlformats.org/officeDocument/2006/relationships" id="267" r:id="R92c7bec4ec1b4324"/>
    <p:sldId xmlns:r="http://schemas.openxmlformats.org/officeDocument/2006/relationships" id="268" r:id="R0dbd94d1a6b2496a"/>
    <p:sldId xmlns:r="http://schemas.openxmlformats.org/officeDocument/2006/relationships" id="269" r:id="Rdf793be2115f4069"/>
    <p:sldId xmlns:r="http://schemas.openxmlformats.org/officeDocument/2006/relationships" id="270" r:id="Rfda78c1b21ee47ed"/>
    <p:sldId xmlns:r="http://schemas.openxmlformats.org/officeDocument/2006/relationships" id="271" r:id="Ra57c0d9f07de4d03"/>
    <p:sldId xmlns:r="http://schemas.openxmlformats.org/officeDocument/2006/relationships" id="272" r:id="Re4014f9ef6da4f29"/>
    <p:sldId xmlns:r="http://schemas.openxmlformats.org/officeDocument/2006/relationships" id="273" r:id="R2365495cb1dd4c73"/>
    <p:sldId xmlns:r="http://schemas.openxmlformats.org/officeDocument/2006/relationships" id="274" r:id="R40443365043c49b3"/>
    <p:sldId xmlns:r="http://schemas.openxmlformats.org/officeDocument/2006/relationships" id="275" r:id="Rdd5d6cb884384c55"/>
    <p:sldId xmlns:r="http://schemas.openxmlformats.org/officeDocument/2006/relationships" id="276" r:id="Rec6c98d5c2f640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53b49f10284a85" /><Relationship Type="http://schemas.openxmlformats.org/officeDocument/2006/relationships/slideMaster" Target="/ppt/slideMasters/slideMaster1.xml" Id="R220c24bd3f5f46a2" /><Relationship Type="http://schemas.openxmlformats.org/officeDocument/2006/relationships/notesMaster" Target="/ppt/notesMasters/notesMaster1.xml" Id="R4fcac4b4ffc04933" /><Relationship Type="http://schemas.openxmlformats.org/officeDocument/2006/relationships/presProps" Target="/ppt/presProps.xml" Id="R93bc280534774cb9" /><Relationship Type="http://schemas.openxmlformats.org/officeDocument/2006/relationships/tableStyles" Target="/ppt/tableStyles.xml" Id="R8364962d249d495f" /><Relationship Type="http://schemas.openxmlformats.org/officeDocument/2006/relationships/slide" Target="/ppt/slides/slide1.xml" Id="R14e5ea8c2b764137" /><Relationship Type="http://schemas.openxmlformats.org/officeDocument/2006/relationships/slide" Target="/ppt/slides/slide2.xml" Id="Ref914c29cfb74687" /><Relationship Type="http://schemas.openxmlformats.org/officeDocument/2006/relationships/slide" Target="/ppt/slides/slide3.xml" Id="R616d5044eb9549a6" /><Relationship Type="http://schemas.openxmlformats.org/officeDocument/2006/relationships/slide" Target="/ppt/slides/slide4.xml" Id="R1dfe3fe32caa44b6" /><Relationship Type="http://schemas.openxmlformats.org/officeDocument/2006/relationships/slide" Target="/ppt/slides/slide5.xml" Id="R253dcf18544e41f5" /><Relationship Type="http://schemas.openxmlformats.org/officeDocument/2006/relationships/slide" Target="/ppt/slides/slide6.xml" Id="Rcae3dfc478d3402d" /><Relationship Type="http://schemas.openxmlformats.org/officeDocument/2006/relationships/slide" Target="/ppt/slides/slide7.xml" Id="R3edc40c22c294247" /><Relationship Type="http://schemas.openxmlformats.org/officeDocument/2006/relationships/slide" Target="/ppt/slides/slide8.xml" Id="Ra0254725c9e744e9" /><Relationship Type="http://schemas.openxmlformats.org/officeDocument/2006/relationships/slide" Target="/ppt/slides/slide9.xml" Id="R4762744f00a443fa" /><Relationship Type="http://schemas.openxmlformats.org/officeDocument/2006/relationships/slide" Target="/ppt/slides/slide10.xml" Id="R1ba10aee133f4f96" /><Relationship Type="http://schemas.openxmlformats.org/officeDocument/2006/relationships/slide" Target="/ppt/slides/slide11.xml" Id="R98e1b64810524b35" /><Relationship Type="http://schemas.openxmlformats.org/officeDocument/2006/relationships/slide" Target="/ppt/slides/slide12.xml" Id="R92c7bec4ec1b4324" /><Relationship Type="http://schemas.openxmlformats.org/officeDocument/2006/relationships/slide" Target="/ppt/slides/slide13.xml" Id="R0dbd94d1a6b2496a" /><Relationship Type="http://schemas.openxmlformats.org/officeDocument/2006/relationships/slide" Target="/ppt/slides/slide14.xml" Id="Rdf793be2115f4069" /><Relationship Type="http://schemas.openxmlformats.org/officeDocument/2006/relationships/slide" Target="/ppt/slides/slide15.xml" Id="Rfda78c1b21ee47ed" /><Relationship Type="http://schemas.openxmlformats.org/officeDocument/2006/relationships/slide" Target="/ppt/slides/slide16.xml" Id="Ra57c0d9f07de4d03" /><Relationship Type="http://schemas.openxmlformats.org/officeDocument/2006/relationships/slide" Target="/ppt/slides/slide17.xml" Id="Re4014f9ef6da4f29" /><Relationship Type="http://schemas.openxmlformats.org/officeDocument/2006/relationships/slide" Target="/ppt/slides/slide18.xml" Id="R2365495cb1dd4c73" /><Relationship Type="http://schemas.openxmlformats.org/officeDocument/2006/relationships/slide" Target="/ppt/slides/slide19.xml" Id="R40443365043c49b3" /><Relationship Type="http://schemas.openxmlformats.org/officeDocument/2006/relationships/slide" Target="/ppt/slides/slide20.xml" Id="Rdd5d6cb884384c55" /><Relationship Type="http://schemas.openxmlformats.org/officeDocument/2006/relationships/slide" Target="/ppt/slides/slide21.xml" Id="Rec6c98d5c2f6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a7e728ddd43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d6252148d84364" /><Relationship Type="http://schemas.openxmlformats.org/officeDocument/2006/relationships/notesMaster" Target="/ppt/notesMasters/notesMaster1.xml" Id="Raa69a8656f19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1c5a75fd624366" /><Relationship Type="http://schemas.openxmlformats.org/officeDocument/2006/relationships/notesMaster" Target="/ppt/notesMasters/notesMaster1.xml" Id="Rb1f87f24708b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10710ccd36497b" /><Relationship Type="http://schemas.openxmlformats.org/officeDocument/2006/relationships/notesMaster" Target="/ppt/notesMasters/notesMaster1.xml" Id="R104f30edb7d449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ed2e882e8940c9" /><Relationship Type="http://schemas.openxmlformats.org/officeDocument/2006/relationships/notesMaster" Target="/ppt/notesMasters/notesMaster1.xml" Id="Rd253ccfadfed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5758af0e0e4b9e" /><Relationship Type="http://schemas.openxmlformats.org/officeDocument/2006/relationships/notesMaster" Target="/ppt/notesMasters/notesMaster1.xml" Id="Rdefe8edd12984c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0434c62d004dbb" /><Relationship Type="http://schemas.openxmlformats.org/officeDocument/2006/relationships/notesMaster" Target="/ppt/notesMasters/notesMaster1.xml" Id="Rb782dab9d0994c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ea1e6883524af4" /><Relationship Type="http://schemas.openxmlformats.org/officeDocument/2006/relationships/notesMaster" Target="/ppt/notesMasters/notesMaster1.xml" Id="R7c989553d69c45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4c41dd639c4b3e" /><Relationship Type="http://schemas.openxmlformats.org/officeDocument/2006/relationships/notesMaster" Target="/ppt/notesMasters/notesMaster1.xml" Id="R89c56e9a19ee40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6b237f8c074444" /><Relationship Type="http://schemas.openxmlformats.org/officeDocument/2006/relationships/notesMaster" Target="/ppt/notesMasters/notesMaster1.xml" Id="R5304b0937cdb4e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bae4b3dfe844ab" /><Relationship Type="http://schemas.openxmlformats.org/officeDocument/2006/relationships/notesMaster" Target="/ppt/notesMasters/notesMaster1.xml" Id="R1d8e65c36f0047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977da66ea94c28" /><Relationship Type="http://schemas.openxmlformats.org/officeDocument/2006/relationships/notesMaster" Target="/ppt/notesMasters/notesMaster1.xml" Id="Rce67e0dd5e0d49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83cc3a03e745b6" /><Relationship Type="http://schemas.openxmlformats.org/officeDocument/2006/relationships/notesMaster" Target="/ppt/notesMasters/notesMaster1.xml" Id="R93af367d709e4f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a0b6f4663b4467" /><Relationship Type="http://schemas.openxmlformats.org/officeDocument/2006/relationships/notesMaster" Target="/ppt/notesMasters/notesMaster1.xml" Id="Rc6925abe1aa145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03c8d48fbe413c" /><Relationship Type="http://schemas.openxmlformats.org/officeDocument/2006/relationships/notesMaster" Target="/ppt/notesMasters/notesMaster1.xml" Id="R7f3c481488a244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36b0d252244a62" /><Relationship Type="http://schemas.openxmlformats.org/officeDocument/2006/relationships/notesMaster" Target="/ppt/notesMasters/notesMaster1.xml" Id="R4f81d91c868341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e4af2350db45b2" /><Relationship Type="http://schemas.openxmlformats.org/officeDocument/2006/relationships/notesMaster" Target="/ppt/notesMasters/notesMaster1.xml" Id="Ra69791d1df4d4a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bf9955edc74adc" /><Relationship Type="http://schemas.openxmlformats.org/officeDocument/2006/relationships/notesMaster" Target="/ppt/notesMasters/notesMaster1.xml" Id="R56c44585a0db4f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4909fbbf0446ac" /><Relationship Type="http://schemas.openxmlformats.org/officeDocument/2006/relationships/notesMaster" Target="/ppt/notesMasters/notesMaster1.xml" Id="Rb2322469258143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9d4e79ba724e61" /><Relationship Type="http://schemas.openxmlformats.org/officeDocument/2006/relationships/notesMaster" Target="/ppt/notesMasters/notesMaster1.xml" Id="Rd11eb0048d9f45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793584bd164c5a" /><Relationship Type="http://schemas.openxmlformats.org/officeDocument/2006/relationships/notesMaster" Target="/ppt/notesMasters/notesMaster1.xml" Id="Ra53ea92af9794f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86853dfd0a493b" /><Relationship Type="http://schemas.openxmlformats.org/officeDocument/2006/relationships/notesMaster" Target="/ppt/notesMasters/notesMaster1.xml" Id="R3986a39f3cb74f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45 秒。這份報告不是只講最後一次實驗，而是說明我這一年如何從『想做一個像人的系統』，走到『把每個能力拆成可以被驗證的研究問題』。最後會展示目前第一個正式通過確認的窄能力結果。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master specification: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秒。先用使用者熟悉的例子說明：一句『腦子停不下來』可能是在求方法、求安慰或等吐槽。研究願景不是只讓 LLM 回答語意，而是把記憶、情緒、關係、目的等影響因素變成模型中的變數。Uruha 提供一個固定個體案例，讓研究有可對照的方向。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Sections 0–6 and 42–44 of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秒。這一頁讓老師先看到我真的做過什麼：自然日文輸出、長期記憶、意圖假設與修正、以及可以打開看的 node graph。右邊四項是工程成果；左邊是實際系統畫面，不是概念圖。但它們只能證明系統有這些功能，不能直接證明系統已經是人或真正理解人。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screenshot: analysis/v2_13_safari_runtime_graph_correction_2026-08-11.png</a:t>
            </a:r>
          </a:p>
          <a:p xmlns:a="http://schemas.openxmlformats.org/drawingml/2006/main">
            <a:r>
              <a:t>- V2.11–V2.22 records: CHAT_CONTEXT_COMPACTION_2026-08-10.md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秒。這是研究方向改變的原因。『是不是人』不是一個有共同答案的標準：定義不唯一、私人狀態沒有 ground truth、主觀印象也難以重現。所以即使系統回答得很自然，我也不能說它因為某個分數就是人，或因為沒過某個分數就不是人。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 boundary and annotation policy: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70 秒。這一頁把前後工作連起來：我沒有丟掉記憶、情緒、人格或日文對話；我只是把它們從產品功能改成實驗對象。記憶要用回溯正確率測，理解要看預測能否被修正，狀態要做消融與干預，個人化要做時間切分預測，語言則要做人類盲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 objectives and metrics: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秒。這是老師理解後面 M1–M15 的必要架構。LLM 只負責語意與語言；時間、記憶、狀態更新、機率和實驗控制留在明確演算法。最重要的是行為機率先於日文句子，避免自然語言直接繞過研究中的中間層。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Hybrid architecture requirements: Sections 9–17 of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五步不是隨意列的。研究至少需要：一個可被推翻的假設、可追溯的證據、能被下一輪驗證的預測、實際結果，以及錯誤後的更新。下方例子顯示系統先猜『緊張』，下一輪被使用者否定後改成『興奮』；重點不是第一次一定猜中，而是錯誤可以被看見和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V2.12–V2.15 functional pragmatic loop: CHAT_CONTEXT_COMPACTION_2026-08-10.md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秒。清楚說明文獻的作用：現在沒有一個官方單一分數可以宣布『這就是人』，所以我不能找一篇論文直接替系統蓋章。我的做法是把問題分區：PUB 測語用、LoCoMo 測長期記憶、proper scoring 與 calibration 測機率、paired evaluation 與 bootstrap 測比較可信度、對話自然度則保留真人評估。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- https://aclanthology.org/D16-1230/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秒。逐行講目的，不必報所有數字。M1 先處理時間與答案洩漏；M2 建立強 baseline；M3 把記憶做成可追溯檢索；M4 建立帶不確定性的狀態快照；M5 才開始測狀態如何隨事件改變。這一段主要完成研究基礎建設。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analysis/m1_temporal_prediction_observatory_acceptance_2026-08-15.md</a:t>
            </a:r>
          </a:p>
          <a:p xmlns:a="http://schemas.openxmlformats.org/drawingml/2006/main">
            <a:r>
              <a:t>- analysis/m2_strong_temporal_baselines_acceptance_2026-08-15.md</a:t>
            </a:r>
          </a:p>
          <a:p xmlns:a="http://schemas.openxmlformats.org/drawingml/2006/main">
            <a:r>
              <a:t>- analysis/m3_structured_memory_acceptance_2026-08-15.md</a:t>
            </a:r>
          </a:p>
          <a:p xmlns:a="http://schemas.openxmlformats.org/drawingml/2006/main">
            <a:r>
              <a:t>- analysis/m4_human_state_acceptance_2026-08-15.md</a:t>
            </a:r>
          </a:p>
          <a:p xmlns:a="http://schemas.openxmlformats.org/drawingml/2006/main">
            <a:r>
              <a:t>- analysis/m5_state_transition_acceptance_2026-08-15.md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秒。M6 第一次把輸出變成機率；M7 用消融與干預檢查中間變數是否真的連到結果；M8 測新語句與不同時間點時失敗，證明原本的提升不穩；M9 顯示架構能換人但預測沒有變好；M10 把行為和日文表達分離。這些負結果讓後續研究知道不能只靠內部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analysis/m6_behavior_predictor_acceptance_2026-08-15.md</a:t>
            </a:r>
          </a:p>
          <a:p xmlns:a="http://schemas.openxmlformats.org/drawingml/2006/main">
            <a:r>
              <a:t>- analysis/m7_ablation_intervention_diagnostic_acceptance_2026-08-15.md</a:t>
            </a:r>
          </a:p>
          <a:p xmlns:a="http://schemas.openxmlformats.org/drawingml/2006/main">
            <a:r>
              <a:t>- analysis/m8_rolling_scaling_acceptance_2026-08-15.md</a:t>
            </a:r>
          </a:p>
          <a:p xmlns:a="http://schemas.openxmlformats.org/drawingml/2006/main">
            <a:r>
              <a:t>- analysis/m9_second_person_transfer_acceptance_2026-08-15.md</a:t>
            </a:r>
          </a:p>
          <a:p xmlns:a="http://schemas.openxmlformats.org/drawingml/2006/main">
            <a:r>
              <a:t>- analysis/m10_behavior_authoritative_language_acceptance_2026-08-15.md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秒。M11 先把可以說與不能說分開；M12 用論文方法總評後，中央優勢仍不成立。M13 第一次接公開 PUB 也沒有勝，而且暴露 schema 問題。M14 只修 schema 後找到 T13 的 development signal。M15 才在生成前固定規則，使用 300 個全新案例做確認。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analysis/m11_research_evidence_closure_acceptance_2026-08-15.md</a:t>
            </a:r>
          </a:p>
          <a:p xmlns:a="http://schemas.openxmlformats.org/drawingml/2006/main">
            <a:r>
              <a:t>- analysis/m12_literature_grounded_evaluation_report_2026-08-17.md</a:t>
            </a:r>
          </a:p>
          <a:p xmlns:a="http://schemas.openxmlformats.org/drawingml/2006/main">
            <a:r>
              <a:t>- analysis/m13_pub_pragmatics_report_2026-08-17.md</a:t>
            </a:r>
          </a:p>
          <a:p xmlns:a="http://schemas.openxmlformats.org/drawingml/2006/main">
            <a:r>
              <a:t>- analysis/m14_pub_schema_replication_report_2026-08-17.md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秒。先定義 PUB：它是 ACL 2024 公開的 14-task 語用基準。T13 專門測上下文參照。用實際案例解釋：there 指 closet，但句子說的是 pineapples，因此不能推出 broccoli 在 closet。Schema 不是答案提示，而是固定輸出格式，讓兩個條件都必須完成指定中間欄位。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 paper and benchmark: https://aclanthology.org/2024.findings-acl.719/</a:t>
            </a:r>
          </a:p>
          <a:p xmlns:a="http://schemas.openxmlformats.org/drawingml/2006/main">
            <a:r>
              <a:t>- Exact project case PUB-T13-112: analysis/m15_deixis_confirmation_raw_result.json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90 秒。這頁逐一解釋變因。自變因是回答前必須走的思考結構；依變因是同一題是否答對；控制變因讓兩邊使用完全相同模型、題目和 deterministic 設定；對照組不是弱直接回答，而是會深思與反證的 Generic。300 題都沒被 M13/M14 使用。唯一明顯限制是 Ours 多 9%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秒。Generic 本身不弱：它也觀察、推理、反證和標示不確定性。Ours 的唯一概念差異，是強制把 literal content、pragmatic target、context evidence、alternative interpretation 分開。這個設計要排除『只要叫模型多想就會變好』的解釋。最後兩組都只用 answer index 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M15 condition schemas and prompts: run_m15_deixis_confirmation.py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秒。用非統計背景也能懂的方式講：這整頁的目的就是防止看完答案再改規則。Power 決定需要多少題；SESOI 決定多大的提升才值得；CI 和 p 值處理不確定性；parse 和 schema 保證流程真的執行。五項全部通過才算成功。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configs/m15_deixis_confirmation_preregistration.json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秒。Generic 52.7%，Ours 68.7%，同題成對差 +16pp。信賴區間排除零、McNemar p 約 0.00079，五個 gate 全部通過。精確說法是：在 qwen3.5:9b、這個 frozen protocol 和 PUB T13 上，明確語用分解具有正向 focused advantage。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analysis/m15_deixis_confirmation_report_2026-08-17.md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秒。這張不再展示網站，而是直接把 300 個成對案例畫出來。藍色 123 題是 Ours-only correct，灰色 102 題是兩組相同，橘色 75 題是 Generic-only correct。123 減 75 等於 48，除以 300 正好是 16%。方格按類別排列只是視覺分組，不代表原始題目順序。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85 秒。把實際題目畫成關係：there 的確指 closet，但被放進 closet 的物品是 pineapples，不是 broccoli。Generic 的文字推理其實說 no，最後 index 卻選 Yes；Ours 把字面、目標、證據和替代解釋分開，最後選 No。這一題只用來說明機制，不拿來取代 300 題統計。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Exact rows for PUB-T13-112: analysis/m15_deixis_confirmation_raw_result.json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80 秒。老師可以把這個成果看成一個 scoped research contribution：工程鏈完整、負結果被保留、M15 有正式 same-model paired advantage。但是不能外推成系統已是人、理解所有語用、或已完成 Uruha 真人預測。研究價值在於模糊目標已被轉成可以反駁的實驗。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configs/m15_deixis_confirmation_result_lock.json</a:t>
            </a:r>
          </a:p>
          <a:p xmlns:a="http://schemas.openxmlformats.org/drawingml/2006/main">
            <a:r>
              <a:t>- Research boundaries: /Users/jerrychang/Downloads/RESEARCH_SPEC_FOR_CODEX.md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75 秒。收尾不要說已經完成完整人類模型。這一年完成的是轉型：前半段把對話、記憶、人格和圖像系統做出來；後半段建立時間切分、baseline、消融、公開 benchmark 與 prereg；最後得到 M15 的窄正結果。原本的類人目標仍是長期方向，但現在每一步都能被驗證。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Annual evidence chain: CHAT_CONTEXT_COMPACTION_2026-08-10.md</a:t>
            </a:r>
          </a:p>
          <a:p xmlns:a="http://schemas.openxmlformats.org/drawingml/2006/main">
            <a:r>
              <a:t>- Next valid tests: configs/m15_deixis_confirmation_result_lock.json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備用頁。若老師問資料或統計方法來源，再回到這張；正式報告不需要逐篇念。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https://aclanthology.org/2024.findings-acl.719/</a:t>
            </a:r>
          </a:p>
          <a:p xmlns:a="http://schemas.openxmlformats.org/drawingml/2006/main">
            <a:r>
              <a:t>- https://aclanthology.org/2024.acl-long.747/</a:t>
            </a:r>
          </a:p>
          <a:p xmlns:a="http://schemas.openxmlformats.org/drawingml/2006/main">
            <a:r>
              <a:t>- https://doi.org/10.1198/016214506000001437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https://aclanthology.org/2021.acl-long.179/</a:t>
            </a:r>
          </a:p>
          <a:p xmlns:a="http://schemas.openxmlformats.org/drawingml/2006/main">
            <a:r>
              <a:t>- https://aclanthology.org/D12-1091/</a:t>
            </a:r>
          </a:p>
          <a:p xmlns:a="http://schemas.openxmlformats.org/drawingml/2006/main">
            <a:r>
              <a:t>- https://aclanthology.org/D16-1230/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6b45a21c746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44e769d944a40" /><Relationship Type="http://schemas.openxmlformats.org/officeDocument/2006/relationships/slideLayout" Target="/ppt/slideLayouts/slideLayout1.xml" Id="R62e13aa2fe6f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13aa2fe6f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bd1c6e17248b6" /><Relationship Type="http://schemas.openxmlformats.org/officeDocument/2006/relationships/notesSlide" Target="/ppt/notesSlides/notesSlide1.xml" Id="R89cc73618230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366e9e2245a3" /><Relationship Type="http://schemas.openxmlformats.org/officeDocument/2006/relationships/notesSlide" Target="/ppt/notesSlides/notesSlide2.xml" Id="Rd7fb1cd2712343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13a6d71c54eee" /><Relationship Type="http://schemas.openxmlformats.org/officeDocument/2006/relationships/image" Target="/ppt/media/image.jpeg" Id="R0219ed2427d14c4b" /><Relationship Type="http://schemas.openxmlformats.org/officeDocument/2006/relationships/notesSlide" Target="/ppt/notesSlides/notesSlide3.xml" Id="Re1f27fb861f6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7c3dc811d4447" /><Relationship Type="http://schemas.openxmlformats.org/officeDocument/2006/relationships/notesSlide" Target="/ppt/notesSlides/notesSlide4.xml" Id="R57aafa358b4d4d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a9b478ff14453" /><Relationship Type="http://schemas.openxmlformats.org/officeDocument/2006/relationships/notesSlide" Target="/ppt/notesSlides/notesSlide5.xml" Id="Rc26916ab83cb40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18922dec145b5" /><Relationship Type="http://schemas.openxmlformats.org/officeDocument/2006/relationships/notesSlide" Target="/ppt/notesSlides/notesSlide6.xml" Id="Rc6b52402e9194e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1c9904e674b66" /><Relationship Type="http://schemas.openxmlformats.org/officeDocument/2006/relationships/notesSlide" Target="/ppt/notesSlides/notesSlide7.xml" Id="R42c6b6f61dd44b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14eb77f0d429d" /><Relationship Type="http://schemas.openxmlformats.org/officeDocument/2006/relationships/notesSlide" Target="/ppt/notesSlides/notesSlide8.xml" Id="Rff8fa8e7c0304a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709cf13034f39" /><Relationship Type="http://schemas.openxmlformats.org/officeDocument/2006/relationships/notesSlide" Target="/ppt/notesSlides/notesSlide9.xml" Id="Rf8cf50814ae34d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53264ab724387" /><Relationship Type="http://schemas.openxmlformats.org/officeDocument/2006/relationships/notesSlide" Target="/ppt/notesSlides/notesSlide10.xml" Id="Re3fcf6eed0af45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d2b00921045ec" /><Relationship Type="http://schemas.openxmlformats.org/officeDocument/2006/relationships/notesSlide" Target="/ppt/notesSlides/notesSlide11.xml" Id="Rc8c7e9d20ced48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3eb2dc66b4eba" /><Relationship Type="http://schemas.openxmlformats.org/officeDocument/2006/relationships/notesSlide" Target="/ppt/notesSlides/notesSlide12.xml" Id="R11d65d9d238f4f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7d42c81e84744" /><Relationship Type="http://schemas.openxmlformats.org/officeDocument/2006/relationships/notesSlide" Target="/ppt/notesSlides/notesSlide13.xml" Id="Rf70410c086ff43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0c9d332294a15" /><Relationship Type="http://schemas.openxmlformats.org/officeDocument/2006/relationships/notesSlide" Target="/ppt/notesSlides/notesSlide14.xml" Id="R47949c0e61bf4d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d03abe83c4604" /><Relationship Type="http://schemas.openxmlformats.org/officeDocument/2006/relationships/notesSlide" Target="/ppt/notesSlides/notesSlide15.xml" Id="R4c72b7e9fb804a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58580025a45ee" /><Relationship Type="http://schemas.openxmlformats.org/officeDocument/2006/relationships/chart" Target="/ppt/slides/charts/chart1.xml" Id="R094d708d4dc041ca" /><Relationship Type="http://schemas.openxmlformats.org/officeDocument/2006/relationships/notesSlide" Target="/ppt/notesSlides/notesSlide16.xml" Id="R02a3b0cd38644d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66bf1cc8e4219" /><Relationship Type="http://schemas.openxmlformats.org/officeDocument/2006/relationships/notesSlide" Target="/ppt/notesSlides/notesSlide17.xml" Id="Rd836513ae91844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6a82198f8463a" /><Relationship Type="http://schemas.openxmlformats.org/officeDocument/2006/relationships/notesSlide" Target="/ppt/notesSlides/notesSlide18.xml" Id="R666cf506ba304c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f1c76c1194cd6" /><Relationship Type="http://schemas.openxmlformats.org/officeDocument/2006/relationships/notesSlide" Target="/ppt/notesSlides/notesSlide19.xml" Id="Rafad24a8a1584d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e07a928cb4f3f" /><Relationship Type="http://schemas.openxmlformats.org/officeDocument/2006/relationships/notesSlide" Target="/ppt/notesSlides/notesSlide20.xml" Id="Ra6eba68176d549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b1285d6b441b5" /><Relationship Type="http://schemas.openxmlformats.org/officeDocument/2006/relationships/notesSlide" Target="/ppt/notesSlides/notesSlide21.xml" Id="Re4bd72a06f8d4ee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Exact accuracy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一般深思 Generic</c:v>
              </c:pt>
              <c:pt idx="1">
                <c:v>語用分解 Ours</c:v>
              </c:pt>
            </c:strLit>
          </c:cat>
          <c:val>
            <c:numLit>
              <c:formatCode>General</c:formatCode>
              <c:ptCount val="2"/>
              <c:pt idx="0">
                <c:v>52.7</c:v>
              </c:pt>
              <c:pt idx="1">
                <c:v>68.7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7A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CF1FC-31D3-4A66-9F92-A4301C9E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ONE-YEAR RESEARCH SUMMARY · 2025–2026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3712D-5E11-4453-A23B-A32284D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57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從「做得像人」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2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到「可以被驗證」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9D808-62F1-4573-BD24-FA0C508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0" i="0">
                <a:solidFill>
                  <a:srgbClr val="C8D9EC"/>
                </a:solidFill>
                <a:latin typeface="Noto Sans CJK TC"/>
                <a:ea typeface="Noto Sans CJK TC"/>
                <a:cs typeface="Noto Sans CJK TC"/>
              </a:rPr>
              <a:t>UruhaBrain 一年研究總報告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F40D2-6742-4D59-BFD2-59A733B3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2ECFE-D0AE-420C-9AD7-4101D955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對話、記憶、人格假設 → 實驗架構 → M15 正式結果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A3550-6495-4EF2-9A92-83B35BFB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AFC5DE"/>
                </a:solidFill>
                <a:latin typeface="Noto Sans CJK TC"/>
                <a:ea typeface="Noto Sans CJK TC"/>
                <a:cs typeface="Noto Sans CJK TC"/>
              </a:rPr>
              <a:t>Jerry Chang · 2026.08.19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B5B2E-0B7D-4FA3-9E11-C083CDDC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72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20 分鐘</a:t>
            </a:r>
          </a:p>
        </p:txBody>
      </p:sp>
    </p:spTree>
    <p:extLst>
      <p:ext uri="{BB962C8B-B14F-4D97-AF65-F5344CB8AC3E}">
        <p14:creationId xmlns:p14="http://schemas.microsoft.com/office/powerpoint/2010/main" val="595175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C11D1-CE7D-4F9F-9FBD-65F3AB9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STARTING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1859D-0A30-4AD9-A70D-54E873B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最初的問題：能不能計算一個人會怎麼回應？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C79F8-24BD-4AAC-A13E-B541BE05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6CF4A-1351-4111-9CF3-4D59121F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8071A-61E9-48C2-BB21-59D8C958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同一句輸入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ABC0F-28B7-4A1F-85DD-8E9AB391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810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928BA-51E8-44E5-B3EA-49B90E57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7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「我從早上就一直坐不住，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腦子停不下來。」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2B84E-6393-4167-8BB5-A641CC6C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我想找的不是一個通用答案，而是：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2CE41-0ECD-42DE-A699-ABAA6F7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這個人，在這段關係、記憶與狀態下，最可能希望得到什麼回應？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54441-1464-4196-8D51-29A5C8BA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概念上的人腦方程式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B8E1F-F491-40DE-B958-335CE81E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1435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ED905-3D70-46B4-B4BF-CAD67DB4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4533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回應 = f（輸入、記憶、情緒、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21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關係、目的、習慣、人格、不確定性）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7A4AC-227C-4607-9ABE-4127CCE9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一ノ瀬うるは的公開資料，是第一個固定的個人案例；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她是研究中的 person-specific 常數，不是整個架構。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04C7B-72AB-48E8-BBF3-77C0E226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長期目標：同樣輸入進入人與系統時，中間變數與最後回應能逐步接近。</a:t>
            </a:r>
          </a:p>
        </p:txBody>
      </p:sp>
    </p:spTree>
    <p:extLst>
      <p:ext uri="{BB962C8B-B14F-4D97-AF65-F5344CB8AC3E}">
        <p14:creationId xmlns:p14="http://schemas.microsoft.com/office/powerpoint/2010/main" val="1668556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2AF4F8-063E-414F-97E2-D6662092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ENGINEERING BEFORE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0C78C-5214-4C61-85FA-07D4ED57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前半年的成果：先把「像人」需要的器官做出來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EB6D4-17B8-42C0-A786-29AB25F7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43855-9966-410F-8ABA-1526D4C9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F997B-0477-40BD-8DE0-45055EFD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68580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9ed2427d14c4b"/>
          <a:srcRect xmlns:a="http://schemas.openxmlformats.org/drawingml/2006/main" l="5536" t="0" r="55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581150"/>
            <a:ext cx="65913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9C923-2295-4821-A394-5517FAFF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640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實際執行圖：每輪輸入、記憶、假設、預測誤差與修正都可追蹤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FDDFA-6162-4654-B66F-4604DFD9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FE373-5266-4BD7-89A0-4785660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57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ED94F-8B73-413A-A7DC-F79F198B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90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自然對話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8EF09-4678-48F2-9E9B-6A62096E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中／英／日輸入，最後用自然日文回覆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FC2D5-2752-4D20-B64A-92D2ED1B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0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D5887-0FE8-4BAA-8186-696333F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574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7204E-0577-4907-BDA3-98D09978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長期記憶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53F64-5582-46A6-8A70-CCA8E65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50 輪中保存來源、關係與舊資訊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60673-7D1C-418F-8630-9BD6FEE8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4AA9F-39ED-4FE2-8631-24A0B1C2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37535-AD57-4B24-9C23-FE6D49EA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90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語用修正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632BC-C664-47B6-A0A9-75C78DF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62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猜錯使用者意圖後，下一輪能留下修正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BFEDC-948F-4364-B7B4-04093D6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00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A6505-42C4-43BD-BEBA-8E1BD7AD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577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84A84-AAFE-43B0-9E3A-48CE6DF9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91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圖像追蹤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646F7-709E-4439-BBC3-8526FA1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625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把記憶、狀態與決策畫成 node 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E6B5B-FDBF-4A4B-B262-0EB9D54F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505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FC1B8-5889-4367-BEF2-D7763280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769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但做出功能，不等於證明它像人。</a:t>
            </a:r>
          </a:p>
        </p:txBody>
      </p:sp>
    </p:spTree>
    <p:extLst>
      <p:ext uri="{BB962C8B-B14F-4D97-AF65-F5344CB8AC3E}">
        <p14:creationId xmlns:p14="http://schemas.microsoft.com/office/powerpoint/2010/main" val="1415236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5B0A2-3BBE-450E-812B-8BB5ECA9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THE EVALUATION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C6833-EB50-48A9-9F6B-47FBC0A7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我遇到最大的問題：「是不是人」沒有可操作的門檻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76513-8BCE-4FD7-AD41-7CC575E7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23537-2DDA-4820-906F-6911AC12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16020-C4A6-486B-BCC7-01BE606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83177-FF47-49C1-B9CB-B83C83DD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FD794-C74F-412F-9F74-3B8FED9B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定義不唯一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40D07-0998-4103-B1FA-75E4898C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72406-4642-4B5A-9D19-D2CBA562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像人可以指語氣、記憶、情緒、關係、行動或長期一致性；不同人會選不同標準。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9DA81-DEFA-4672-BCEB-1857CCD5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72D"/>
          </a:solidFill>
          <a:ln xmlns:a="http://schemas.openxmlformats.org/drawingml/2006/main" w="0">
            <a:solidFill>
              <a:srgbClr val="E5A7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E4CD2-1587-4EAC-813A-BCDD587E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478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61D45-5A20-4BAE-9054-D37F54D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沒有真實答案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5FD9D-19F5-493C-AE98-F2155F6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72D"/>
          </a:solidFill>
          <a:ln xmlns:a="http://schemas.openxmlformats.org/drawingml/2006/main" w="0">
            <a:solidFill>
              <a:srgbClr val="E5A7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0D8A3-61F0-4BFF-9CEE-BB027ABB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模型內寫著「焦慮 0.7」，不代表真實私密情緒就是 0.7；我們看不到私人心智。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68327-BA81-4D7E-BA91-39AB440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0">
            <a:solidFill>
              <a:srgbClr val="D752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2A38D-F0C6-42B8-B913-5567109B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E7541-3127-49B7-98F0-B4880119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無法被推翻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12C16-C658-4719-AEEB-165550E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0">
            <a:solidFill>
              <a:srgbClr val="D752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7625A-CA17-4FC1-82E3-9034CFD2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766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只問『像不像』很容易變成主觀印象；每次換評審、換對話都可能得到不同結論。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076ED-4D50-4CC3-BAC7-4919E8B2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0287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B0712-066C-4EBA-99D6-95ECDB0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因此我不能把『是否像人』當成一個單一的依變因，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也不能用一張好看的聊天截圖當成研究證明。</a:t>
            </a:r>
          </a:p>
        </p:txBody>
      </p:sp>
    </p:spTree>
    <p:extLst>
      <p:ext uri="{BB962C8B-B14F-4D97-AF65-F5344CB8AC3E}">
        <p14:creationId xmlns:p14="http://schemas.microsoft.com/office/powerpoint/2010/main" val="250499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1CE326-18E0-45A7-A401-A81658A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THE OLD AND NEW WORK ARE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30194-2056-4A3F-80BC-63352426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研究方向不是放棄「像人」，而是把它拆成能驗證的問題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2D208-8EA2-4E91-BD3E-5ED60C36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1A3D0-4A64-49C8-94D0-9E14EBF5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2FB80-0643-4A4A-8AB4-6154F7C0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原本的願景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48001-23B7-4776-98C3-AB723C39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可以測的問題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3F2F6-F858-40ED-9560-B734CAF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62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研究證據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DF780-2AAB-4DCB-90B8-9A23117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D4173-5DFC-479C-BB15-29075AEA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記得一個人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946AC-19CA-4894-B19F-78DA3839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能否從很久以前找回正確、有來源的資訊？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CE52A-AEC1-499F-9CA1-811B1ED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33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記憶回溯與錯誤率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CB402-923A-4F76-B688-7129EEC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FEF0B-586A-4129-BF31-2DD3CDD6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理解對方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92B1F-50FE-4533-A0ED-83A962F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隱含意圖的假設能否被下一輪支持或推翻？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5BEAB-DDCB-4DBC-82B3-B383241E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76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預測與修正紀錄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880F2-BD70-4CA0-9B31-3CEA40A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53C10-4C53-4B49-96F9-3F917744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形成狀態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B4B98-7FDC-4582-BEB8-AEB4375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情緒／關係等變數移除後，預測是否真的改變？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C84CF-198E-4D97-92F2-A01D32DD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消融與干預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94200-68A2-4697-8574-92785E8A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B1F61-4F90-429F-AA02-3B93DAF6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像這個人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40BF7-7924-482A-A364-800E676A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換成 Uruha 的公開資料後，未來行為預測是否更準？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C5C63-738A-49FE-8D18-9B3F1B25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62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時間切分對照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26825-81D9-4B48-8990-957A7DBC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65133-1C6D-41B4-A747-9E9602C2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說得自然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B477E-0394-4045-8476-5833CA95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05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日文自然度提高時，是否仍保留上游行為？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F0146-04ED-48EB-AF12-6ADE475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05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盲評與語意保持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A36B50-116B-4C83-ADB6-00248941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61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前面的系統功能變成『被測的器官』；後面的 M1–M15 則是建立測量工具。</a:t>
            </a:r>
          </a:p>
        </p:txBody>
      </p:sp>
    </p:spTree>
    <p:extLst>
      <p:ext uri="{BB962C8B-B14F-4D97-AF65-F5344CB8AC3E}">
        <p14:creationId xmlns:p14="http://schemas.microsoft.com/office/powerpoint/2010/main" val="126711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99EDBE-CE8B-4D3C-8527-2E3623BE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CURRENT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99F7A-9A3B-49ED-9ECF-627DDBD0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現在的系統架構：回答前先經過可檢查的中間層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80F69-96A9-4112-92A2-D1C57489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B7A0C-3E20-4590-8CE8-A437194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3E016-F5D8-4840-9F37-6B8C9BDA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0D58F-719F-4B73-934E-BDA97EB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08330-B7C1-45F8-9731-27216156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6FE71-1ABD-40E2-B558-8302C9B8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95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42529-633D-4A3A-80A1-CE50839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4C279-A5E8-484C-BA07-A9234039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4B23E-6497-47D7-8D84-A5486E16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480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1F818-8CDD-452D-934D-07877B31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95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356D1-63EC-4666-A1B9-86387E9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F98E9-BF3F-4219-AC21-263A668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95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80D75-BF9E-406D-8D55-D082B51D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056A0-0609-4D7A-A45C-87581B0A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95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A5BAD-B48D-42D4-9E99-86492CD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1381125" cy="15049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CFBA6-B07A-4D0F-86B2-0621459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38E52-FD83-4DF9-AE3E-F6BB8B5A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64FED-F2CD-4132-8638-10126FA4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114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收到事件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E1B76-522F-4514-8978-08B75DC3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使用者說了什麼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01ED6-1388-4240-A390-146B2161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47900"/>
            <a:ext cx="1381125" cy="15049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59D7D-7412-4061-88D3-32EAC9A4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96A6C-5461-449D-A04D-F4B11448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C9871-5962-45A0-9D57-60B2C144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05125"/>
            <a:ext cx="1114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讀懂字面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A3A99-DD5F-4DC7-A8CB-939B739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718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LLM 抽取內容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2A856-C4A5-4C3F-8D34-A002A545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47900"/>
            <a:ext cx="1381125" cy="15049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2CF25-323D-454A-A7CC-AA8E3FC2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629F3-2F94-4134-B067-F78EBAF7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16805-9E8E-483C-8C02-58778B9C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05125"/>
            <a:ext cx="1114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找相關記憶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3486F-D3FB-454E-83DC-E192D626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只取當時可用證據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535C0-2B25-48BA-B472-83813D3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47900"/>
            <a:ext cx="1381125" cy="15049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439D27-37C9-44CE-84C2-5E31D96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B57862-1376-46C2-9456-BC5E827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C6FED9-FBB2-4E7D-8B69-A791037A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1114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形成狀態假設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5E1AC7-2B9D-4513-BB78-5814809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718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情緒／關係／目標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E54CDD-0BE3-4A4A-9EEE-5DE36FD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1381125" cy="15049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DF9125-9590-404D-BACF-B9B5412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2DE02A-B73E-4169-9A74-FDD67F4A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BDEC0-D120-44A1-9554-930AB9C8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1114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預測行為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D0B3E9-17D5-4E73-927E-14C4261D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先產生機率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3E1842-B77C-410D-A980-C98ACBF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47900"/>
            <a:ext cx="1381125" cy="15049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E69B5E-61D9-4164-88BB-47E3397A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83F03E-2DEC-4946-8161-1AD23B8A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8DF9CB-0115-451A-A9CA-83C1B8D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05125"/>
            <a:ext cx="1114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產生日文回覆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8BF060-F675-4CC5-9DBC-B5457471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718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最後才讓 LLM 表達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45F47E-E179-44F1-965D-C8297126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47900"/>
            <a:ext cx="1381125" cy="15049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B607E3-20B1-4A68-8570-B9779317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72D"/>
          </a:solidFill>
          <a:ln xmlns:a="http://schemas.openxmlformats.org/drawingml/2006/main" w="0">
            <a:solidFill>
              <a:srgbClr val="E5A72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4738FD-F623-40D5-8A24-DE673B6D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D84250-D51B-46CC-A69A-91E1DF92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05125"/>
            <a:ext cx="1114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下一輪檢查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780309-092A-425A-B5A5-D8BB431F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718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支持、反駁或修正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11C0D0-B0B6-4D47-9305-53CEEDB2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0401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B9240B-238A-4DE5-A688-01F2129C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LLM 做什麼？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14F9DA-9A23-441E-9BCE-19F7C080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讀文字、整理意思、說自然語言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1FC471-D101-4E52-B16D-594A69C0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0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明確演算法做什麼？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E1AD9C-72EF-4A1A-99CE-FC31AFD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記憶時間、狀態更新、機率、消融、紀錄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828264-273A-449E-B9CB-FB0C5EEC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每一層都保留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D66DB2-3E1A-4682-BA45-7BA67FE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0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來源、時間、信心與未知區域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DF756F-1CC8-4C67-AB91-14E78602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40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核心差異：不是把所有思考藏進一個 LLM 回答，而是讓中間步驟可以測試。</a:t>
            </a:r>
          </a:p>
        </p:txBody>
      </p:sp>
    </p:spTree>
    <p:extLst>
      <p:ext uri="{BB962C8B-B14F-4D97-AF65-F5344CB8AC3E}">
        <p14:creationId xmlns:p14="http://schemas.microsoft.com/office/powerpoint/2010/main" val="950760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92CC6B-BF76-4CB2-B946-3841D5DA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WHY THESE FIVE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5114F-3423-44C8-AB75-AA8E4D9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「理解」要能被研究，至少需要這五個步驟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1CB42-74F0-4C40-BE2C-570FE22C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11100-2161-4F8A-9BCE-A2BB5AE4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41040-283B-44D1-80C4-70172F83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765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7B3A0-1705-4B7B-A3C2-91D1CA0E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241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6F341-8887-4D90-B828-A37F0493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1E7E8-9024-46A9-8CE5-48E71F8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241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D22C7-16AB-4054-BF49-B29258D2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765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1D346-656D-45FE-885C-BF29C6EF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241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7B8D5-4E41-494A-AEE6-EB261626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765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724F9-8513-4216-AEAF-5BA6A85F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85F92-F37A-4AC1-AC1B-1DD3D057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DCC12-D4E8-4771-BEE2-2FE3407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BF410-E9DC-4722-AADA-CD99D176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形成假設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AE6D7-0F6C-46C6-B99B-1319743D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先說系統認為什麼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FBD9D-1B70-4328-B83E-8FEF70B5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才有東西可被推翻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D8ECC-0843-4996-91BD-01ED8EFC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317DB-6C78-4AFA-9DF4-FAA804BC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33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1B295-E696-4398-8C7B-3BA6FDF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列出證據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CEA75-2580-4B71-87DB-0F403EB1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289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指出根據哪些字與記憶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371AE-757E-4D42-AAF6-64969337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908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避免隨便猜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06C55-7DAC-4E7D-BDEC-15F4A21D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E569D-11E7-4F3A-8A03-F0323A67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33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1C5D8-BE4E-4E22-B3F0-FF8FCDBA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做出預測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0798C-8A1B-4542-A365-C73DA129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預測使用者下一步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6336C-FBD0-4D49-9025-228BB781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908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把理解變成可測試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FF88D-6991-4D22-BE90-5D80179B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3500FC-E9E1-4D68-8558-6E73A353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33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A99AB-A623-4DA8-BA2C-7A8D30A3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等待驗證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CD3EE7-1F21-4C4E-B086-5B4D40B3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289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看下一輪支持或反駁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6FB56-E81A-4B37-B81A-D6E57DC7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908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知道自己有沒有猜錯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9E08D3-7429-43BB-86C9-F7DAC740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13096-DB31-4A71-840C-C3FAD6B5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33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A45C9-D08B-488A-A75D-6832A49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812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校正模型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44D7A3-5859-47D5-8479-7B27ADEF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降低、撤銷或更新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7C7B61-4E66-49CC-9B39-28B83938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908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錯誤才會變成學習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90379B-F657-4E22-B147-B57FC819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5238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5A0578-F458-4DAE-909F-8C97029B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第 1 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3665C5-34D5-4CCF-BC91-015E47C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「明天要發表，我現在一直坐不住。」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D1A64F-57AA-4421-974A-941E59F5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暫定假設：可能緊張　｜　證據：發表、坐不住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預測：下一輪可能會問怎麼冷靜。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003C0E-CF08-4646-A684-FF189A5F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5238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7F2C52-64B5-44EC-9E2E-E81DB4E1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7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第 2 輪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9AE9CB-DA04-44F3-A826-10BED8A7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91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「不是緊張，我是太興奮。」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34C7E6-36E3-470D-819A-6A460AB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577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結果：原假設被反駁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校正：緊張 ↓、興奮 ↑；舊假設保留為被撤銷紀錄。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9AA69A-39F7-4F94-8177-FE3F4A69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少任何一步都會失去一種研究能力：沒有證據、不能驗證，或猜錯後不會改。</a:t>
            </a:r>
          </a:p>
        </p:txBody>
      </p:sp>
    </p:spTree>
    <p:extLst>
      <p:ext uri="{BB962C8B-B14F-4D97-AF65-F5344CB8AC3E}">
        <p14:creationId xmlns:p14="http://schemas.microsoft.com/office/powerpoint/2010/main" val="46183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662D5-D6A1-4986-A53B-3A22DFF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LITERATURE-BASED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F16AF-4A06-4316-879C-7CA6F86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沒有一篇論文能評完全部，所以我改成分區塊驗證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AD2D9-219F-4705-90CA-7B3E4B66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55B92-DEE3-4742-8C03-099EA067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44613-B3DC-4345-B154-98CA2095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929EC-3C95-4BF9-9614-41717EF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目前沒有一個完整標準可以一次判斷我的系統，因此我從不同論文借用已發表的方法，分別驗證記憶、語用、機率與對照。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34DA1-14F8-4E38-B561-3D254C8C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CCE3B-24BD-41DE-BC10-47CE785C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 ·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D78AC-E50C-46C3-80A2-2ADB9F62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語用理解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7873C-0770-456A-A410-44E0AB3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241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用公開題庫測指示語、暗示等窄能力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362D8-28CD-4716-882A-C9EDCE4E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32BC9-EB63-4E01-B1C8-6EE4FFB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LoCoMo ·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1A71E-C761-4BFA-BB32-2E0D327F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33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長期記憶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5125A-CB6C-4D77-A677-4F0BD64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不只問一題，而是分成回想、摘要、生成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874A2-AFBC-4FF6-8CAA-AF495BC2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79DF3-4563-4FCD-B356-31D85155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Gneiting / Guo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90926-0A56-46E8-A5FB-F77BBA38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43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機率可信度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D81C2-6B06-42A9-8577-5D7364B0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433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錯得很有自信要受到更大懲罰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BB7BC-2897-4884-8D68-5177360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5D34B-2C76-4607-AF4A-66695E4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Peyrard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70E18-3BFA-4BD9-958C-D5B5F500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52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公平比較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83CE6-AB52-48A8-BEFD-47D4919F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529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同一題下做成對比較，不只看兩個平均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B1F35-1938-4EE9-95EA-1F7C8B9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0F536-A9D0-4115-A1D7-DB30A7DC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Berg-Kirkpatrick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09169-1317-494B-B8AD-D711B94F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統計不確定性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617E9-5A48-430A-8753-02720C23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625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用重抽樣檢查差異是否穩定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278ED-CFE1-4BA8-9783-EACCD74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77521-1429-459E-80C6-5325BC5B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Liu et 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2C545-A890-4FEC-944E-6F97F5C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對話品質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05F68-C600-49F3-8C32-4F93D4EA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37210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自動文字相似度不能代替真人感受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CF369F-47E6-490F-8436-5C1256A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這些方法拼在一起，才形成目前的評測框架；它們不是一個『人類分數』。</a:t>
            </a:r>
          </a:p>
        </p:txBody>
      </p:sp>
    </p:spTree>
    <p:extLst>
      <p:ext uri="{BB962C8B-B14F-4D97-AF65-F5344CB8AC3E}">
        <p14:creationId xmlns:p14="http://schemas.microsoft.com/office/powerpoint/2010/main" val="701709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A023F-7E32-48CA-9CD9-DD3D205E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7085B-FD40-4935-BFA8-BB4B829C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M1–M5：先建立一個不偷看未來的實驗骨架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62151-E350-458F-9CA4-FB999C12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D785B-0D49-4B2C-8DE5-B0BBCCFA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AF022-1BC4-443C-AA9F-3C1DE1B3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FF572-289E-4057-A78A-F76BC6D8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F493C-AEBB-4D8E-923D-81E2382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這一步留下什麼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B6C3C-C31B-49F6-9A2E-E18F16B8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586C9-4402-4AD1-9C1F-92AD00E2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6B283-E18D-4917-8D9A-02BD3EF6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能不能先封存過去，再預測還沒揭露的未來？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86146-D6FC-4414-A512-02D7E2FA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時間切分、漏答案檢查、第一個 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43E08-250C-456B-96CC-051AD641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8B699-DD96-4507-A725-4A319803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828B5-2ADC-4EFD-8517-24ABEE8D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複雜系統至少要打敗哪些簡單方法？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0C2D4-E3C9-494A-AC71-2C629DE7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B0–B5：隨機、LLM、人格 prompt、RAG、完整歷史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CEC8F-F7A2-4935-A2E2-E33483C0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46159-47A1-442B-A621-3B3D7498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5B7AE-672D-434D-9361-5535C235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記憶不是全文塞入時，該怎麼選？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A5300-078C-44FD-B0F4-1F73A28A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來源、時間、衰減、重要性與七項檢索分數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D8613-5B74-4C89-9960-A7508A2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30856-81ED-4B7D-8313-44292413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056FF-6943-4B20-9300-DF08D9D4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如何保存『目前狀態』又不冒充真實心理？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07F86-86E4-413E-8089-DCDF3EBB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有時間、信心、證據、observed/inferred/unknown 的快照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12E63-C0AD-434C-96D7-BE0E4E10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98731-AB2F-4B4D-80F5-5931567B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829CC-930B-40CE-BAD1-53C4F5D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事件發生後，狀態如何改變？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4F4D1-4E26-474C-BD09-5A28A2FB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靜態、手寫、學習式、LLM+學習式四種轉移比較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55327-37C4-48D6-9CED-B940E8CA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這五步先解決『怎麼做一個可信實驗』，還沒有證明 Uruha 預測成功。</a:t>
            </a:r>
          </a:p>
        </p:txBody>
      </p:sp>
    </p:spTree>
    <p:extLst>
      <p:ext uri="{BB962C8B-B14F-4D97-AF65-F5344CB8AC3E}">
        <p14:creationId xmlns:p14="http://schemas.microsoft.com/office/powerpoint/2010/main" val="1827505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0B0E4C-23CA-451F-8D6E-FD9B0F04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MECHANISM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71D1D-693D-4757-BB98-7341B028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M6–M10：開始問每個器官到底有沒有用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28245-BDB4-4E3F-94FF-95EF00E0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B69D4-8967-433F-8797-D1CB9EA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24F58-32D5-4274-9C45-6770AD4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A80A2-01BC-4431-810C-2A4D0DB3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91A5D-6A60-4600-8589-234F317C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實際學到什麼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EFE38-4107-4A2F-836B-4C0548B6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DB256-A258-49A9-9B84-53C14DD2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ADAAC-EB03-487F-BC13-BABC4839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回答前能不能先預測行為機率？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206E7-4FAE-421E-B7F6-DE52CF6E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完成 behavior distribution；小型合成資料方向有利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15FEC-C8DE-4B8D-9B6B-9A8514BD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33D7F-8ED0-4BDE-A5E3-B0C76C45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01FE4-9C07-4968-8489-B6E802C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拿掉記憶、狀態或關係後，結果會不會變？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5BD03-8573-421A-BAB7-1695C12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整體狀態有用，但當時的時間轉移反而造成錯誤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B2904-F5DB-4B98-97FA-193628A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2A570-91A5-456D-9B7E-897756EE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4177C-3FCA-4085-B5AB-44EB0A61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換新語句、不同時間點、更多歷史還穩不穩？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1C40F-02EE-4FC0-B374-11719390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正式 gate 失敗；強 B5 baseline 勝過 Ours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5909E-9403-4CFC-A01F-F0CB48C1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942DA-3DCD-4AEE-A248-D70A5E83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6A0B5-F1D5-438B-A986-163FCB40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同一架構換成第二個人還能工作嗎？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559B7-E4C0-474B-B3BC-ABDCD4E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工程能轉移，但 full adaptation 預測更差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723F3-1903-43B2-AA35-33228D1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BF698-2A1E-4931-8B37-81082E6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M10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AD738-18CC-4521-9578-C201D5B6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行為決定後，能否說成自然日文又不改掉原意？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663B2-2F6A-44C0-9163-5E7E6992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語言 guard 完成；真人自然度證據仍待評分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B8FC1-BF44-436B-9AD4-4B76802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這一段最重要的成果不是全勝，而是找到哪些模組有用、哪些模組會拖累。</a:t>
            </a:r>
          </a:p>
        </p:txBody>
      </p:sp>
    </p:spTree>
    <p:extLst>
      <p:ext uri="{BB962C8B-B14F-4D97-AF65-F5344CB8AC3E}">
        <p14:creationId xmlns:p14="http://schemas.microsoft.com/office/powerpoint/2010/main" val="15083994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B00609-7CCE-4DC7-BE2D-96FE6BFF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ANNUAL ROADMAP · EVIDENCE STRENGTHENING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7B70A-22B0-4EDE-A097-803255A4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M11–M15：從自製測試走到公開基準與前瞻確認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136F3-4DA2-46A0-8BCA-B3657A6B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73197-8E56-4005-BB1B-ADAA2620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7B9B2-1040-4EF7-B78C-9FE2FD0B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524FD-3062-4C80-A748-A84F3311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當時要回答的問題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CF6BA-88A1-4684-ABAF-7B5EE6C4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實際學到什麼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B6B8D-D534-4C59-9ACC-743A1533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DC74A-8E5A-43A7-8D37-B71C8062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BE175-C642-413A-B00E-94A3C292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目前到底有哪些證據、哪些不能說？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E75EB-4C2F-47CD-8605-98B89DF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把成功、失敗、缺口與人類 gate 放在同一張證據圖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D6465-BAAE-4C5B-90D6-7547E676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C7410-61B5-4BC6-8EBE-53D54CAD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BDBC6-FF6C-477E-AE53-FE3EE040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評價方法能不能對齊已發表論文？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B7FD9-954E-45E4-B572-EBF93763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重算成對統計；中央系統優勢仍不支持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DF3B5-E69B-4077-AEE0-01FAA3E7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2F2C4-C460-47D2-B78C-22688D3E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M13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008AC-DC06-4134-9933-21C1ED32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放到 ACL 2024 PUB 語用基準會怎樣？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5798F-ADF3-4C56-96CB-AECE680C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第一次未勝 Generic；還發現 schema 只有 23.4% 完整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6EC2B-0D87-4595-8EEC-2BB4B4E4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B36A6-2D00-4194-97F0-14512B28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A0C84-4A58-4908-8549-6664ED63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只修 schema，換全新題目後結果會怎樣？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E51AC-F536-4EC8-A5D6-F559346E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整體仍不確定，但 T13 指示語出現 +37.5pp 訊號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6964B-3D6C-4811-A795-9EA3305B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5DBF1-36E7-44BE-BC3E-3506D8D7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225BF-497F-48EF-AE12-550BE6C0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這個 T13 訊號能否在 300 個新案例確認？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EF9E9-628D-486F-9A95-7475C599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48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五個事前 gate 全過；觀察到 +16.0pp focused advantage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49131B-1505-4ED1-983C-BE90D12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M15 是這一年第一個完整但範圍很窄的正式正結果。</a:t>
            </a:r>
          </a:p>
        </p:txBody>
      </p:sp>
    </p:spTree>
    <p:extLst>
      <p:ext uri="{BB962C8B-B14F-4D97-AF65-F5344CB8AC3E}">
        <p14:creationId xmlns:p14="http://schemas.microsoft.com/office/powerpoint/2010/main" val="12810483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66ED6-19B0-4F7C-87D2-4DD806E6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PUBLISHED BENCHMARK IN PLAIN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5120C-B616-4C8E-8247-FB62E03F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 到底在考什麼？用一題實際內容說明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97AAB-6528-4B3C-A0F7-BEB17186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84C6B-5FBD-4F5C-8971-A28D9357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B9327-C02E-47BC-A91D-73DF3139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6762750" cy="445770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3A90C-A62D-44DC-943F-0B2796E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 T13｜指示語參照題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F18A3-522E-4803-968A-517645F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Speaker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DE7FC-8193-4000-86D2-A25BC4D0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571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F0F2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ACBAF-FA71-46FF-94C9-2C5E675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5272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Did you put the broccoli in the closet?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E5B0E-CDD3-4160-8218-A6232F5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Speaker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5BACC-5FB8-41CC-9941-FACFB77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571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5485B-FB4E-4F28-B4A3-8225301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I put the pineapples there.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B4A81-56D3-4A18-9CF2-65ECB893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問題：Is the broccoli in the closet?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2682B-B734-4256-82DE-7B06114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905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4881E-4D4E-4798-8A5F-549F6908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正確答案：No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EDAF6-D63D-4B02-AE4E-E01B8CBE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76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9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there = closet，但被放進去的是 pineapples，不是 broccoli。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DFB7B-98EB-419D-9BFA-2FB50CA7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57D33-6E6B-437A-B036-C93B75BB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ACL 2024 發表的 Pragmatics Understanding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A1356-0540-4AA3-9CFB-E348E97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6E9B3-25A8-4DC2-A570-CD78F4A3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T13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DE725-62CC-4AE7-8B7A-B7F98AC3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PUB 的第 13 個任務：找出詞語在上下文指向誰／哪裡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CDB61-71DC-4682-BFC1-08AB9D1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6F4B3-A248-4779-BB1D-3AE50B8A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Deixis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59D11-121C-477F-A9FA-BF93F2FE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像 there、it、she；離開上下文就不知道指什麼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9E7B7-BA0C-4A6F-A1B0-1DFAE74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5826C-D36C-4535-ADB6-EC3F34AC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Schema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54537-9F2B-4776-92DD-95D9FAC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要求模型用固定欄位回答，確保中間步驟真的有產生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1DA378-96F3-45D1-B9B6-5720E998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67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8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這種題目不是完整人類理解，但有標準答案，因此適合先驗證一個窄機制。</a:t>
            </a:r>
          </a:p>
        </p:txBody>
      </p:sp>
    </p:spTree>
    <p:extLst>
      <p:ext uri="{BB962C8B-B14F-4D97-AF65-F5344CB8AC3E}">
        <p14:creationId xmlns:p14="http://schemas.microsoft.com/office/powerpoint/2010/main" val="785781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2AE9D7-4D4C-48AD-926C-E2BF926C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VARIABLES EXPLAINED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915EF-19CF-4C92-988F-155BEC06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M15 測試設計：改變一件事，其他條件盡量相同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0F852-BB58-4B29-ADBE-61183407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ABD35-0783-431C-A733-0B9A4E6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D8762-BE1B-4477-A507-71E4CD8A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項目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AEB87-FE46-4866-A14D-F2B2723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它控制／測量什麼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39623-36D7-4955-82BB-B9BE72A0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為什麼需要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2F0F9-D5D8-4419-8376-B379A62E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自變因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24B92-541F-4444-A48C-6512D2B8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478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回答前的思考清單：Generic 或 Pragmatic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AF979-065F-485D-B8DC-9B54264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只改中間推理結構，測它是否造成準確率差異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6067E-34C1-4713-BFD7-C8E6B1AD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09A4A-D81C-4997-A5E7-3ED280E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依變因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9005B-F783-4016-B454-B8C242FD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336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同一題最後選項是否正確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A6C7E-AFE7-4B36-B3E3-4C917FCE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把抽象的『比較懂』改成可客觀判分的結果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D4208-01C1-40B7-8DB1-2C201E8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786A2-E4BC-4268-8328-9024614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控制變因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9EE1D-C40A-4127-83E4-9B18A46F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19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同模型、同題、同選項、seed、T=0、schema、上限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A076F-B24D-4F60-81E1-83D11A3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減少模型、題目或隨機性造成的其他解釋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8E4A7-53AA-4F14-8452-067B02AE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FDA3F-F2D2-44DE-BDD6-6820DDFC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對照組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44C49-A189-43D5-B4EB-BE226565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B1 Generic：也會觀察、推理、反證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DB4A9-D7C6-4B7C-ADCC-1C3C6709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不能故意拿很弱的直接回答來襯托 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355A3-3504-4A86-87F6-63E96423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4FD59-A848-418D-8D98-47DA3BF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測試內容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B3F48-A4D3-46BE-98D4-64CC528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910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300 個未用過的 PUB T13 多選題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27AEE-FCF0-497B-B7F6-10237898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避免重用開發題目追分；每題兩條件成對比較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223AF2-FA3E-4035-BEFD-79D673E7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483CF-DB2B-48C5-B2FA-0DF608F4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剩餘限制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4388E-82C0-4556-AD09-F225D95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768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 總 tokens 比 Generic 多 9.0%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63F01-ACFB-47D9-B08A-5D02D0ED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結果可能含『多一點計算』的效果，下一步要 token-match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691F1-D47C-4C75-B2FD-68E6DCF7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58D1A3-6C79-4ECF-8263-A224241C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083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實驗要回答的不是『哪個模型比較強』，而是『同一模型加上語用分解後，是否比較會解指示語』。</a:t>
            </a:r>
          </a:p>
        </p:txBody>
      </p:sp>
    </p:spTree>
    <p:extLst>
      <p:ext uri="{BB962C8B-B14F-4D97-AF65-F5344CB8AC3E}">
        <p14:creationId xmlns:p14="http://schemas.microsoft.com/office/powerpoint/2010/main" val="18033981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7F3868-C28D-4A5A-8D50-641C8763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WHAT THE TWO CONDITIONS ACTUALLY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38D50-8CCF-4CD1-8ACE-30F97D5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兩組都會深思；差別是有沒有把語用問題拆開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90716-D7C7-461A-8490-CF3D0894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2439D-BFC5-4921-9D09-3AC68611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58554-D818-4538-AD26-20C5E21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4825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821AA-32DC-4B29-B609-66D9D10D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一般深思 B1 Generic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18118-6381-4FB8-850C-360F4913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通用的思考清單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F795F-CB75-4151-8EAD-55BF7B75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observations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54529-7DA9-412D-B468-DE6D850C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05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看到了哪些事實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8BF52-FBA2-486B-848E-374C86F8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42F2D-1206-4C5B-A942-0CA64E37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reasoning step 1 /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D398C-B429-40BA-97D7-6FAA641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逐步推理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27C7B-B213-4D3A-AB57-7D0EB417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E4212-E02F-4D97-9756-5234A202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counterargument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C582E-8C13-4305-B985-6988E412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57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找一個反證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2459E-39FA-400B-810C-B09294BF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EA24E-FB24-428F-97A2-169AC2F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B4C0F-A2D6-468B-ABDB-984DAD19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33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標示不確定性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057AC-D164-4322-9921-ED9B8D2B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A0E86-0D73-447B-A1BC-E8B9BA79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answer 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7979D-AD33-4F69-8E01-E630967F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10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最後選項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8F31A-B540-4D5A-B4D4-52B43910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49E"/>
          </a:solidFill>
          <a:ln xmlns:a="http://schemas.openxmlformats.org/drawingml/2006/main" w="0">
            <a:solidFill>
              <a:srgbClr val="EAD4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4E1C3-6EB1-4D5F-AA45-339AA596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85900"/>
            <a:ext cx="504825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3BD59-F0A0-48F6-9D31-0086B36A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62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語用分解 Ours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54BE3-EBAE-468E-A0F3-F4C67A80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專門把『字面』與『真正指向』分開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B7177-0BDF-4351-BD16-83C079AD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literal content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26BEF-9518-49BB-97A7-0B81E85C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字面真正說了什麼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5BC5A-D87C-410D-BB04-6C2A6141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25D25-B3C2-4103-8A20-E04CAB87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pragmatic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4C7F5-0DEA-4CA0-AC26-7623D9A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題目要判斷的真正對象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F242A-0DA8-4BE9-AE94-0CEF4CC5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43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BD21C5-53A6-4B24-BA3C-BC4F04E4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57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context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F4707-4500-4A32-9604-F698DDB7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上下文哪一句支持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2ACEF5-B3EE-4C3C-9367-0F2EC49E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05B14B-08A7-4A70-972C-F1E1BF5F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alternative interpretation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6C66AD-EBDB-42F8-9A92-FEA5C49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33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還有什麼可能讀法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240190-DE56-40B9-ABDD-5C3938E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958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6B2853-718A-4D05-ACFD-A4D7399B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10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answer index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9BC8F0-9A47-4026-84FC-53452459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10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最後選項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5EACCA-690E-47C0-AD10-671F6BA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72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4F4"/>
          </a:solidFill>
          <a:ln xmlns:a="http://schemas.openxmlformats.org/drawingml/2006/main" w="0">
            <a:solidFill>
              <a:srgbClr val="C9E4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68983-C891-4D62-BAFE-2D7D1EAF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9750"/>
            <a:ext cx="9753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C4B9EF-B729-485C-AD0F-919E03A2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43575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為什麼這樣設計？如果 Ours 勝過已經會深思的 Generic，才比較能把差異歸因於『語用分解』，而不是只是多想一下。</a:t>
            </a:r>
          </a:p>
        </p:txBody>
      </p:sp>
    </p:spTree>
    <p:extLst>
      <p:ext uri="{BB962C8B-B14F-4D97-AF65-F5344CB8AC3E}">
        <p14:creationId xmlns:p14="http://schemas.microsoft.com/office/powerpoint/2010/main" val="10742205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D2112-4B0B-49B5-8FF1-79F8951F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PREREGISTRATION IN PLAIN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CBDBA-019B-49DB-A329-554876B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這頁的意思：先寫好怎樣才算成功，再去看結果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E3CF8-2AA2-4095-835B-122B7300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9C1EB-D398-4885-8748-352676D0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C1BA6-E6FB-4E75-9E88-88154D88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300 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54AC1-18BB-4BC9-81FB-B98BF3E5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樣本數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B86AD-CD54-43C1-84F3-A3151A4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先用 power 計算需要多少題，不是看到 p 值才決定停。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9550F-F8AB-4FFD-9C6A-D38B3B32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6789E-3E72-43AF-BB3B-16297497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90% 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0CC45-345F-4DF1-990E-9A6C881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抓得到效果的把握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99696-54DF-4867-8195-8E83A380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如果真正存在事先認定的差異，這個設計約有九成機會找到。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DA16-D153-4321-B6E8-DCE8BC0C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3A992-3C52-4AD7-B29E-DB8C40F6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+15pp SESOI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5A640-6574-49A9-99FC-D1AF382C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最小值得在意的提升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3C157-E86D-427A-AC42-4404C17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低於這個差異，即使統計顯著，也可能不值得增加專用流程。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E9CF2-952A-4E17-999F-2C56A57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61391-6073-4B92-8F39-8474623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CI &gt; 0 + p ≤ .05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C64D4-63F0-4F76-B911-69E07653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差異的不確定性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A1ED9-51B7-4298-8939-2C497295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兩種方法一起檢查：結果不是只靠運氣偏向 Ours。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49C95-E3B3-4C20-8F2A-C82F5E8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79F1D-FD8E-41D8-B817-C5D75CA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9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Parse / schema 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3C191-CC01-4C3B-94CB-8554B778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863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實驗是否真的照規則跑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2D5EA-2CE9-4487-9551-F3161DFB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863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如果欄位缺失，就不能說比較的是完整語用流程。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E4AA3-1750-4A69-A742-FAE9C63A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882FB-48AF-4FE3-A1D8-779869C4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62650"/>
            <a:ext cx="876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F7A32-EBA7-4069-B536-6E95DF50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38850"/>
            <a:ext cx="830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禁止 optional stopping：不能看完結果後再加題、刪題或改成功門檻。</a:t>
            </a:r>
          </a:p>
        </p:txBody>
      </p:sp>
    </p:spTree>
    <p:extLst>
      <p:ext uri="{BB962C8B-B14F-4D97-AF65-F5344CB8AC3E}">
        <p14:creationId xmlns:p14="http://schemas.microsoft.com/office/powerpoint/2010/main" val="3450430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BD4BE-07BC-4D10-8677-5389514C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M15 CONFIRMATORY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07D89-B7C1-4DA9-922F-19DD991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正式結果：語用分解在這個窄任務上提高 16.0 個百分點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E1299-4260-44BA-8ADE-CA04AEF1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22AA5-9C13-4E63-BD7A-15C65440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3887E-0F28-4C3B-BCD6-BFA76E59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124700" cy="451485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90600" y="20002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4d708d4dc041c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E295F-0571-438C-99C4-1C837B38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Exact-answer accuracy (%)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0E96A-19D3-4384-A2E3-516A99E0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1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1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+16.0pp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18741-0841-4B54-9400-E68415E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同一題成對差異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0F77C-0EE3-4E9B-8449-A75490C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0D8CC-1649-4D6B-9C11-5339A8D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95% 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7F84B-DE59-42AA-9B17-EDFA836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+7.0 → +25.0pp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0A9CF-C2CA-4697-90F2-5320752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69AE3-BC2F-45B9-B433-7E500F0D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Exact McNemar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49082-CEB2-4DA8-ABAF-C142282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 = 0.000794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5D99F-9536-4A0F-9C39-3D6245A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72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五個事前 gate：全部通過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A7774-1B11-414A-A096-BB0C2D8D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精確結論：證明正向 focused advantage；不能說所有語用或人類理解都已提升。</a:t>
            </a:r>
          </a:p>
        </p:txBody>
      </p:sp>
    </p:spTree>
    <p:extLst>
      <p:ext uri="{BB962C8B-B14F-4D97-AF65-F5344CB8AC3E}">
        <p14:creationId xmlns:p14="http://schemas.microsoft.com/office/powerpoint/2010/main" val="407009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B2D4C884-CC23-4F44-BBAE-ED05A60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VISUALIZING THE EXPERIMENT ITSELF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0EB9-BBC1-4898-A56E-E2977612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300 題實際分布：Ours 多贏 48 題，正好等於 +16.0pp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15847-4ABC-4E8C-947A-00A8762A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968B4-381D-43FB-A5FB-F5A737A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373F6-746A-40F0-A30F-77185A0A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每一格代表一個相同題目的成對比較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F2C26-9FC8-4F44-9514-E45CA4BC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4A67B-71DA-45E8-9D9F-3CB98767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7C2C-5949-41F2-8C7F-97B10F43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6BDCA-AA65-4DB6-9A9F-47474AE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31B8D-22D6-41DB-B1C6-8078E175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4710A-ED03-4C2E-A75F-68DB683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26C10-9D5A-4A6D-AFD9-6DCC8761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0E279-4B88-4F5A-A4B7-7F246CD0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5131F-BAED-43BE-87FC-CA3BC086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E6FE8-E718-4FFA-8642-EF900940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9905D-A56C-49D4-89E5-D040D5F6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02F0B-C6ED-4EC3-9AFA-AF0144C6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B610A-C264-4F3A-BBFE-43238B35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CA852-347B-4165-AF87-945C89BE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1ED21-2C37-4EBD-8940-B52B2829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EFA76-ED35-48B6-A95E-58F97AF2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30A49-243A-4A5A-A278-0E3EDF2E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C2309-1ABF-4941-8405-A03A2795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6F11E-EB4C-4AF5-B20E-C539CE3B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CAAD3-DD1C-40F6-94DF-51FAF6D1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809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3EADD-6E5A-4035-ACD5-55B68AE3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614DC-186D-4C60-B70B-9B7A3D0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CAF4E-E4DE-4E99-AA13-5EA7781F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A283E-D86C-4AC4-BB14-2304E9E7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79AB6-8BA1-4C7A-9E39-D4E68E2F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783DA-3735-45D5-87D9-AC3DADE1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331DDE-2A94-42D6-A3A3-2FD2E1A8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1585E-F825-4471-9979-0A76A62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6CFA7D-D9B6-4AF3-9EFD-54C20876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3B59A1-B8B5-4DE2-9620-890576DF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9B5DF4-1A94-4BDF-AC29-9B906C2D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CFB956-39C2-4855-83CB-2A49C4C7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F22ACB-073F-4854-B3FB-B081EC4A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46C8C2-AAA2-4DC4-9678-14E322A5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633E71-9597-40B4-B956-9E306F78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DC026D-1D6F-4494-B927-1F5D0AA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EFE54C-CEAB-4D9F-B97F-F66DA5E3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3DFA07-EE98-496D-B9A9-8F25F1CC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26F93A-1595-43A0-BB2C-F6D9DAB1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7F7F6C-FA4D-4C1F-AE52-1896CA2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47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85BDC0-BB4B-4385-BEFA-EB754E26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1EA428-F7D7-4F15-9DFF-CCBC9C3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86C7C1-7700-4501-9882-FB4AF9C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726C7D-BCBB-4337-B812-467FFEB0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761D42-A6B9-4BEF-9D71-DE258CA3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9159E3-20AB-4FB8-93C3-A4D16AD8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D335AC-14F7-417A-8A29-B81AEF45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266B83-B990-415D-82A0-15089E55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0CEAAA-723F-4910-9259-27F42C05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70B74B-1714-4B23-8904-7B9EA0D7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D5B47F-3973-4BAE-85BB-B9A0842E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B5C107-2913-4188-A4C6-948306DF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99CA03-6B86-4F61-9DF6-6935591A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D68AB5-76F0-41F5-9A4B-C05A1B8B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28D139-4AC6-4BA7-9B7A-AA370A6C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0C391D-134F-4FED-ABBB-52224C43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3F0F3E-3FC5-4BF3-A18B-3563386F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4A375D-D877-463E-9DFD-002BDC6B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11C25A-5726-4674-954A-3CF9AA9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1616CB-FF06-49E7-A527-CA2AB01F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86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EEC2F2D-D269-4A57-BD82-C0EDB32C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449FE8-3E94-49C5-BEFE-0289B351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CAB126-362D-47C9-AEAE-63340918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78C7C5-4374-42C8-8009-5EC81DE0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347F6B-DF38-4C95-92C2-0D40670A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AB93B7-340D-4D55-B289-9A94BD2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0ED30F-0562-4296-A7DD-5BFA7C5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D635B1-8846-4401-98EE-3E382ECF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8C197E-31C7-433A-8311-715FF72D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A8B6AD-C036-4378-966E-2669A805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080376-099A-450F-A2B9-CEF6E244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C6DF2D5-CCC3-43EC-BC93-EADF64D5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F78B49-8406-4960-9C79-6E32386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7F931C-80B3-4448-B527-3F0822D6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DCF29B6-980A-41EB-BE51-6CD4231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2E0ACF-4F4C-455E-A4ED-C69F72B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708065-7C11-4D97-903F-1858568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E85876-77F6-4FB7-AF8D-0396747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311B17-B08B-4F0D-84EE-93C73A9A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6C462A-5451-4CDB-BF1B-729AD140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24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6BE16C-1CA4-4F03-849C-7D7C5365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0610F62-7762-488A-9EBE-98FDD99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3158E99-AB87-4828-BA2A-AD8B0C54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A0907FE-D7ED-4392-B855-5753BA1B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7B1E8C5-87FF-4225-BE99-96A6622C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DCCEBA8-E58F-4609-83E0-66C1A8F5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C1BB6FF-2A48-4846-91DF-2953C35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752230-A173-4C8D-A927-10763C09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4CF345B-EB4B-4060-A4AA-B5D7DB34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9825D4-5C85-4DF3-82B9-4107013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ED6809-3D10-4EFF-9D61-77271348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CE7FF1-A4F5-4129-B433-DDB382F4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39A58D0-6041-4DC1-8178-875521C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AA6744-D433-4743-AA12-4B2E4990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DD7C732-B202-45D3-9186-146F4839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35CF49-C6A4-43D2-A959-6767A7E4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460FBC1-B73B-464C-9116-D7930B8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A967A86-FA03-491D-ADF3-13FB96DD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FFE884F-53B1-45E8-B6A3-C089FBFB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23837D2-8062-4386-ADBE-5D65CAFF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62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4DED54-8A6D-4884-A168-F118070C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B48E3A-9165-4DF5-ABC8-397D052D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222D92-D083-4DB9-8D50-60E2270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A88394-373C-4182-90B1-3C8EAA7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9D27033-86F3-4AC5-B113-2C65458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097A58-4305-48F5-8809-864AA7F5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5254B45-6EB7-4BE4-99F7-7F03947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8518E1-4760-476F-87A6-77C2B3CD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798007C-73A8-43A8-A81A-B2A9BDF7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7BE01AD-44BA-47A9-9A54-7E0AD588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9E5EDC4-8F9C-4397-86FA-A8FDDDD1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87D7E22-A2C1-46F0-833B-972CFEC6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DC2A92-8D84-46FD-B912-DF0CA478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2377B8F-0FB1-404F-A860-EA4A0B58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1D4A75-CE45-40A0-B3EB-96A61A5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8D2170F-18F8-44FD-87DC-220D2B5D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B58C256-F72B-4F9B-8413-825FBA42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11671B8-6DC5-4A61-B865-740454FD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703677-49AF-4880-BAEE-49DDCD8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C3FBF80-C23A-421B-B1E0-09BBC05E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00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755913F-3A84-4D4E-B96A-AFE5C70E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5D077C5-5A2D-45BD-A107-44A86DC8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6ADA937-1B3B-4FCC-A8AC-3F7DE983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17375BB-75CD-415F-8E21-05AD86AE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0FA0366-73A1-451E-AF10-2E4E24F5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B598371-4640-49AA-8C72-223882CF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BD8F58-0E74-46F9-9387-D4DAF5B5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CB3BC9-F357-42D1-BCE5-B4FC2CE0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8CA1B4E-340F-4E08-B749-E089382D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69F6547-B705-40B0-B236-6C56851D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5AD2F25-7FF1-4F8E-B82F-23DCBC44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4712BB7-71BA-4E10-A303-CBCB517D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C49A708-AEC3-4C48-9B70-6A817498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CD61B5E-9EAD-4AA4-A2BB-23F20897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3FF10D4-4D1A-43D9-9D16-B0358D42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4819EFF-CA37-472A-838D-1A17EF1C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CE58A6-F42E-4D37-89AB-7CDA2987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1F47C91-BCE1-4E4D-9CE3-462F6EE4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B7E6921-9E22-457A-86B3-B47C2663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3871DD8-810F-4554-96E8-A4015FA3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38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8A3C733-DC46-487C-B2BA-8FDA8990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CA03F7E-0991-4945-9FA1-17C871A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AB53E94-8997-4EF6-A12A-37BF9442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F3FB7B0-042D-4D7F-8A4A-A32CABD6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A68C9EF-F8D2-40A5-93CA-3723F710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0F34823-2946-4137-BFF8-7E292564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D1C0463-DBE9-4B1A-AB8E-D9E61D83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ECA4E89-2359-4B11-AE27-9416E51F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B7A3E23-7725-491B-91FA-D1C41627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1CD163B-AA69-49EE-A146-5022470B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F7B39AC-76C9-42AC-9A39-66AA2BA3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3D5ACE2-E6C0-4869-B2CA-27ED3C6C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DB57973-4DEA-4031-A21C-7040A6E0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49ED308-0C5C-4B01-AF8A-B958016F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50A0504-F226-44A2-8D50-EC7AB319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0F71C14-9456-45C5-BDF9-79ADFC0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C6F303E-7806-4568-8CA2-91FE367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63E55DE-1BAB-4758-AB83-4597A3D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152A816-EB21-4074-88FC-7DAE3975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DFF9A16-7A4F-46DA-BBD5-3E31EB1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766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0614BE0-4F8A-4B0C-B3A0-680169C2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E8607AF-1B24-4C7A-907E-F6F3B983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B70051F-C4A4-416A-AE8C-2092F79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D2E3379-58BC-43CB-B4ED-9E011CA8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0C3F226-5A1F-439D-981A-9CDCA927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385AB9A-51CE-4169-9B22-1C196EDE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6BAA204-4182-434F-9F30-F559FF1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6F1AFE0-0593-4E8E-934C-B797A2CC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AD756C0-34C4-4E0A-91C1-DE74E333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EA51191-5416-4829-8913-7E7A70EE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7B49175-E736-42D5-B80E-064424FC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4906B57-5290-483E-BD36-21A5BFD2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E30835F-3B8B-48D4-8A0C-68BFEEDD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D453A49-7D29-4160-8ED8-D1B0B05C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3274A43-66B0-4C64-8404-57FD83CA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13A5EDF-EAD3-490B-8269-FA8CC2E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07CD81F-D295-4598-A05A-62ED924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1953B6F-7A00-4DDE-8117-50B95FE6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4FBB50B-671C-4871-95A0-85C94E3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9506D808-4575-4913-8319-3A43DA0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7147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128B002-3CCC-4E7F-8845-4CCFF2C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48C672A-25B5-49E8-A103-32F7DCB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D83DEAD-DAAF-44F8-A93C-EA3C9D7B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1D5C02F-9994-4DA2-9A6D-B96C67E4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A025955-5294-4126-A1DE-7B969F9B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6AC87B0-486A-49D9-A218-B153E239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365D489-9B40-4998-996E-E46E4AAC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42A4722-EB9D-4060-BB94-F05ECD3D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5D7B7A7-6221-4C98-8D4F-96C0C20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FB48945-BBAC-4FF1-8401-47928954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BBD3DEF-C7BD-4A40-9934-598B1C4A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A0FC11A-78D0-4009-B704-76BC58D8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AB0BB10-67CB-4BA3-9293-57AE379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177BC46-45EB-4931-84D3-492704EA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84A048E-835D-4196-88BE-48B884C6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F2A8909-308D-40DF-88D4-197B206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783C5EA-5DCF-4077-BFC3-9A66B33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A389708-181C-4FFE-8832-5041D3F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5D52798-7D88-48DF-8FA5-F459F27E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4BFCB70-FF30-44FD-B577-5F40441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9528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C4A27A3-F88B-4296-8036-9A16248E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81715DD-0C2F-42FD-96C7-C38B790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930B02D-A6FF-4402-BBC9-E9161C47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1E177D1-5D55-460B-86CE-96D8DD6A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30C4C58-992D-47BC-A20C-FFB2398E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C6D5E33-E262-49F8-9D78-BB7D80BC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C35EAF6-EB99-41F6-BFBE-9E68DAAE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9A327B4-EF6E-443E-AA00-46165B9E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B930D2E-97E2-4F99-8C40-2B434128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61DA705-CCBC-4710-BDD3-C98409C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8B857EF-D90C-4008-A0AC-0ECB2BC7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129C6F2-B39D-433B-AC61-0783869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12308BC-A0A0-4A6A-AB91-7119802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7C675B3-E4F5-4CC3-9BD3-0E2677E7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5A80CD8-3BFA-4CAC-AF3A-422D231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AB481CD-3892-4832-8F0A-BE385B00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2690954-1E80-4A07-B27F-6AFF45B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954787E-6D44-4807-B991-ADBAB14E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49F3507-C1E1-4268-9FB4-B9195B58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E686EF7-11AB-41CF-94BF-689A329C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910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9D25AAB-BDA5-4BDB-8CDC-92F4E30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DF05946-FDE9-4DB7-8344-DAD16AF3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C0D75D3-83E8-41A1-8F05-1117467F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8589AF6-7974-4279-A477-92567DD7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7A0CCB40-E8C4-41C2-8721-FE1801E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2E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C3E1F69C-6B40-4AFA-B7EA-B2C0F545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6996A3E-348D-4149-AAB8-805CA20F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FD8E1B7-FFE3-430D-9599-86953CF9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8D70831-44A2-492A-BA3A-97DD504E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0D46846-90A3-4DB4-BFAC-4FD0F484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CD6D717-7A04-43F7-9FE4-45ACA0BC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B5451A1-047F-4D03-9CA2-244059E0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B676CA4-841B-45B7-809C-331C3298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60950513-917E-43D5-BD9F-2D31226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641FFBA-7E23-469E-B207-12DFD8C9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CF8225C-1ACC-4A7D-A3DD-93382DB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93CADED-C611-4D99-A2F2-D351FEDA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DC83662-8C60-4BDB-8FDD-C69088F8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F8DAD763-BFDE-48F9-AAEF-6FC2654A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EB91C54-AAAF-4F12-B112-ED5F895C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2912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27841BB-C9E5-442D-B9A3-36A65D19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D638F02-541E-4951-B1B6-A83D56A1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19499DE-B259-427B-B2C4-C55F006A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E35B3C4-F1D1-42AF-AEB4-7CE8FF26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B1E896C-90A4-4DBE-A7A5-3BE7FA1F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605EF64-2B71-40CA-952F-A98DD6FC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FF67FFC-711A-47DC-B461-0F4328CD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EF73B72-570C-453D-B278-E536A250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8446974-DAC1-4D1D-8405-AC07E30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6DF6C4D-CF7E-41EC-85F5-EA0B8CA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CA68998-2D08-45C3-AF28-7972FF54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4B3FD95-669A-454B-90D7-491F26EE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2C8DEEA-BD4B-42FA-BF2C-BC2E9490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5EB5EA0-C3B6-48A2-ADE9-CC7A6236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61ED04B-515B-4623-AF28-2B3F7B1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77D3CC8-5082-479A-967A-4BC1464A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1507707-B370-4654-9122-EB9BA87F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144CCD6-DCF9-4A27-8456-ABD3C6DF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6A68D55-268B-4C48-9793-82C5306A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8D3519A-E2D9-4EC9-A0A4-044591D5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6725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DD7D784-B3A9-4BB6-8D93-77F21804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01C5EED-0E60-469A-8B2A-154DCB8A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C4026E2B-107E-41A6-8CDD-64F795A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6CB1E52-FED5-466E-B0CE-B9F1B52B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7A4578E-4C74-4AEA-AC02-3A4CCC1E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D05C30A-6A9C-4215-A1EC-B917C14B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BC46A55B-8C41-4E54-A033-215E496C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5228810E-E05D-4E5A-A535-6A38ECD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B222FCDF-A933-4C0A-8936-3769F7D7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03E1113-8C6F-4EFA-8A44-2D1111B4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CD75559-3B65-40C6-946E-29B6B9FD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A99B43A-6BCE-480C-B22C-FF58DC52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07AF54F-7C7B-4CFF-81D5-8A569100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97B0750-6AC9-47D9-AE7A-2D569D52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3ADF9F82-A15D-4F50-B412-EBB3ABDA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0DDC54E-3093-4B83-B6AB-F7B4975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7C26F36-162A-4438-A52F-82F2FAE7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A80E00F-69E4-465B-A717-875D6A8F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DA93994-BBDB-442B-9AD2-A63BB4F4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DB81B40-9B82-42D5-8C69-4722F6BD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905375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6913B15-4240-41BE-964A-A951662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9F2538B-8311-4927-883D-D53A122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A6908B32-8F52-4C30-8A54-9E1F84D9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83A22D1-8886-448C-9005-99ED738D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BD685A2-971D-48EB-A2AB-6AA5AEA2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B67BF06-BCCF-442A-AAA9-20D5833B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7B08DAD-0DA4-492C-A188-5B7DB853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39A4A560-EFBE-457B-8FF2-659E357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1895CBD2-1309-41C2-9ECC-47B8D1F7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1FA8EBC-C06D-4FFC-811D-9A307449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6FC7295-8FDD-4203-ACE4-2522740E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E7A25D2-C881-4FC2-895E-24B5893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7DBDEA5-4744-4D7A-9B84-2FCDB522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4A244D0-32C8-4B28-AFF0-9E2743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1ADD871-525D-4B42-9CF2-9B0A078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938E9AD-5EE8-47DB-9ABB-E98EF899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03DD626-44B4-49A8-9D22-2925438A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A0CD972-823B-4C46-8466-3B12880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E54DE05-8A49-4562-BFAF-C8AC2D6E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F6D0DAC-3AA1-4EEE-B998-C45C3D1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143500"/>
            <a:ext cx="16192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A72D"/>
          </a:solidFill>
          <a:ln xmlns:a="http://schemas.openxmlformats.org/drawingml/2006/main" w="9525">
            <a:solidFill>
              <a:srgbClr val="E5A72D"/>
            </a:solidFill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0DFDA75-7341-4FDB-98F0-ABC4CC2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123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03E6B62E-3173-4B1C-902D-73134FAD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Ours-only correct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8EB57E9-B56A-484D-B38E-EF09AEDA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同一題中 Ours 答對、Generic 答錯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34F7CC59-C9A3-41A9-91C7-531ABDCA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102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21E6352-A0D5-4D3E-BB4A-A1CDD28B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兩組結果相同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BF3E199-AADD-4E6C-8404-41B064BE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可能同對，也可能同錯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E6C37001-7E40-4308-8F4F-8C948342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75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2086668-1A9A-4D73-9212-E9326C8E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Generic-only correct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FD157A3-1D1C-4D89-A44D-6866A2A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6860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5BD5A698-F139-46DC-9F47-0F3D0300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5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123 − 75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2DBF080-C3E3-4DBE-BBD2-192658E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0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= 48 題淨優勢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0899A3F3-C039-467B-A6BB-354C5D5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06F"/>
          </a:solidFill>
          <a:ln xmlns:a="http://schemas.openxmlformats.org/drawingml/2006/main" w="0">
            <a:solidFill>
              <a:srgbClr val="37506F"/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D001860-24DC-48DD-92B0-EDB48B2B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48 ÷ 300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= 16.0%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52D933D-6598-4E2B-BD0B-369C7E6A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6860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8922384-6202-4D48-8CE4-A02C1E89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14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E5A72D"/>
                </a:solidFill>
                <a:latin typeface="Noto Sans CJK TC"/>
                <a:ea typeface="Noto Sans CJK TC"/>
                <a:cs typeface="Noto Sans CJK TC"/>
              </a:rPr>
              <a:t>代價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A074C97-EB11-4F05-8464-D96F021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958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tokens +9.0%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latency +4.8%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EA0C56B9-010F-4637-B929-C6791A1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這才是實驗成果本身；網頁只是讓這些資料可以被查看。</a:t>
            </a:r>
          </a:p>
        </p:txBody>
      </p:sp>
    </p:spTree>
    <p:extLst>
      <p:ext uri="{BB962C8B-B14F-4D97-AF65-F5344CB8AC3E}">
        <p14:creationId xmlns:p14="http://schemas.microsoft.com/office/powerpoint/2010/main" val="19562991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E7DDE1-1B87-4B33-96C9-05E24582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VISUALIZING ONE REAL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B72CE-9467-480B-B1E5-A8BFCC67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一題實際案例：語用分解把「地點」和「物品」拆開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6BF7D-5F5E-4F8F-84C7-6B20EECA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E3FCC-E733-4103-B1FE-B251D1B1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B5048-AB82-45B4-AC9A-F00AEEDE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PUB-T13-112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6115B-CFC4-4133-9508-EFF9DD0B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409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33028-2EB6-4915-93B8-4C4FFD5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Q：broccoli 在 closet 嗎？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E753E-55FC-409B-AC34-6C6389CB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4095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BDD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1AC99-863D-4237-AF1E-C72C3A8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A：I put the pineapples there.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E1241-27BA-4C71-A995-72A7B087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14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there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47C27-0BD7-4FF8-A57C-26806EC4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指向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5C2EB-662E-4C84-BA9D-5C5D2A56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closet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0723D-FC26-4C9A-AABD-C74E512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8754B-9AD6-41C0-B28E-CFDC5417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B6DC0-2130-4D69-AB9E-80A91A7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3D8"/>
          </a:solidFill>
          <a:ln xmlns:a="http://schemas.openxmlformats.org/drawingml/2006/main" w="0">
            <a:solidFill>
              <a:srgbClr val="7C63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01F82-A602-45AA-820D-68FD0CA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 i="0">
                <a:solidFill>
                  <a:srgbClr val="7C63D8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6B95D-3FE3-4D4F-9108-B4462B80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33550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C3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37356-CBAD-4B98-8244-337A437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一般深思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E5242-9478-4B52-984B-12439717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050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reasoning_step_2 寫『answer is no』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但 answer_index 卻指到 Yes → 答錯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28184-182B-4162-85A2-0A44389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62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FE8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70776-EF40-4AB6-82E5-F8B1CC55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語用分解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B707C-E7CD-4AD1-BD24-E29B3BEE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字面：提到的是 pineapples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60CC3-8C79-497B-8D3E-223E714A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81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目標：題目問的是 broccoli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498D1-9291-4D90-88E7-12032D9C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證據：there 指 closet，但物品不同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B2517-C958-49EA-AA58-4DFEEAF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14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• 替代：broccoli 的位置仍未知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F19DC-CC54-4086-8DDF-9C3267D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05400"/>
            <a:ext cx="3048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56F"/>
          </a:solidFill>
          <a:ln xmlns:a="http://schemas.openxmlformats.org/drawingml/2006/main" w="9525">
            <a:solidFill>
              <a:srgbClr val="35A5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5C79AB-7AEA-4ACE-8A96-73FD6ED7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Final answer：No · CORRECT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2F99B-841D-4693-9995-9B14219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533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1D31"/>
          </a:solidFill>
          <a:ln xmlns:a="http://schemas.openxmlformats.org/drawingml/2006/main" w="9525">
            <a:solidFill>
              <a:srgbClr val="101D3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FFAA6-9460-4A7F-ABFE-D0440B4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關鍵不是『there = closet』而已；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還要保持 broccoli ≠ pineapples。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3544B-3DC6-475A-BE89-CDB7FEEE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單一案例只負責解釋機制；真正的證據仍是前一頁的 300 題成對結果。</a:t>
            </a:r>
          </a:p>
        </p:txBody>
      </p:sp>
    </p:spTree>
    <p:extLst>
      <p:ext uri="{BB962C8B-B14F-4D97-AF65-F5344CB8AC3E}">
        <p14:creationId xmlns:p14="http://schemas.microsoft.com/office/powerpoint/2010/main" val="7230690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E2676-38B0-4A9B-AB08-808C517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WHAT THE RESULT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873B5-11A9-4D0D-9312-D4B779DE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目前可以向老師報告的是一個窄但完整的研究結果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4D5CF-B3D2-4987-8FA5-1A7DC817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B804B-299C-4C90-B107-2FCB97F3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3F456-BC9A-4C40-AA92-B8317EA9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35A56F"/>
                </a:solidFill>
                <a:latin typeface="Noto Sans CJK TC"/>
                <a:ea typeface="Noto Sans CJK TC"/>
                <a:cs typeface="Noto Sans CJK TC"/>
              </a:rPr>
              <a:t>現在有證據支持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99B15-E9A5-4157-A749-BC4E0127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56F"/>
          </a:solidFill>
          <a:ln xmlns:a="http://schemas.openxmlformats.org/drawingml/2006/main" w="0">
            <a:solidFill>
              <a:srgbClr val="35A5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C44B1-6B30-4920-83BF-50968ED0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建立了可追溯的記憶、狀態、預測與修正架構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0AA9A-BF1C-4108-B48E-57E3785D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保留 M8、M9、M12 等沒有勝出的負結果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95F5B-58E6-42E3-99E3-8CD6B8A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在 300 個新 PUB T13 案例上完成同模型成對確認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DFB8A-FA5B-4DFE-B444-B0A77954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語用分解得到 +16.0pp focused advantage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B64F2-E99F-4AA7-961E-BD8E3E8E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✓ 每個結果都有 prereg、原始輸出、成本與限制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719A0-B4EC-47F0-8CBE-96313013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i="0">
                <a:solidFill>
                  <a:srgbClr val="D75252"/>
                </a:solidFill>
                <a:latin typeface="Noto Sans CJK TC"/>
                <a:ea typeface="Noto Sans CJK TC"/>
                <a:cs typeface="Noto Sans CJK TC"/>
              </a:rPr>
              <a:t>現在仍不能宣稱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773AD-3495-436B-B5A6-D0C38229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5252"/>
          </a:solidFill>
          <a:ln xmlns:a="http://schemas.openxmlformats.org/drawingml/2006/main" w="0">
            <a:solidFill>
              <a:srgbClr val="D752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91D4F-AECE-4A5A-A5B3-E24AF33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系統已經是人或具有主觀意識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CF474-2417-4E9C-8BCF-00AD45F9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已理解所有隱含意圖、情緒與人類思考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C351D-5E9B-4EC5-AD6B-CB12D186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已證明長期 felt understanding 優於一般 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9060A-FA8A-46C7-8FC2-6468F679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已完成 Uruha 公開人格的時間預測驗證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701A2-576F-4E4B-AA8F-A0BC609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62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× +16pp 可以自動推廣到其他模型與其他任務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46288-72C8-4CC0-85C5-981406E6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E6CA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D0DD0-4921-4EFE-8BD9-4AD9DBE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197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7A5200"/>
                </a:solidFill>
                <a:latin typeface="Noto Sans CJK TC"/>
                <a:ea typeface="Noto Sans CJK TC"/>
                <a:cs typeface="Noto Sans CJK TC"/>
              </a:rPr>
              <a:t>研究價值：我已經把『像人』的一個模糊願景，轉成可重現、可失敗、可繼續擴張的實驗。</a:t>
            </a:r>
          </a:p>
        </p:txBody>
      </p:sp>
    </p:spTree>
    <p:extLst>
      <p:ext uri="{BB962C8B-B14F-4D97-AF65-F5344CB8AC3E}">
        <p14:creationId xmlns:p14="http://schemas.microsoft.com/office/powerpoint/2010/main" val="511564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20E7F-18DD-47F5-9479-540982B2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ONE-YEAR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75B09-FD7A-44C5-B46D-0C5667F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這一年真正完成的，是把一個類人系統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225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從「展示功能」推進到「可以做研究」。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F8262-69EC-40B5-8C30-B678A86A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D5EC3-AD14-4517-8013-C355D604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工程成果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3440B-FFF7-476C-8357-0A442D2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日文對話、長期記憶、人格／關係狀態、node graph、50 輪測試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B3C0A-09BF-44EC-8F0C-70D3A098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3D362-567A-4766-850C-DDD9C98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研究成果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24065-C5B8-44D0-963C-5B95DCA6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時間切分、強 baseline、消融、干預、轉移、公開 benchmark、預註冊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2E742-7819-417D-859A-58B81E3F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333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A45"/>
          </a:solidFill>
          <a:ln xmlns:a="http://schemas.openxmlformats.org/drawingml/2006/main" w="9525">
            <a:solidFill>
              <a:srgbClr val="2948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DCAF9-8ECA-46C6-BCBE-7FEB777B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 i="0">
                <a:solidFill>
                  <a:srgbClr val="8DE0B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8DE0B2"/>
                </a:solidFill>
                <a:latin typeface="Noto Sans CJK TC"/>
                <a:ea typeface="Noto Sans CJK TC"/>
                <a:cs typeface="Noto Sans CJK TC"/>
              </a:rPr>
              <a:t>正式正結果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99B60-F701-4A64-B19F-391339B0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 i="0">
                <a:solidFill>
                  <a:srgbClr val="C3D4E7"/>
                </a:solidFill>
                <a:latin typeface="Noto Sans CJK TC"/>
                <a:ea typeface="Noto Sans CJK TC"/>
                <a:cs typeface="Noto Sans CJK TC"/>
              </a:rPr>
              <a:t>M15：300 個新 T13 案例，Ours 68.7% vs Generic 52.7%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1FEC9-DC84-4F20-BEB7-A133EFB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3EFBA-3BC9-4310-8E7A-F28E3864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1. token-matched 對照　2. 跨模型與選項排列　3. 多輪隱含需求修正　4. Uruha 時間資料真值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F9393-C069-4600-B6A5-11CB6A8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1" i="0">
                <a:solidFill>
                  <a:srgbClr val="6DCBF4"/>
                </a:solidFill>
                <a:latin typeface="Noto Sans CJK TC"/>
                <a:ea typeface="Noto Sans CJK TC"/>
                <a:cs typeface="Noto Sans CJK TC"/>
              </a:rPr>
              <a:t>原本的夢想沒有消失；現在它有了可以逐步驗證的路。</a:t>
            </a:r>
          </a:p>
        </p:txBody>
      </p:sp>
    </p:spTree>
    <p:extLst>
      <p:ext uri="{BB962C8B-B14F-4D97-AF65-F5344CB8AC3E}">
        <p14:creationId xmlns:p14="http://schemas.microsoft.com/office/powerpoint/2010/main" val="15276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FD9A4-2EF4-4EC9-9C3F-541C1EF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REFERENCES ·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C7DD5-59E4-4D20-8BB0-9985E52D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主要參考文獻（備用頁）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EDE93-7ADC-4A52-AD9E-5A43DFED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URUHA BRAIN · ONE-YEAR RESEARCH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21DB0-F02F-4605-8396-F0557AB0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1" i="0">
                <a:solidFill>
                  <a:srgbClr val="8D97A6"/>
                </a:solidFill>
                <a:latin typeface="Noto Sans CJK TC"/>
                <a:ea typeface="Noto Sans CJK TC"/>
                <a:cs typeface="Noto Sans CJK T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DF0B0-E766-4523-A6C3-EB3CC29F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A4081-E9CB-4EFA-B254-C109DF6F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Sravanthi et al. (2024)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DD4CA-AEF0-4757-A05C-060078BE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PUB: A Pragmatics Understanding Benchmark…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07CCA-51E3-4CE8-AF54-DBFF7E6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6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PUB T13 語用資料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9C29C-BE94-4979-9534-AADC5BEB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1C4E1-57F3-41B8-A575-0295886A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Maharana et al. (2024)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BAC26-D996-4D4F-8FCA-C1BEA70A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Evaluating Very Long-Term Conversational Memory…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ED3F6-A5EE-4D4B-A1BF-942B5B42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長期記憶任務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02257-F876-48B3-B951-BE29B97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94739-EB38-4742-8131-E697E490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Gneiting &amp; Raftery (2007)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EF027-7D17-4578-98DE-BD227C48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Strictly Proper Scoring Rules…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78169-B948-4F71-9899-0546C47C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Brier / NLL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87F47-5AD0-46BD-B6E0-EBCC16F2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499D9-15DF-4FCB-9771-AB7F709F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Guo et al. (2017)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5878A-CD05-4DB7-AE21-3E9198C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On Calibration of Modern Neural Networks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0F723-AA3D-49B0-B1C1-02287F1D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ECE / 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A2909-C391-427E-BB51-6C5C616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D9E0F-2222-41F5-8E82-5E9DA52E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Peyrard et al. (2021)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89BC2-ADFB-40EF-AF63-75EE7D6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Better than Average: Paired Evaluation…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0BC48-5526-4561-9FEB-AFD17B5E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同題成對比較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485FD-FBD3-4D1B-ACF9-E497081F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3731F-D4C5-4440-B327-731C1E8F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Berg-Kirkpatrick et al. (2012)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D9AC1-5B7F-40AA-8C06-975DFC4E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Statistical Significance in NLP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767F7-EEC9-437D-A1C0-131ED562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05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bootstrap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ABE42-146A-4733-8D1C-7B59E134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solidFill>
              <a:srgbClr val="DC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820875-8F97-4027-A0EA-9DCC1A0E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Liu et al. (2016)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112BF-ACBA-47C5-88B1-78CDF25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0B1220"/>
                </a:solidFill>
                <a:latin typeface="Noto Sans CJK TC"/>
                <a:ea typeface="Noto Sans CJK TC"/>
                <a:cs typeface="Noto Sans CJK TC"/>
              </a:rPr>
              <a:t>How NOT To Evaluate Your Dialogue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BB3C4B-264F-4EF0-91C9-AFDDA334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53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i="0">
                <a:solidFill>
                  <a:srgbClr val="536174"/>
                </a:solidFill>
                <a:latin typeface="Noto Sans CJK TC"/>
                <a:ea typeface="Noto Sans CJK TC"/>
                <a:cs typeface="Noto Sans CJK TC"/>
              </a:rPr>
              <a:t>真人品質邊界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93B4CD-CCF3-4543-9D8E-D0981ECE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1" i="0">
                <a:solidFill>
                  <a:srgbClr val="3D8DFF"/>
                </a:solidFill>
                <a:latin typeface="Noto Sans CJK TC"/>
                <a:ea typeface="Noto Sans CJK TC"/>
                <a:cs typeface="Noto Sans CJK TC"/>
              </a:rPr>
              <a:t>完整 URL 放在每頁講者備註；正式 20 分鐘報告可不逐篇介紹。</a:t>
            </a:r>
          </a:p>
        </p:txBody>
      </p:sp>
    </p:spTree>
    <p:extLst>
      <p:ext uri="{BB962C8B-B14F-4D97-AF65-F5344CB8AC3E}">
        <p14:creationId xmlns:p14="http://schemas.microsoft.com/office/powerpoint/2010/main" val="1339834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2026-08-18T19:47:41.6220000Z</dcterms:created>
  <dcterms:modified xsi:type="dcterms:W3CDTF">2026-08-18T19:47:41.6220000Z</dcterms:modified>
</coreProperties>
</file>