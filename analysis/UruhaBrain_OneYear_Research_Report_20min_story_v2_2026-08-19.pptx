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b0e9ca7f6436c" /><Relationship Type="http://schemas.openxmlformats.org/officeDocument/2006/relationships/extended-properties" Target="/docProps/app.xml" Id="R453fa7737b3748d0" /><Relationship Type="http://schemas.openxmlformats.org/officeDocument/2006/relationships/officeDocument" Target="/ppt/presentation.xml" Id="Rfb2d2abd805544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4537a7b154842"/>
  </p:sldMasterIdLst>
  <p:notesMasterIdLst>
    <p:notesMasterId xmlns:r="http://schemas.openxmlformats.org/officeDocument/2006/relationships" r:id="Rb19a9b11a73f4729"/>
  </p:notesMasterIdLst>
  <p:sldIdLst>
    <p:sldId xmlns:r="http://schemas.openxmlformats.org/officeDocument/2006/relationships" id="256" r:id="Rba2a1a69dde24427"/>
    <p:sldId xmlns:r="http://schemas.openxmlformats.org/officeDocument/2006/relationships" id="257" r:id="R16595b4176de4aa7"/>
    <p:sldId xmlns:r="http://schemas.openxmlformats.org/officeDocument/2006/relationships" id="258" r:id="R4ce05bfb30b948c3"/>
    <p:sldId xmlns:r="http://schemas.openxmlformats.org/officeDocument/2006/relationships" id="259" r:id="Rbaab1a966cf44c9f"/>
    <p:sldId xmlns:r="http://schemas.openxmlformats.org/officeDocument/2006/relationships" id="260" r:id="R4cf799279b464664"/>
    <p:sldId xmlns:r="http://schemas.openxmlformats.org/officeDocument/2006/relationships" id="261" r:id="Ra79a42e359934174"/>
    <p:sldId xmlns:r="http://schemas.openxmlformats.org/officeDocument/2006/relationships" id="262" r:id="R5b7b2618c7944061"/>
    <p:sldId xmlns:r="http://schemas.openxmlformats.org/officeDocument/2006/relationships" id="263" r:id="R09d374d4070949f6"/>
    <p:sldId xmlns:r="http://schemas.openxmlformats.org/officeDocument/2006/relationships" id="264" r:id="R3039ac7115434674"/>
    <p:sldId xmlns:r="http://schemas.openxmlformats.org/officeDocument/2006/relationships" id="265" r:id="Rb3628feff5b84147"/>
    <p:sldId xmlns:r="http://schemas.openxmlformats.org/officeDocument/2006/relationships" id="266" r:id="R89cb022c8c91496e"/>
    <p:sldId xmlns:r="http://schemas.openxmlformats.org/officeDocument/2006/relationships" id="267" r:id="R216ef39ee7c7483f"/>
    <p:sldId xmlns:r="http://schemas.openxmlformats.org/officeDocument/2006/relationships" id="268" r:id="Ref9b9759245642f1"/>
    <p:sldId xmlns:r="http://schemas.openxmlformats.org/officeDocument/2006/relationships" id="269" r:id="R41422e14848f4bf9"/>
    <p:sldId xmlns:r="http://schemas.openxmlformats.org/officeDocument/2006/relationships" id="270" r:id="R5cab2a7a95ef4ccb"/>
    <p:sldId xmlns:r="http://schemas.openxmlformats.org/officeDocument/2006/relationships" id="271" r:id="R22a384f8a9f74bdb"/>
    <p:sldId xmlns:r="http://schemas.openxmlformats.org/officeDocument/2006/relationships" id="272" r:id="Rc2a434377817460d"/>
    <p:sldId xmlns:r="http://schemas.openxmlformats.org/officeDocument/2006/relationships" id="273" r:id="R64246436aba948c3"/>
    <p:sldId xmlns:r="http://schemas.openxmlformats.org/officeDocument/2006/relationships" id="274" r:id="Rad0bd2f1c63c401a"/>
    <p:sldId xmlns:r="http://schemas.openxmlformats.org/officeDocument/2006/relationships" id="275" r:id="Rae903873a4ae41d4"/>
    <p:sldId xmlns:r="http://schemas.openxmlformats.org/officeDocument/2006/relationships" id="276" r:id="R704961d6f5f9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961ffe086d498b" /><Relationship Type="http://schemas.openxmlformats.org/officeDocument/2006/relationships/slideMaster" Target="/ppt/slideMasters/slideMaster1.xml" Id="Rfe44537a7b154842" /><Relationship Type="http://schemas.openxmlformats.org/officeDocument/2006/relationships/notesMaster" Target="/ppt/notesMasters/notesMaster1.xml" Id="Rb19a9b11a73f4729" /><Relationship Type="http://schemas.openxmlformats.org/officeDocument/2006/relationships/presProps" Target="/ppt/presProps.xml" Id="R7962bca743b14fd8" /><Relationship Type="http://schemas.openxmlformats.org/officeDocument/2006/relationships/tableStyles" Target="/ppt/tableStyles.xml" Id="R48667b2d1cd94e93" /><Relationship Type="http://schemas.openxmlformats.org/officeDocument/2006/relationships/slide" Target="/ppt/slides/slide1.xml" Id="Rba2a1a69dde24427" /><Relationship Type="http://schemas.openxmlformats.org/officeDocument/2006/relationships/slide" Target="/ppt/slides/slide2.xml" Id="R16595b4176de4aa7" /><Relationship Type="http://schemas.openxmlformats.org/officeDocument/2006/relationships/slide" Target="/ppt/slides/slide3.xml" Id="R4ce05bfb30b948c3" /><Relationship Type="http://schemas.openxmlformats.org/officeDocument/2006/relationships/slide" Target="/ppt/slides/slide4.xml" Id="Rbaab1a966cf44c9f" /><Relationship Type="http://schemas.openxmlformats.org/officeDocument/2006/relationships/slide" Target="/ppt/slides/slide5.xml" Id="R4cf799279b464664" /><Relationship Type="http://schemas.openxmlformats.org/officeDocument/2006/relationships/slide" Target="/ppt/slides/slide6.xml" Id="Ra79a42e359934174" /><Relationship Type="http://schemas.openxmlformats.org/officeDocument/2006/relationships/slide" Target="/ppt/slides/slide7.xml" Id="R5b7b2618c7944061" /><Relationship Type="http://schemas.openxmlformats.org/officeDocument/2006/relationships/slide" Target="/ppt/slides/slide8.xml" Id="R09d374d4070949f6" /><Relationship Type="http://schemas.openxmlformats.org/officeDocument/2006/relationships/slide" Target="/ppt/slides/slide9.xml" Id="R3039ac7115434674" /><Relationship Type="http://schemas.openxmlformats.org/officeDocument/2006/relationships/slide" Target="/ppt/slides/slide10.xml" Id="Rb3628feff5b84147" /><Relationship Type="http://schemas.openxmlformats.org/officeDocument/2006/relationships/slide" Target="/ppt/slides/slide11.xml" Id="R89cb022c8c91496e" /><Relationship Type="http://schemas.openxmlformats.org/officeDocument/2006/relationships/slide" Target="/ppt/slides/slide12.xml" Id="R216ef39ee7c7483f" /><Relationship Type="http://schemas.openxmlformats.org/officeDocument/2006/relationships/slide" Target="/ppt/slides/slide13.xml" Id="Ref9b9759245642f1" /><Relationship Type="http://schemas.openxmlformats.org/officeDocument/2006/relationships/slide" Target="/ppt/slides/slide14.xml" Id="R41422e14848f4bf9" /><Relationship Type="http://schemas.openxmlformats.org/officeDocument/2006/relationships/slide" Target="/ppt/slides/slide15.xml" Id="R5cab2a7a95ef4ccb" /><Relationship Type="http://schemas.openxmlformats.org/officeDocument/2006/relationships/slide" Target="/ppt/slides/slide16.xml" Id="R22a384f8a9f74bdb" /><Relationship Type="http://schemas.openxmlformats.org/officeDocument/2006/relationships/slide" Target="/ppt/slides/slide17.xml" Id="Rc2a434377817460d" /><Relationship Type="http://schemas.openxmlformats.org/officeDocument/2006/relationships/slide" Target="/ppt/slides/slide18.xml" Id="R64246436aba948c3" /><Relationship Type="http://schemas.openxmlformats.org/officeDocument/2006/relationships/slide" Target="/ppt/slides/slide19.xml" Id="Rad0bd2f1c63c401a" /><Relationship Type="http://schemas.openxmlformats.org/officeDocument/2006/relationships/slide" Target="/ppt/slides/slide20.xml" Id="Rae903873a4ae41d4" /><Relationship Type="http://schemas.openxmlformats.org/officeDocument/2006/relationships/slide" Target="/ppt/slides/slide21.xml" Id="R704961d6f5f9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705ac3178c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84c6c9f764c31" /><Relationship Type="http://schemas.openxmlformats.org/officeDocument/2006/relationships/notesMaster" Target="/ppt/notesMasters/notesMaster1.xml" Id="Rb77c67f3e6bb42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5578212d84f3f" /><Relationship Type="http://schemas.openxmlformats.org/officeDocument/2006/relationships/notesMaster" Target="/ppt/notesMasters/notesMaster1.xml" Id="R677bc025fa91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8646f54a24ca6" /><Relationship Type="http://schemas.openxmlformats.org/officeDocument/2006/relationships/notesMaster" Target="/ppt/notesMasters/notesMaster1.xml" Id="R85dc885e050849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aeea06e7b54363" /><Relationship Type="http://schemas.openxmlformats.org/officeDocument/2006/relationships/notesMaster" Target="/ppt/notesMasters/notesMaster1.xml" Id="R0d4126ba1031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849b128b704441" /><Relationship Type="http://schemas.openxmlformats.org/officeDocument/2006/relationships/notesMaster" Target="/ppt/notesMasters/notesMaster1.xml" Id="R456c039d1290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1baa3ef3b14044" /><Relationship Type="http://schemas.openxmlformats.org/officeDocument/2006/relationships/notesMaster" Target="/ppt/notesMasters/notesMaster1.xml" Id="R4f2fdc01c4fb42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ba071dca5f467e" /><Relationship Type="http://schemas.openxmlformats.org/officeDocument/2006/relationships/notesMaster" Target="/ppt/notesMasters/notesMaster1.xml" Id="R5c28e4d8647c46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29cc957a3c4cc6" /><Relationship Type="http://schemas.openxmlformats.org/officeDocument/2006/relationships/notesMaster" Target="/ppt/notesMasters/notesMaster1.xml" Id="Rb679207fec354f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bf7286be704672" /><Relationship Type="http://schemas.openxmlformats.org/officeDocument/2006/relationships/notesMaster" Target="/ppt/notesMasters/notesMaster1.xml" Id="Rbedb80d8ed0e4d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82c541c6e445ec" /><Relationship Type="http://schemas.openxmlformats.org/officeDocument/2006/relationships/notesMaster" Target="/ppt/notesMasters/notesMaster1.xml" Id="R2f200b7a9c3c42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6498825d8a4ca5" /><Relationship Type="http://schemas.openxmlformats.org/officeDocument/2006/relationships/notesMaster" Target="/ppt/notesMasters/notesMaster1.xml" Id="Rc385b7a56fc143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e7477b20874847" /><Relationship Type="http://schemas.openxmlformats.org/officeDocument/2006/relationships/notesMaster" Target="/ppt/notesMasters/notesMaster1.xml" Id="Rc6df91899e8d41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1afdbb01ce4631" /><Relationship Type="http://schemas.openxmlformats.org/officeDocument/2006/relationships/notesMaster" Target="/ppt/notesMasters/notesMaster1.xml" Id="Rf4b70ffd139646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79bba3d28a4d1f" /><Relationship Type="http://schemas.openxmlformats.org/officeDocument/2006/relationships/notesMaster" Target="/ppt/notesMasters/notesMaster1.xml" Id="Re6ab7778fa194a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aa7a3c8e41474f" /><Relationship Type="http://schemas.openxmlformats.org/officeDocument/2006/relationships/notesMaster" Target="/ppt/notesMasters/notesMaster1.xml" Id="R5d950084eba04d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6ecde471184473" /><Relationship Type="http://schemas.openxmlformats.org/officeDocument/2006/relationships/notesMaster" Target="/ppt/notesMasters/notesMaster1.xml" Id="R47ce84d2562e46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883d48419040a5" /><Relationship Type="http://schemas.openxmlformats.org/officeDocument/2006/relationships/notesMaster" Target="/ppt/notesMasters/notesMaster1.xml" Id="R558b93815acc4a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d762f33d3c4925" /><Relationship Type="http://schemas.openxmlformats.org/officeDocument/2006/relationships/notesMaster" Target="/ppt/notesMasters/notesMaster1.xml" Id="Rf0c5c31dd8d848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15297cdd724fb9" /><Relationship Type="http://schemas.openxmlformats.org/officeDocument/2006/relationships/notesMaster" Target="/ppt/notesMasters/notesMaster1.xml" Id="Ra9b848af2edd42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1e058e25d44fbd" /><Relationship Type="http://schemas.openxmlformats.org/officeDocument/2006/relationships/notesMaster" Target="/ppt/notesMasters/notesMaster1.xml" Id="R8353886f7a4d40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5952a3c3dd4d71" /><Relationship Type="http://schemas.openxmlformats.org/officeDocument/2006/relationships/notesMaster" Target="/ppt/notesMasters/notesMaster1.xml" Id="R7116bc7e3501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秒。這份報告不是只講最後一次實驗，而是說明我這一年如何從『想做一個像人的系統』，走到『把每個能力拆成可以被驗證的研究問題』。最後會展示目前第一個正式通過確認的窄能力結果。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master specification: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先把『像人』說具體：認知科學通常不把反應視為輸入直接跳到輸出，而會討論知覺、語意理解、工作記憶與長期記憶、事件評估、反應選擇，以及語言產生。我的研究不是說這六格等於真實大腦，而是把這些功能做成可執行模組，問同一個刺激在不同記憶、關係與目標下，為什麼會得到不同回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ACT-R cognitive architecture: https://act-r.psy.cmu.edu/</a:t>
            </a:r>
          </a:p>
          <a:p xmlns:a="http://schemas.openxmlformats.org/drawingml/2006/main">
            <a:r>
              <a:t>- Cowan (2008), working and long-term memory: https://pubmed.ncbi.nlm.nih.gov/18394484/</a:t>
            </a:r>
          </a:p>
          <a:p xmlns:a="http://schemas.openxmlformats.org/drawingml/2006/main">
            <a:r>
              <a:t>- Scherer &amp; Moors (2019), appraisal and action tendency: https://doi.org/10.1146/annurev-psych-122216-011854</a:t>
            </a:r>
          </a:p>
          <a:p xmlns:a="http://schemas.openxmlformats.org/drawingml/2006/main">
            <a:r>
              <a:t>- Levelt (1999), word production: https://pubmed.ncbi.nlm.nih.gov/10354575/</a:t>
            </a:r>
          </a:p>
          <a:p xmlns:a="http://schemas.openxmlformats.org/drawingml/2006/main">
            <a:r>
              <a:t>- Sections 0–6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105 秒。這頁先把早期驗證講誠實。ToMBench 現在是 97.5%，專案歷史舊版約 55%，但不是同一輪、同樣本的匹配對照，所以只能看工程進步方向，不能當正式因果比較；而且 97.5% 包含 symbolic selector。Big Five 穩定度是 0.7554，但當時沒有建立同模型無人格對照。因此這兩個分數都只能證明局部功能，不能證明像人，也正是下一頁需要研究轉向的原因。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reports/formal_brain_benchmarks_report.md</a:t>
            </a:r>
          </a:p>
          <a:p xmlns:a="http://schemas.openxmlformats.org/drawingml/2006/main">
            <a:r>
              <a:t>- reports/formal_brain_benchmarks_report.json</a:t>
            </a:r>
          </a:p>
          <a:p xmlns:a="http://schemas.openxmlformats.org/drawingml/2006/main">
            <a:r>
              <a:t>- reports/project_direction_audit_and_future_roadmap_zh.md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秒。這頁要直接回答老師可能問的『所以分數很高不就代表像人？』。答案是不行：沒有一篇論文定義 ToM、Big Five、自然度或記憶分數超過某門檻就等於人。不同人本來就不一樣，同一句話也沒有唯一的人類答案。因此我把研究問題改成可反駁的形式：固定其他條件時，某個中間機制是否真的提升未見行為預測。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reports/formal_brain_benchmarks_report.md</a:t>
            </a:r>
          </a:p>
          <a:p xmlns:a="http://schemas.openxmlformats.org/drawingml/2006/main">
            <a:r>
              <a:t>- Research claim boundary: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這一頁補上原本缺少的研究橋梁。不能直接測整個人後，我沒有突然跳到語用，而是回到原本左腦、記憶、狀態、右腦架構，先選最上游的左腦理解器官。因為如果它把真正問題對象理解錯，後面的記憶檢索、反應計畫和日文表達都會沿著錯題目繼續。於是研究問題變成：其他條件固定時，只換左腦理解流程，答案會不會更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reports/project_direction_audit_and_future_roadmap_zh.md</a:t>
            </a:r>
          </a:p>
          <a:p xmlns:a="http://schemas.openxmlformats.org/drawingml/2006/main">
            <a:r>
              <a:t>-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秒。日常例子用來定義左腦理解器官的輸入輸出：它接收字面和記憶，形成暫定狀態、候選反應與選中政策，再交給右腦說成日文。這個 trace 能證明架構真的運作，但日常對話沒有唯一標準答案，因此它還不能公平比較兩種理解方法，這就導向後面的可反駁閉環與公開題庫。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analysis/v2_16_reference_person_equation_raw.json</a:t>
            </a:r>
          </a:p>
          <a:p xmlns:a="http://schemas.openxmlformats.org/drawingml/2006/main">
            <a:r>
              <a:t>- analysis/v2_16_one_week_reference_person_equation_acceptance_2026-08-12.md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95 秒。理解不是宣稱讀心，而是左腦對不可見狀態提出可被否定的暫定假設。假設、證據、預測、結果與更新五步缺一不可：沒有證據會變成亂猜，沒有預測就不能計分，沒有結果與更新就不會修正。這處理的是多輪日常理解；但要比較兩種機制，仍需要具有固定正解的外部題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analysis/v2_14_human_pragmatic_comparison_raw.json</a:t>
            </a:r>
          </a:p>
          <a:p xmlns:a="http://schemas.openxmlformats.org/drawingml/2006/main">
            <a:r>
              <a:t>- analysis/v2_15_one_week_pragmatic_showcase_acceptance_2026-08-12.md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秒。不同器官要用不同論文方法驗證。PUB 對應左腦語用理解，LoCoMo 對應長期記憶，proper scoring 與 calibration 對應機率，成對統計與 bootstrap 對應公平比較，真人評分才對應自然對話。這一頁也預告：M1 到 M12 先處理其他器官與評測方法，M13 才正式把 PUB 接到左腦理解。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秒。M1 到 M5 是整條人類方程式的地基，不是 PUB 實驗。M1 固定時間邊界，M2 建立評測控制，M3 測記憶器官，M4 測狀態器官，M5 測狀態轉移。先做到不偷看未來、不把猜測當事實，後面才有資格談器官是否改善預測。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analysis/m1_temporal_prediction_observatory_acceptance_2026-08-15.md</a:t>
            </a:r>
          </a:p>
          <a:p xmlns:a="http://schemas.openxmlformats.org/drawingml/2006/main">
            <a:r>
              <a:t>- analysis/m2_strong_temporal_baselines_acceptance_2026-08-15.md</a:t>
            </a:r>
          </a:p>
          <a:p xmlns:a="http://schemas.openxmlformats.org/drawingml/2006/main">
            <a:r>
              <a:t>- analysis/m3_structured_memory_acceptance_2026-08-15.md</a:t>
            </a:r>
          </a:p>
          <a:p xmlns:a="http://schemas.openxmlformats.org/drawingml/2006/main">
            <a:r>
              <a:t>- analysis/m4_human_state_acceptance_2026-08-15.md</a:t>
            </a:r>
          </a:p>
          <a:p xmlns:a="http://schemas.openxmlformats.org/drawingml/2006/main">
            <a:r>
              <a:t>- analysis/m5_state_transition_acceptance_2026-08-15.md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秒。M6 到 M10 逐個測原架構器官：左腦行為預測、記憶與狀態、整體穩健性、人格常數轉移，以及右腦日文輸出。這些實驗有成功也有失敗，而它們共同指出一個尚未被公開基準直接檢查的缺口：左腦是否真的把字面、真正問題與上下文證據拆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analysis/m6_behavior_predictor_acceptance_2026-08-15.md</a:t>
            </a:r>
          </a:p>
          <a:p xmlns:a="http://schemas.openxmlformats.org/drawingml/2006/main">
            <a:r>
              <a:t>- analysis/m7_ablation_intervention_diagnostic_acceptance_2026-08-15.md</a:t>
            </a:r>
          </a:p>
          <a:p xmlns:a="http://schemas.openxmlformats.org/drawingml/2006/main">
            <a:r>
              <a:t>- analysis/m8_rolling_scaling_acceptance_2026-08-15.md</a:t>
            </a:r>
          </a:p>
          <a:p xmlns:a="http://schemas.openxmlformats.org/drawingml/2006/main">
            <a:r>
              <a:t>- analysis/m9_second_person_transfer_acceptance_2026-08-15.md</a:t>
            </a:r>
          </a:p>
          <a:p xmlns:a="http://schemas.openxmlformats.org/drawingml/2006/main">
            <a:r>
              <a:t>- analysis/m10_behavior_authoritative_language_acceptance_2026-08-15.md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95 秒。這裡才解釋 PUB 為什麼出現。M11 與 M12 先整理證據並對齊論文後，整體系統優勢仍不成立；自製題也不足以讓外部重做。因此 M13 選公開 PUB，因為題目、答案與語用分類固定，可以隔離測左腦理解。M13 先失敗並暴露 schema 問題，M14 修格式後只得到發展訊號，M15 才用 300 個新案例確認。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analysis/m11_research_evidence_closure_acceptance_2026-08-15.md</a:t>
            </a:r>
          </a:p>
          <a:p xmlns:a="http://schemas.openxmlformats.org/drawingml/2006/main">
            <a:r>
              <a:t>- analysis/m12_literature_grounded_evaluation_report_2026-08-17.md</a:t>
            </a:r>
          </a:p>
          <a:p xmlns:a="http://schemas.openxmlformats.org/drawingml/2006/main">
            <a:r>
              <a:t>- analysis/m13_pub_pragmatics_report_2026-08-17.md</a:t>
            </a:r>
          </a:p>
          <a:p xmlns:a="http://schemas.openxmlformats.org/drawingml/2006/main">
            <a:r>
              <a:t>- analysis/m14_pub_schema_replication_report_2026-08-17.md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100 秒。PUB 適合這個問題，不是因為它代表整個人，而是它能把左腦理解變成可判分題目。本輪只取 T13 指示語題，不測記憶、人格或右腦日文。題目中 there 指 closet，但物品是 pineapples；左腦必須保留 broccoli 與 pineapples 不同，最後才能把 No 綁到正確問題。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analysis/m15_deixis_confirmation_raw_result.json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秒。這頁逐一解釋變因。自變因是回答前必須走的思考結構；依變因是同一題是否答對；控制變因讓兩邊使用完全相同模型、題目和 deterministic 設定；對照組不是弱直接回答，而是會深思與反證的 Generic。300 題都沒被 M13/M14 使用。唯一明顯限制是 Ours 多 9%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110 秒。兩條流程都由本研究建立，PUB 只提供題目和答案。Generic 並不弱：列出觀察、自由推理兩步、找反例、標不確定，再把答案綁到選項。Ours 是原左腦語用器官：依序分開字面、真正問題對象、上下文證據、其他合理讀法，再綁答案。模型與題目相同，所以比較的是左腦理解流程，而不是一般 LLM 不思考。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run_m15_deixis_confirmation.py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秒。用非統計背景也能懂的方式講：這整頁的目的就是防止看完答案再改規則。Power 決定需要多少題；SESOI 決定多大的提升才值得；CI 和 p 值處理不確定性；parse 和 schema 保證流程真的執行。五項全部通過才算成功。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秒。Generic 52.7%，Ours 68.7%，同題成對差 +16pp。信賴區間排除零、McNemar p 約 0.00079，五個 gate 全部通過。精確說法是：在 qwen3.5:9b、這個 frozen protocol 和 PUB T13 上，明確語用分解具有正向 focused advantage。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秒。這張不再展示網站，而是直接把 300 個成對案例畫出來。藍色 123 題是 Ours-only correct，灰色 102 題是兩組相同，橘色 75 題是 Generic-only correct。123 減 75 等於 48，除以 300 正好是 16%。方格按類別排列只是視覺分組，不代表原始題目順序。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105 秒。M15 證明的是整條系統最上游的一步：在 PUB T13 中，語用器官較常把推理結果綁到正確對象。這不代表後面的記憶檢索、反應選擇和右腦輸出已自動變好；那條完整因果鏈仍要逐步驗證。Generic 也不是弱對照，它有 75 題單獨答對。本頁用一個可重現錯誤說明局部機制，整體統計證據仍是 300 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analysis/m15_deixis_confirmation_raw_result.json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秒。老師可以把這個成果看成一個 scoped research contribution：工程鏈完整、負結果被保留、M15 有正式 same-model paired advantage。但是不能外推成系統已是人、理解所有語用、或已完成 Uruha 真人預測。研究價值在於模糊目標已被轉成可以反駁的實驗。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- Research boundaries: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秒。收尾不要說已經完成完整人類模型。這一年完成的是轉型：前半段把對話、記憶、人格和圖像系統做出來；後半段建立時間切分、baseline、消融、公開 benchmark 與 prereg；最後得到 M15 的窄正結果。原本的類人目標仍是長期方向，但現在每一步都能被驗證。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Annual evidence chain: CHAT_CONTEXT_COMPACTION_2026-08-10.md</a:t>
            </a:r>
          </a:p>
          <a:p xmlns:a="http://schemas.openxmlformats.org/drawingml/2006/main">
            <a:r>
              <a:t>- Next valid tests: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備用頁。若老師問資料或統計方法來源，再回到這張；正式報告不需要逐篇念。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218f85ebd48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49d67c2e641a3" /><Relationship Type="http://schemas.openxmlformats.org/officeDocument/2006/relationships/slideLayout" Target="/ppt/slideLayouts/slideLayout1.xml" Id="Ree1266d7feef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266d7feef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242aad4074a07" /><Relationship Type="http://schemas.openxmlformats.org/officeDocument/2006/relationships/notesSlide" Target="/ppt/notesSlides/notesSlide1.xml" Id="R64bb09e55c2a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fa7eb3fe1400f" /><Relationship Type="http://schemas.openxmlformats.org/officeDocument/2006/relationships/notesSlide" Target="/ppt/notesSlides/notesSlide2.xml" Id="R319a5fa737af47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44fc5866f4cc9" /><Relationship Type="http://schemas.openxmlformats.org/officeDocument/2006/relationships/notesSlide" Target="/ppt/notesSlides/notesSlide3.xml" Id="R686aecadf24e4f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10951b9644a0" /><Relationship Type="http://schemas.openxmlformats.org/officeDocument/2006/relationships/notesSlide" Target="/ppt/notesSlides/notesSlide4.xml" Id="R7a503059291248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d84e12a1f4837" /><Relationship Type="http://schemas.openxmlformats.org/officeDocument/2006/relationships/notesSlide" Target="/ppt/notesSlides/notesSlide5.xml" Id="R6d898874cb2746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26252312a428e" /><Relationship Type="http://schemas.openxmlformats.org/officeDocument/2006/relationships/notesSlide" Target="/ppt/notesSlides/notesSlide6.xml" Id="R0ddadf08c92a40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7c6efa9344f8" /><Relationship Type="http://schemas.openxmlformats.org/officeDocument/2006/relationships/notesSlide" Target="/ppt/notesSlides/notesSlide7.xml" Id="R7802fedd874d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086bca8f842fd" /><Relationship Type="http://schemas.openxmlformats.org/officeDocument/2006/relationships/notesSlide" Target="/ppt/notesSlides/notesSlide8.xml" Id="Ra1281c2c62d741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1e44dd52d4f55" /><Relationship Type="http://schemas.openxmlformats.org/officeDocument/2006/relationships/notesSlide" Target="/ppt/notesSlides/notesSlide9.xml" Id="R681bc08a568e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ec649bb194b11" /><Relationship Type="http://schemas.openxmlformats.org/officeDocument/2006/relationships/notesSlide" Target="/ppt/notesSlides/notesSlide10.xml" Id="R46e3878fefbb45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48aa46ea94998" /><Relationship Type="http://schemas.openxmlformats.org/officeDocument/2006/relationships/notesSlide" Target="/ppt/notesSlides/notesSlide11.xml" Id="R904c311128d748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939e2306242ad" /><Relationship Type="http://schemas.openxmlformats.org/officeDocument/2006/relationships/notesSlide" Target="/ppt/notesSlides/notesSlide12.xml" Id="Rc77ce03c047b4d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39b33f444821" /><Relationship Type="http://schemas.openxmlformats.org/officeDocument/2006/relationships/notesSlide" Target="/ppt/notesSlides/notesSlide13.xml" Id="R167365637ebb49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dedbc922345a2" /><Relationship Type="http://schemas.openxmlformats.org/officeDocument/2006/relationships/notesSlide" Target="/ppt/notesSlides/notesSlide14.xml" Id="R90e2058ea12e4d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9a3f9ee44f37" /><Relationship Type="http://schemas.openxmlformats.org/officeDocument/2006/relationships/notesSlide" Target="/ppt/notesSlides/notesSlide15.xml" Id="Reb7b1128f7f048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cc7596c514232" /><Relationship Type="http://schemas.openxmlformats.org/officeDocument/2006/relationships/chart" Target="/ppt/slides/charts/chart1.xml" Id="R1beae621ccdb4752" /><Relationship Type="http://schemas.openxmlformats.org/officeDocument/2006/relationships/notesSlide" Target="/ppt/notesSlides/notesSlide16.xml" Id="Racca7634b6e24f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17c8d9c0c484a" /><Relationship Type="http://schemas.openxmlformats.org/officeDocument/2006/relationships/notesSlide" Target="/ppt/notesSlides/notesSlide17.xml" Id="R9768425772424a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d35891341493c" /><Relationship Type="http://schemas.openxmlformats.org/officeDocument/2006/relationships/notesSlide" Target="/ppt/notesSlides/notesSlide18.xml" Id="R0b77df93b35845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26e1d84724f50" /><Relationship Type="http://schemas.openxmlformats.org/officeDocument/2006/relationships/notesSlide" Target="/ppt/notesSlides/notesSlide19.xml" Id="R9e73771dfb6848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c4674d03c4660" /><Relationship Type="http://schemas.openxmlformats.org/officeDocument/2006/relationships/notesSlide" Target="/ppt/notesSlides/notesSlide20.xml" Id="R59b07da9ef4048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7573b1bd64707" /><Relationship Type="http://schemas.openxmlformats.org/officeDocument/2006/relationships/notesSlide" Target="/ppt/notesSlides/notesSlide21.xml" Id="R039bc329e6af42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accuracy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一般深思 Generic</c:v>
              </c:pt>
              <c:pt idx="1">
                <c:v>語用分解 Ours</c:v>
              </c:pt>
            </c:strLit>
          </c:cat>
          <c:val>
            <c:numLit>
              <c:formatCode>General</c:formatCode>
              <c:ptCount val="2"/>
              <c:pt idx="0">
                <c:v>52.7</c:v>
              </c:pt>
              <c:pt idx="1">
                <c:v>68.7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42ECD-5AA9-47E7-A0BC-8E51A0D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RESEARCH SUMMARY · 2025–2026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B25C-956A-4C44-8B71-21FE13A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57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從「做得像人」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到「可以被驗證」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2D519-8521-47BC-A917-2558042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UruhaBrain 一年研究總報告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60E34-C669-47F4-BE0E-F1D98F9A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44BB2-1542-4E58-A6AB-28B9480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對話、記憶、人格假設 → 實驗架構 → M15 正式結果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C34D-2FBA-4BD4-B074-E0C47D0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rPr>
              <a:t>Jerry Chang · 2026.08.19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95BE7-0338-4CB3-90FB-9CB1642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 分鐘</a:t>
            </a:r>
          </a:p>
        </p:txBody>
      </p:sp>
    </p:spTree>
    <p:extLst>
      <p:ext uri="{BB962C8B-B14F-4D97-AF65-F5344CB8AC3E}">
        <p14:creationId xmlns:p14="http://schemas.microsoft.com/office/powerpoint/2010/main" val="418755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517AA0-7B77-4EFD-AF1C-1C1FACE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ORIGINAL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F5512-EEF5-41BC-B622-E3DDC18F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我一開始想還原的，是人從「聽到」到「說出」的整段過程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721CE-DB11-4172-9161-F1B9AC5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5164-93DB-4BDB-9748-23CA871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3EE78-18E7-4D84-8C35-2A9DE3E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8AA54-70BE-434D-957C-F16267B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17B9-BF54-47FF-9C49-74F89AB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8B23D-A051-458A-B0F6-AD96AFF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A1415-06A9-4360-AB0E-8244AF5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FBA9A-AA23-477C-8ED7-82A4DFC3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639E9-95CB-47AD-AB03-0D962227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A7EF-77F0-468D-83FE-DB2B059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4A79A-72CD-439D-8013-85E8BE2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95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7660D-C728-42E9-8E9B-9306CBB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431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F6D6F-0C4F-4F4E-A031-33589190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552E1-102B-41AC-8BBE-D46C4FB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1D24F-4A5A-4FAE-BA40-EAEEA07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4F79C-65DD-4D41-A571-B575B17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接收訊號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A29B1-199C-4506-A26D-7A6502FF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看見文字／聽見聲音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A2B0B-5B0D-4E9D-9A22-A2C182B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23AB2-7FEE-4361-9847-E3E1D4D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CA8DA-26C4-4DF5-B1BA-985DD00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E1BEE-6A69-4D6F-8D0D-AB2D94AC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理解意思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84459-9900-4672-AB71-5BE693D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字面、語氣、指涉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2C9E5-5B4B-495A-8973-6FFE8FFA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A56F7-DADB-41F5-9D65-A9FFCE4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D1537-0B89-40EF-9F7A-C7D2EAD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1C860-D087-4065-BDAB-2251CC7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喚起記憶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7AB03-486C-4065-B490-799AFDB2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過去經驗與人物關係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A3477-525C-43F6-ADAA-A5D5D06A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A3AF5-6102-4955-870E-18E80E23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591457-04D7-4ACE-A8E8-F39E02B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1D5A06-3175-40DB-A385-D7F271CC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評估狀態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F6C53-FF43-42D7-8B89-D381AC45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重要嗎？期待還是威脅？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DD5BA-E9D0-4CB5-9C4B-7D7BD4E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85AB6-CFC3-425F-9F2A-4A91507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0CE942-36FA-4CD1-81E7-06823D1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53C722-0409-4D00-A933-9ECCCD9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選擇反應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9C8F1-9D24-46B0-9135-0852C4D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安慰、解法、吐槽或追問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881DA8-14D7-47B1-8709-F5449C3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66900"/>
            <a:ext cx="16002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8BBA3F-54D3-419E-B4A1-5781369F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5AB1C3-FB6B-4143-8A40-5ADA195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57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57C1D-0FFD-430A-B9AD-07D1FD8D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860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組成語句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8B514F-F260-4BE9-8F8A-3E677B2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24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把決定說成自然語言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CB3AFC-C391-4E2C-98D2-FC5C42B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0782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03711-FC78-4027-B58B-157773C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例：『我從早上就一直坐不住，腦子停不下來。』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4DBC7-7109-41E8-B16B-BD2F199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可能在求方法、求安慰、分享興奮，或等熟人吐槽；只看字面無法決定。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BAB6D8-0168-44DE-91BE-2E65EAD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685B04-8D47-428C-912F-C2DBA764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62550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回應 = f（當前訊號、可用記憶、評估、目標、關係、人格、不確定性）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7AC003-3D50-45AD-A306-13499745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這不是宣稱複製生物腦；而是把認知科學常談的功能，改寫成可以執行與驗證的計算流程。</a:t>
            </a:r>
          </a:p>
        </p:txBody>
      </p:sp>
    </p:spTree>
    <p:extLst>
      <p:ext uri="{BB962C8B-B14F-4D97-AF65-F5344CB8AC3E}">
        <p14:creationId xmlns:p14="http://schemas.microsoft.com/office/powerpoint/2010/main" val="832776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D0078B-95EA-4579-A733-2B818C1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FIRST WORKING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6FF4C-E07A-48F4-9C41-82B1668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我把這段過程做成「左腦＋記憶＋右腦」的工程架構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1007A-357C-4C57-8957-C2F1BF9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03F90-2742-4884-BD90-AEF55D4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F4AD2-7141-44BA-88AA-F25B8685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CAD1E-2B4B-43A6-9339-4CE2E98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BC719-76F2-4438-A15E-C2456B5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48EDF-7399-4106-8D7B-A8FAD79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A35D2-416C-4F79-921F-2B09E262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1E974-5FF7-425D-AFC9-089FB51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B9C0-7AB6-4519-8F6B-CA55E16C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194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69FCB-D446-40C1-8CB8-29C8D4A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67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A3518-6D44-4EB8-B5F7-2A58FEC3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23950" cy="13716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38F94-EBFC-479F-BACD-9056607D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輸入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C0B34-41BA-40B7-AD44-59366BE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文字／語音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BDCA6-5E4C-4CE6-A119-8D19F4F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90700"/>
            <a:ext cx="22479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65559-F881-4597-B4F3-4C41C91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383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左腦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DA37D-6AF3-4E94-AB43-B9749E5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理解字面與意圖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推測他人想法（ToM）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提出候選反應與計畫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67230-786C-4A0F-BA08-90605CD4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22479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9CB5F-B575-450D-8055-31367F0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記憶／狀態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C1374-73C1-419F-B92A-D6CEE48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431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工作記憶與長期記憶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當下目標、關係與情緒假設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把過去帶進現在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95266-B047-431C-9385-24AC38E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1714500" cy="19812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6E567-04A0-412A-B29D-4D3C867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右腦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FC5C1-C7C9-4EE8-810C-F19E084C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1257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保留左腦意思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加入 Uruha 風格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說成自然日文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ADD0D-E7FF-42CC-8718-65982C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0"/>
            <a:ext cx="895350" cy="13716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B244D-9B9E-4F01-94C3-26328C6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336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輸出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FCF55-F899-41B5-BF07-9A1586D0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8003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使用者看到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的回答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F7482-4541-4279-876E-6C8D4B0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18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工程分工不是生物腦；早期分數也缺完整匹配對照，下一頁說明為何仍不能證明『像人』。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343A0-2E4C-48ED-A229-480CDFE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5A59A-4BD3-4882-A028-FA099AF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早期驗證 1｜ToMBench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121BD-D3DA-47C2-9CF4-E7E37B7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0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UruhaBrain 97.5%｜舊版約 55%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AC188-B8D8-485F-856E-9CD7D1C5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40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歷史參照不是同輪對照；97.5%也包含 symbolic selector。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4AD79-005F-4BD4-9FC6-2BA1BDD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4953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9B633-5B44-4F7F-943E-232AC7B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早期驗證 2｜MPI-style Big Five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1D892-598D-456A-9FA3-3F05C36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0.7554｜對照未建立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63CC4-88BC-4A7C-BA5C-E5DAC9D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440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只能證明自身回答有一致性；不能證明優於一般 LLM 或接近真人。</a:t>
            </a:r>
          </a:p>
        </p:txBody>
      </p:sp>
    </p:spTree>
    <p:extLst>
      <p:ext uri="{BB962C8B-B14F-4D97-AF65-F5344CB8AC3E}">
        <p14:creationId xmlns:p14="http://schemas.microsoft.com/office/powerpoint/2010/main" val="1551996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E88CA-ED6C-484E-8248-B1400CB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THE OLD EVALUATION COULD NOT ANSWER THE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50393-7C9B-4353-ABFA-73E3F66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問題不在分數不夠，而是沒有論文規定「過這條線就是人」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9F61A-67CC-47E1-B5AA-59986A64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C5B9-DCFD-45EA-9EE1-9C9A79D0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E554-60AF-42F9-9452-1345365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D80D-3871-4294-8207-EAC0406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ToMBench 97.5%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FCD37-B35D-4F6B-A8C2-DB02372B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9A1FE-818A-423B-8A56-D242233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只表示這組系統能解多數心智推理題；不能代表所有真實互動。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0F74A-C88B-4CD8-91E0-451912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DA167-6E97-485A-A76B-10D6CC6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Big Five 0.7554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6BDB-0E74-45BF-A74F-5AF5620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975C5-F4E8-4C56-8E73-C5F2A92B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只表示多次回答有一定一致性；不同真人本來就有不同人格。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663BE-D3AF-40D6-8EED-46A292B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E2AEA-7D78-4CE2-ABFF-F972E27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自然對話／記憶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8D273-C7CE-46C9-8E14-6231782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337A6-52AC-41B0-BEA0-297BE12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一句話像人、或記憶方式像人，都不能推導整個系統就是人。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ABEE3-9A58-4B63-A475-0EFCA88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人有不同文化、人格、記憶、情境與說話方式；同一句話也可能同時有多個合理反應。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DB93E-A32F-40C5-A10E-3B6784C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0325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1C2B8-F76D-4890-8686-2ED47B5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38675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所以「像不像人」不是一個能被穩定重做、證實或推翻的單一研究變量。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8DE56-21B6-4805-8D97-B86793C2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68D48-3460-468B-9401-0FB3927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76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C58AC-B451-494E-A6D1-39673A7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我因此改問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5BBDF-8926-4632-A2FE-CAD00CD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哪一個中間機制，真的讓未見行為預測更準？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DC27A-8E02-44F1-AB96-674FF594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這就是從舊研究轉到 M1–M15 的直接原因。</a:t>
            </a:r>
          </a:p>
        </p:txBody>
      </p:sp>
    </p:spTree>
    <p:extLst>
      <p:ext uri="{BB962C8B-B14F-4D97-AF65-F5344CB8AC3E}">
        <p14:creationId xmlns:p14="http://schemas.microsoft.com/office/powerpoint/2010/main" val="61911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AE00A-7DDA-43E0-A237-CE00195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FROM WHOLE PERSON TO ONE TESTABLE ORGAN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6784E-CC27-4BBE-A701-5296E37A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不能直接測『整個人』後，我先選原架構的左腦理解器官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37CB7-B24B-4FCD-82B7-B9987D0D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07EE-3E52-4EC3-A6E4-9472F2F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3815B-9025-47F8-ABAB-D276D015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1D0B7-7CFC-4A46-896B-2B7E11B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D0DD-704F-488F-9980-639A65E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D7240-F968-4C27-BF0C-E53B932A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BD8ED-C06D-48BC-BD2A-B8E61D0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8638B-A8E0-47E4-920E-06680F9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81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875FF-D27E-4DEA-A8B3-824CD534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7C6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118BC-4CC0-477B-A45D-D0B449FA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原本整體架構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D8180-560D-4FCC-AC1C-D893776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左腦理解 → 記憶／狀態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→ 反應計畫 → 右腦說話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4B9A5-8D8C-477B-9BD6-FC972FF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752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B9F54-BE40-4AA7-B70D-1443E4F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先選哪一塊？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10882-56C8-40C9-895F-D09D813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先測左腦是否理解對象、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意圖與上下文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B8CCE-BBCA-47B6-8BD7-7E74DBF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F8FAF-7305-4369-9B9F-C64FFC7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為什麼先測它？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286D3-7329-4854-8FB8-511721B6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理解錯了，後面會取錯記憶、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選錯反應，右腦只會把錯話說漂亮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DC283-8143-4D49-B979-66C4C17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3622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608C6-10A0-43B4-B281-1F4BC050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47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可反駁問題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4CD2D-E5FA-4ED4-83A9-75C344D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812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固定模型與題目，只替換左腦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理解流程，答案是否變準？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7ACFD-DF01-4FD4-9058-33F40C4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左腦理解會改變後續路徑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F002-BAF7-4635-8C22-0BC33730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85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89D4F-6A5D-4EFC-9164-1AD95C8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理解正確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20C7-C24B-4713-B4CC-44F804F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9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there → closet；兩種物品不相同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10A48-F8DE-461C-AFA6-963177F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D8EA6-9BCF-4E3E-A6E2-9B7824C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9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檢索與推理都圍繞真正問題 broccoli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8F197-EFAA-418D-AE63-B44EBFFA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理解錯誤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EBAB4-1D3E-4C63-BE2E-AA096F5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把地點指涉與物品身分混在一起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0D929-CDF2-454D-BA44-9C825ED1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7B3CA-3204-46F8-AA94-02C38FD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後面再會推理，也可能回答到錯的對象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A78F3-AF77-4AEE-AF1F-AE6A99B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所以 PUB 不是突然換題目：它是在隔離測試原架構『左腦理解』這一個器官。</a:t>
            </a:r>
          </a:p>
        </p:txBody>
      </p:sp>
    </p:spTree>
    <p:extLst>
      <p:ext uri="{BB962C8B-B14F-4D97-AF65-F5344CB8AC3E}">
        <p14:creationId xmlns:p14="http://schemas.microsoft.com/office/powerpoint/2010/main" val="1580159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65BC8-25DF-4CFA-862C-9C248E74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LEFT-BRAIN ORGAN IN A REAL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7CB7-CCA4-4F63-AB9C-38989294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先用日常對話定義：左腦理解器官到底要輸出什麼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161BB-3D6D-45EA-99C7-7EE9C771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1B9A2-BB3C-42FB-B3E4-FFAE4227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A8AE4-F4F6-47AB-B0BF-B7E2BC7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3A248-33B0-4005-B920-5EC3B5F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輸入：我從早上就一直坐不住，腦子停不下來。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16B4-A251-4522-87FD-7377E84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FC3C9-D606-40D2-ADD6-825E6C5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左腦①字面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23039-BB76-4D16-95DD-55D60BB0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從早上開始坐立不安；沒有直接要求解法。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F55B7-B9F1-4D03-8D49-D5F4ABB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51FB7-AA95-4143-B58E-31AA51F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記憶輸入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8FB18-A4FC-47F2-9DAC-0BD6C8E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本案例沒有前文；睡眠、身體不適與原因都標成 unknown。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49612-C092-49E4-9403-D7D67782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00A7F-E21C-4884-816B-E0D789F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左腦②假設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97172-B3E0-433A-9714-B733C30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sleep_debt 0.30（信心 0.12）；solution_request 0.38（信心 0.20）。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22ED-E420-45B1-968F-8EA3AF94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09356-7E15-41B3-B45D-167ADEF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左腦③候選反應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15282-377F-4F86-81F3-BC6C71F6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00525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解法／只傾聽／分享興奮／熟人吐槽／低壓追問。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2D0A9-B00B-4B4A-B70A-AAACBA98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7AB73-8F1C-418F-8072-A33AB9A9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左腦④選擇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06B42-3436-4A21-8E32-A1B0FC48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calibrate_need：資訊不足，先分辨沒睡還是想法停不下來。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9B2D5-BC7A-481F-88A8-B50A924B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10058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62B71-5478-4699-A6F4-1D3BEEC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34050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實際日文輸出：『寝てないのか、考え事で止まんないのか、まずそこだけどっち？』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FD15B-DAB0-4E31-9FF6-11E11C21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769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這證明左腦會改變對話政策；但日常對話沒有唯一正解，還不能客觀比較兩種理解流程。</a:t>
            </a:r>
          </a:p>
        </p:txBody>
      </p:sp>
    </p:spTree>
    <p:extLst>
      <p:ext uri="{BB962C8B-B14F-4D97-AF65-F5344CB8AC3E}">
        <p14:creationId xmlns:p14="http://schemas.microsoft.com/office/powerpoint/2010/main" val="216319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C50C9F-EF35-4318-9D4E-B6BA623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TURNING UNDERSTANDING INTO A TESTABLE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BABA-0059-4FCB-9ADB-38E1E15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要研究左腦『是否理解對』，就必須讓猜測能被後續推翻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36A8D-5BB8-4444-B2D7-DBB0E5E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215FE-53B8-4B04-8990-27931A7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51A83-803A-4399-ABC7-B5D9F809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2247-B25B-4E96-82A1-219B1FD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同一句『坐不住』 → 可能是缺睡、焦慮、興奮、求解法、求陪伴或邀請吐槽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763C-408B-4D85-8BE6-68036D37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左腦可以先推測，但真正狀態看不見；所以每個推測都要綁定證據、預測後續，並接受使用者否定。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6EE16-90A8-40AA-BA0D-611C8DA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AF57C-C34A-452D-B147-96C2C94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241C-B238-4B7E-910B-C0F7C648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936F0-D61A-4948-AA13-45524E9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8FC9F-D547-4195-AC71-E21646C0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D6F89-7007-4F80-83C1-DDEE0042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074A6-A60D-41D3-84C6-F3DFCB6C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57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4BE2C-F45A-47C6-BB29-E8F22C9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052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61E4D-78C1-45DF-A009-C01D10B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3AA57-4A50-46E0-ABD8-B7DBE0A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5F3E7-6119-47A9-809A-CB82363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306D9-D7CF-4FD6-AF92-E5EE4811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假設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C382E-155F-4A0C-83CC-46031AF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把看不見的狀態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先寫成暫定變數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A02F7-9911-4478-A234-0268F20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可被推翻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80D18-75B0-454E-A21F-8D651A1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F1023-EECC-4A1D-8C7B-A0F78DD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53C84-1E38-4AA6-AEF0-2D98DBBC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6C524-4011-47BA-8A34-B8E5AD97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證據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DDC40-5330-4FA7-A742-A6C816A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綁定當前字句、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記憶與關係來源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2DBF6-0A16-4F93-845B-3CEA6A4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不是憑空猜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B0650-1511-407A-872D-2085E3E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2A43F-F694-4D29-8E90-0DE0F3A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4632D-B2CE-4045-B750-ADAA660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E7E38-3CE7-4E09-BC47-BAB7A57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預測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E0CAE-EEEE-4CFF-8A19-1D3AA951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預測下一步反應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或較可能想要的回覆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C19E4-EDDB-40EA-927A-2C19A249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可以計分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4E1B81-CB7A-487E-90FC-56C0F02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75378-596C-44EC-B008-481F9FD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825A46-058A-4711-9F79-4E69CB36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3F8D3-BCE2-41C1-9915-FC1A2F6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結果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EB9F3D-D7EC-4AE4-9E8A-60E8E4BC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等使用者後續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支持、否定或保持未知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46AABB-59CD-413B-A7D7-62F26AC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知道猜對沒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F166D9-EFB2-4038-A0C8-92583FA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9431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88CEA-2D46-4874-B00E-ED9D20F3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FB003A-DAE5-49DB-BD4E-6B6070B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4A3CFE-0DB6-480F-93B0-CEC339B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更新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68BFC4-EDAC-48B5-A309-D5D654A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調低、撤銷、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保留或提高變數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8E6723-42D1-4217-955B-88CA909C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291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模型才會學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C6484B-1C06-41C8-A49D-25FA84C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91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E07981-A511-4E59-81D7-219A213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實際多輪結果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8AF2B5-4698-4DF1-B136-9C1D6B1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第 1 輪：系統保留「期待／不安」兩種可能，先問哪一邊。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9AA73A-A5E2-46E6-AB72-8464CA4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102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第 2 輪：使用者說不是緊張 → 原假設被否定，回覆『そっちだな、読み違えた。』並更新後續目標。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B52FCB-DFAB-43F6-AA78-1C390155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這五步讓日常理解可以被追蹤與修正；下一個問題是：沒有唯一答案時，怎麼做公平比較？</a:t>
            </a:r>
          </a:p>
        </p:txBody>
      </p:sp>
    </p:spTree>
    <p:extLst>
      <p:ext uri="{BB962C8B-B14F-4D97-AF65-F5344CB8AC3E}">
        <p14:creationId xmlns:p14="http://schemas.microsoft.com/office/powerpoint/2010/main" val="720561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6E386-25A9-456B-8B66-8ED8BFB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ONE BENCHMARK IS NOT ENOUGH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8EB48-0612-4FC5-95FA-5E2DD2B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日常對話沒有唯一正解，所以每個器官要找對應的公開評測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DAC14-CF07-4256-80D1-3F167CE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73759-D3B2-4A8F-9B62-F5ECB3C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0C35F-0C96-4A3D-A0C9-1B52445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9F975-8598-44F6-A52A-04B2B48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記憶、左腦理解、機率與表面自然度是不同問題；我分區選論文，而不是用一個分數宣稱像人。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FFB35-B04E-462F-B3B5-955A1731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AED6-CDE2-4493-83FF-1E8CB09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 ·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2F96B-5FED-4B02-8134-09718B4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語用理解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79B2C-AFD1-42A5-BB1A-D188B1F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24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這次用它隔離測左腦：題目固定、答案可判分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D2646-5C2D-43D7-AE63-22CB642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54C56-621C-4D8B-8F81-C1BC83C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LoCoMo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6485D-FA38-4517-879C-CEFF2F7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3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長期記憶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766C0-0DB4-461F-8DE6-4767C20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不只問一題，而是分成回想、摘要、生成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82B79-2703-46A3-93F3-A9FFC077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E5F6C-D264-4DAA-8939-D739125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Gneiting / Guo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F7F19-6C0B-4896-A6F6-5DC2344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機率可信度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0733E-F26F-460A-9BB8-0653310D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433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錯得很有自信要受到更大懲罰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2A297-738D-426D-ABC4-623B552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4C8C6-5FC5-4A99-A1C1-4D4DDF5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Peyrard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93A4E-0CCD-4831-A8A7-B2FCC73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52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公平比較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5E328-F240-4033-AAFE-C1975B2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529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同一題下做成對比較，不只看兩個平均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33B72-9763-401A-9152-8F13627F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3FD89-FCE3-4FEA-BBBA-9062DF9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Berg-Kirkpatrick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24D3A-6471-4735-B8D3-7795272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統計不確定性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939E4-65C9-4120-B7D1-526ED08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用重抽樣檢查差異是否穩定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7D18B-4824-42D7-A132-3DD7394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47EEB-8CB7-44AD-A924-1FC4264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Liu et 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A1455-17D8-43D0-9CB8-C6C65E1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對話品質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EDE89-9994-402B-9278-488311B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72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自動文字相似度不能代替真人感受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9224B9-8795-4F58-B77F-F6A8575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M1–M12 先建立其他器官與評測方法；M13 才選 PUB 測左腦理解。</a:t>
            </a:r>
          </a:p>
        </p:txBody>
      </p:sp>
    </p:spTree>
    <p:extLst>
      <p:ext uri="{BB962C8B-B14F-4D97-AF65-F5344CB8AC3E}">
        <p14:creationId xmlns:p14="http://schemas.microsoft.com/office/powerpoint/2010/main" val="2103036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15B1E-0032-45BA-A817-8FEFB909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59204-73E3-4E9B-942B-6908855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M1–M5：先建立整條方程式的時間、記憶與狀態邊界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6AACB-D117-45DF-BB86-28C6C41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9B89B-5FD9-45F6-862B-66A3645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9E008-5132-4DB9-BDE6-A3FEECC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1129-7C3C-42C0-BCA5-955B48FD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5425E-D650-4F4D-9743-7E0FF62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對應原架構／為什麼需要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FF1C2-D795-4BE8-94E9-41AA218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84B59-0B3B-4CD1-81C9-EA80976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40CD8-35F5-4B99-B6D2-949DD376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先封存時間 t 以前資料，再預測 t 以後。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150BC-C6F8-43DE-919C-BD565DFE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【整體時間邊界】真人在 t 時也看不到未來；系統不能偷看後來資訊。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F1E88-C21E-479E-A8EE-B9B20EA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BDE6F-A654-46E9-B85C-89C6265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185BF-983F-42F5-9993-86DC6D2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和隨機、LLM、人格 prompt、RAG、完整歷史比較。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31273-8D71-40A7-BC64-09604D4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【評測控制】若不比同資訊量的簡單方法好，額外器官就沒有價值。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2687B-0E78-437C-87C3-C85D748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4AD5F-2040-476C-913F-DC1CDE45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2F3DD-21EE-46C8-9344-35FD473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只從 t 以前的歷史，選出本輪真正相關記憶。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73C3B-BF17-48AD-8EA8-AE5FB1F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【記憶器官】記憶必須有來源、時間、衰減與選擇，不能把一生全文塞入。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C3D90-4EA0-47E5-B564-B3BE649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92C32-DB12-47C8-A689-366E4E8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C87FA-E3BA-4A85-9504-17F4A3DD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把當下狀態寫成有信心與證據的暫定快照。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B01E0-278E-43CA-8371-56C0B81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【狀態器官】分開 observed／inferred／unknown，不把猜測冒充心理事實。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E6B81-ED96-4415-A4BA-04D22A06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EA5B1-2F66-4E45-BB29-FB78FF7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97AFC-73A3-4213-A49E-84BD7B06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比較事件前後，狀態變數應如何轉移。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77422-66A3-472E-858B-2D038A24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【狀態轉移】沒有事件前後變化，方程式只能描述一個不會改變的人。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65418-6D94-4A43-BECA-56AC8DC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這一段還不是 PUB；它先確保整條方程式不偷看未來，也不把推測當事實。</a:t>
            </a:r>
          </a:p>
        </p:txBody>
      </p:sp>
    </p:spTree>
    <p:extLst>
      <p:ext uri="{BB962C8B-B14F-4D97-AF65-F5344CB8AC3E}">
        <p14:creationId xmlns:p14="http://schemas.microsoft.com/office/powerpoint/2010/main" val="1680899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CBE87-7A1F-454D-8BB1-843D847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MECHANISM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AD108-2ECA-48FC-8549-96932E1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M6–M10：逐個測原架構的器官，並留下失敗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7C85B-D910-4552-A970-8A55388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0A62F-5826-408D-A241-371EDD6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77B04-AED6-4618-81BB-9F2C1978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E7768-4848-4592-8493-976DC101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F2157-BD04-469E-AED6-7F9485B7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對應原架構／實際結果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23492-9D2E-4CDE-94D7-EA28D59C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4442B-2F96-4A35-BF31-75821D7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DF4C1-95CA-48BF-AC1F-15DAAB0C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回答前能不能先預測行為機率？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2B3F-4D8E-4752-9017-7F3DCCC5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【左腦／行為預測】完成機率分布；小型合成資料方向有利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FC125-C737-4E39-9A23-DDB051C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A116B-463A-4C32-B859-15E31CD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4BFE-F1ED-48FB-9ED2-BD1C2CC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拿掉記憶、狀態或關係後，結果會不會變？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7E967-A064-4939-81A8-C929285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【記憶＋狀態】確實有影響，但當時的時間轉移曾造成錯誤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76DF-8B94-48B8-99F3-C89F13D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404CC-E38B-48B3-B1AD-0CCA874A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B37F6-7B78-41DB-BCBA-C6F91A7E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換新語句、不同時間點、更多歷史還穩不穩？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A00AA-8D75-4AC0-BFE3-0781DBA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【整體穩健性】正式 gate 失敗；強 B5 baseline 勝過 Ours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5A8D7-BAD2-4D6D-9A49-2E69E2C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8CB05-8A6C-4BD0-9248-8F0699A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C374D-C901-4C6D-B1FB-20A0128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同一架構換成第二個人還能工作嗎？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5919D-F9BC-43F0-92BA-8DA7728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【人格常數／轉移】能換人，但完整適應後的預測反而更差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2B4F0-002C-4390-BB6B-91632E1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D764F-51C7-4B7E-9214-17D983CD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M10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4BDCD-F228-48F7-91BF-19B9457F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行為決定後，能否說成自然日文又不改掉原意？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542E6-68B4-4FAA-A628-6EE36E2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【右腦輸出】日文 guard 完成；真人自然度仍待評分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B30CE-820F-410E-AFF2-8BE6D94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測完後最大的缺口仍是：左腦到底有沒有『拆對人真正問的問題』。</a:t>
            </a:r>
          </a:p>
        </p:txBody>
      </p:sp>
    </p:spTree>
    <p:extLst>
      <p:ext uri="{BB962C8B-B14F-4D97-AF65-F5344CB8AC3E}">
        <p14:creationId xmlns:p14="http://schemas.microsoft.com/office/powerpoint/2010/main" val="1501186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2386B-B91F-4236-83C6-C0DBBCE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PUB APPEARS 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6588-49BB-422E-AF69-1F523C3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M11–M15：為了驗證左腦理解，我從自製題轉到公開 PUB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EBAF-9261-4EB4-A7E1-239EE74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7EFA-1A2F-4AA8-BCF9-C6EE360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673A-55DD-4612-A129-2B354621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D6DE6-5BA0-49D0-BD39-3556528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5F352-6FF4-4ECA-9CAB-3AB2FEA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對應原架構／實際結果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948F3-5046-4B0F-8F31-D1F0016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E3C7-8C13-4666-8CE9-3D01500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08F5C-0810-45CF-9EB9-57556CAA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目前到底有哪些證據、哪些不能說？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7D7E5-0948-4704-A0D6-ABDA68BF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【評測層】把成功、失敗與不能說的主張放在一起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31F05-3A66-41DE-BBE2-4195AD3F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03AD8-2170-452C-A871-CA4998B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387E6-5653-4265-89FB-4E484F7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評價方法能不能對齊已發表論文？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7FAAB-4063-4737-B044-F95EC88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【評測層】對齊論文方法；中央系統整體優勢仍不成立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E5DF6-805C-4197-82FE-4867F05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3B7D8-3514-40DE-94D0-2DC4BE0D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0635E-FD7C-439E-BF3F-90DA62CE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自製題不足後，用 PUB 隔離測左腦語用理解會怎樣？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9BDEE-74D2-49F5-81AE-2D2E1DAB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【左腦理解】首次未勝；schema 也只有 23.4% 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9975-8830-46EC-BDE8-37470EE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93556-702D-4018-8984-9C6B5F4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EBD82-2289-4C14-93C2-1C94D98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只修 schema，換全新題目後結果會怎樣？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CCD1-9FC0-4A5A-A8C6-2B3B9A6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【左腦理解】修好 schema 後，T13 出現 +37.5pp 訊號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CEF7A-9AFC-4C93-A613-56F01BE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500E5-DEF6-4A5C-8EA7-D641943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53582-A89C-4F00-A9A6-CD69824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這個 T13 訊號能否在 300 個新案例確認？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46B00-C2E6-4C42-B975-64332F4D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【左腦理解】300 個新案例確認 +16.0pp 窄優勢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D361D-1E07-4490-86A8-3AF2B69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為什麼選 PUB？它公開、可重做、有正解，而且直接測字面與真正指涉能否分開。</a:t>
            </a:r>
          </a:p>
        </p:txBody>
      </p:sp>
    </p:spTree>
    <p:extLst>
      <p:ext uri="{BB962C8B-B14F-4D97-AF65-F5344CB8AC3E}">
        <p14:creationId xmlns:p14="http://schemas.microsoft.com/office/powerpoint/2010/main" val="531152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39FFE8-FE7C-4DF3-9B9D-4DE5AD0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PUB FITS THE LEFT-BRAIN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38CD4-7B1E-4601-8D6B-D605B62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 把『左腦有沒有理解對』變成一題可以判分的問題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B74-82C3-476D-A547-D5EBA5E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A6963-C89E-48C0-8580-963F6F9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CD7A-05D7-4D18-B28E-A6E6DD7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1163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F6988-A690-41E7-9B94-28A99070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PUB：公開語用基準｜本次只取 T13 指示語題｜隔離左腦理解，不測記憶、人格或右腦日文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D330B-AAB9-41FE-B7B5-59D3879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題目：Did you put the broccoli in the closet?　→　I put the pineapples there.　→　Is the broccoli in the closet?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BDF8B-A714-4AF8-BB09-46CC34C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BD68D-898A-4EA8-B40C-B590782D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194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A0C4B-C7DF-4736-B643-A12D6ED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E6661-A9BD-4E80-AAB0-8B0E13D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Literal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904A7-ED11-4EEA-9439-673FF3D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說話者明確說：放進去的是 pineapples。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367B1-85EF-4E0D-8DF0-098A35C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3A42-AE57-468D-906B-D906BD08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5E013-ABFB-409B-A992-F944E6BC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先保留字面事實，不自行補 broccoli。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AE87F-4ECD-4430-856F-8987EDA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52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29B68-7846-474B-9AF1-A910D32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04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0B320-31AC-4592-8A63-357D4C84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BA5CF-96FB-4E54-A95C-AA51D28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Pragmatic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E8C8C-3E0F-4D15-BBA5-32EDDE3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最後問題真正要判斷的對象是 broccoli。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DFE65-E60E-4B0B-8292-687F9762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9D131-B87F-4E96-951F-5566F0A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B0768-6A9C-4BFD-B526-A1346CBF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把回答目標固定在 broccoli，不被 pineapples 帶走。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2C9E1-E616-4987-8807-C9D94DC9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33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1003C-A617-4D1F-A6DC-FCC6D03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3AD77-FD86-4346-B6B8-DB9BE942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87BD9-2E78-4504-85C0-0EEF35E6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Context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DAD2D-8121-4C56-808C-99E5E4F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there 指向 closet；但地點相同不代表物品相同。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88D6C-844B-4395-88F9-8F7B13A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733A0-94AA-48D4-A7E7-4DB198D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63CE4-8B19-4C96-964F-103669D3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 there=closet 與 object identity 分開。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37C04-7D2D-40C0-A7B8-C7E0CA02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14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7A6"/>
          </a:solidFill>
          <a:ln xmlns:a="http://schemas.openxmlformats.org/drawingml/2006/main" w="0">
            <a:solidFill>
              <a:srgbClr val="8D9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9C29C-751C-4EED-BD1F-4A896E7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624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0D8C10-4715-4BE5-B95D-473CFCA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A3A92B-5DB1-42C8-94E4-2D9B73B2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Alternative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B28073-208B-478E-983C-EBEFB86A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broccoli 的位置仍 unknown，不能用 pineapples 取代。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9B614A-7405-4F2D-B402-671DF513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7F82DF-7877-40E4-894F-005488CB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系統作用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7CCFE0-FD95-4E38-93C7-7F3AF1D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9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保留不知道，避免把另一個物品當成答案。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E09C3-963A-43C7-A5B2-708ADE9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BBC911-5225-45FF-A316-B03A96E0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Answer binding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28EDB-CB21-4168-B96E-2AFE34A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題目問 broccoli 是否在 closet → No。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95ECC-31E6-4B53-B48D-2A47F2F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5AFE6B-6BF6-40BA-81D8-C1672C7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最終答案：No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A4E009-9A93-429C-A9BB-446C8CF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這一題只隔離左腦的『指示語＋物品身分』理解，不是在測整套 UruhaBrain。</a:t>
            </a:r>
          </a:p>
        </p:txBody>
      </p:sp>
    </p:spTree>
    <p:extLst>
      <p:ext uri="{BB962C8B-B14F-4D97-AF65-F5344CB8AC3E}">
        <p14:creationId xmlns:p14="http://schemas.microsoft.com/office/powerpoint/2010/main" val="2106150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0CC960-4B4A-4FC0-B96C-2CBDF8C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VARIABLES EXPLAINED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B5066-CEB2-4104-B33D-2CABB8F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M15 測試設計：改變一件事，其他條件盡量相同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1EDC2-12B9-4442-892F-6C7481E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6A8A-394F-4113-AC65-F487E834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7714F-67A8-420B-A93D-E4B00B02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項目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E719-CBC7-430A-B3FD-EEE2B18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它控制／測量什麼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DD81B-0135-4F12-BACA-B1D8EFD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為什麼需要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5777A-DC7B-4734-8C99-E8F46FA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自變因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32183-B98D-4F5A-9033-34444E2A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47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回答前的思考清單：Generic 或 Pragmatic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B32B8-077E-4232-A7F3-3F53403D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只改中間推理結構，測它是否造成準確率差異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0C10D-A72C-470E-9FE7-9B8BEC25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7EC69-A150-4C0B-9AD2-D216A453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依變因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A8483-A571-42FF-863F-969B316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33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同一題最後選項是否正確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DE9C1-3EB5-4074-8642-54AACA4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把抽象的『比較懂』改成可客觀判分的結果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E80E7-BE6C-479C-84D1-53AC125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C53AE-DF40-4B36-84F8-C31902C0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控制變因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BE623-011C-42C0-A894-55F17C8E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19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同模型、同題、同選項、seed、T=0、schema、上限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A9595-E533-4B1C-B947-6DBBA403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減少模型、題目或隨機性造成的其他解釋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99898-35CF-4195-B993-D9ED11F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59AB8-A071-46C6-8D95-1C1A317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對照組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67B03-F564-4FDA-A528-63DC768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B1 Generic：也會觀察、推理、反證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D6707-6DE9-4CAC-B8EC-7F221292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不能故意拿很弱的直接回答來襯托 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D9F23-CFCF-4E3D-8922-B0EB217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E29CC-1FD2-4DCF-9BBB-C4B8793F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測試內容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A9BFB-1FB1-4794-8B99-76B0B68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91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個未用過的 PUB T13 多選題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90A00-D906-4985-921D-1FC46BE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避免重用開發題目追分；每題兩條件成對比較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6A145-7B5F-4287-A3D3-9EC5C0DC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C6960-95DB-4116-9EF9-43D9FAF0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剩餘限制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853EA-0EAE-460F-8A45-64E6434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76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 總 tokens 比 Generic 多 9.0%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FE915-F0A2-4882-84A2-76B0DF9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結果可能含『多一點計算』的效果，下一步要 token-match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9C5D74-126E-4E4A-8C31-F9A65A8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EFB9C2-C5DD-4634-8D14-E6C69513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83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實驗要回答的不是『哪個模型比較強』，而是『同一模型加上語用分解後，是否比較會解指示語』。</a:t>
            </a:r>
          </a:p>
        </p:txBody>
      </p:sp>
    </p:spTree>
    <p:extLst>
      <p:ext uri="{BB962C8B-B14F-4D97-AF65-F5344CB8AC3E}">
        <p14:creationId xmlns:p14="http://schemas.microsoft.com/office/powerpoint/2010/main" val="1395509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6C7F44-10C5-406C-A1D6-6B50DF9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GENERIC DELIBERATION VS PRAGMATIC ORGAN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DBC4-A354-4234-9447-288E79E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同一模型、同一題目，只替換左腦的『理解流程』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9D81C-E052-4564-AAB4-B031FBF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BADB8-E21B-41DA-86E2-21FD74E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F6319-C241-4469-BA93-FE787C4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E15F0-4240-4E43-A9F4-29FB1E10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95425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 只提供題目與答案｜兩條流程由本研究建立｜模型都使用 qwen3.5:9b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0C549-52BF-4954-85C4-93FC729B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0482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74877-F62B-4AED-A79E-E35CCE4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一般深思 B1 Generic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7557F-22D8-4DFC-B97F-DA995FD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一般深思也很強：蒐集事實、推理、反證、不確定，再作答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37DD2-7499-4B7D-A561-CC24B2A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1 observations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A0827-8E28-4F14-88BC-09711CC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列出所有可見事實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947DB-6908-479E-9D06-846C3034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C2F6E-EF3B-4B4B-AD3A-C9A44B6A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2 reasoning × 2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2E68-B496-4D0E-A984-964552BB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自由逐步推理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0304A-4203-4533-9D22-FF63D9E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A3B7C-75F6-4426-9D14-E1AD4C0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3 counterargument 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E1C9F-D068-4DA2-8124-9D9DD10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主動找一個反例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53DE9-4896-4CA9-95B8-D700664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BCFFD-4BD9-4E11-BF6C-6EC781A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4 uncertainty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7BC4E-D5C6-4D9E-8979-BD2C75F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標出仍不確定處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E403B-91B1-4C85-B215-F64FB87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22BDF-FF75-4843-9180-E683DB85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5 answer binding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CB097-5FFC-4FD1-A7E6-7109A54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05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把推理綁到選項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D0A33-4DFF-4FE7-8F09-E8EED944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912DD-889A-4E4C-844C-0CC1D2A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50482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D1EAA-997B-4E57-98A7-2711B6D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語用分解 Ours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FE8BA-FF8A-4B3E-9742-F559615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原左腦語用器官：先分開字面、真正對象、證據與替代讀法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3D3C3-9B79-4272-9317-3A1007B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1 literal content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A5B6F-5C56-4291-B296-0BFB749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保留字面事實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F5445-9937-4DA1-9063-64AA5B8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0AE4D-6145-490C-8C70-4A413F0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2 pragmatic target 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B5C69-BDB0-4FCA-9C8D-F83380BB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鎖定真正問題對象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C1F19-620B-42B0-BB61-D027850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FDA8B-19E9-4C93-AD41-372F9B33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3 context evidence 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331602-8BF9-4AEB-983D-B6957E0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43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逐項綁定上下文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A2126-C452-4B6A-B52D-535722EB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8AADA0-5959-4FA2-BE29-A602ABF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4 alternative 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D9F1C-7B27-4D7D-826F-ECC03FA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24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保留其他合理讀法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90B639-E4AB-4574-A405-DC07A19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533643-BBC8-4251-9950-BDD1C91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5 answer binding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2AAC61-8608-4D57-A0ED-7036261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把目標綁到選項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362910-15DD-40A6-8480-47586E3C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67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D4BA5-0FA2-4699-B612-C814BD4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9753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D4BA19-6EF6-407E-8F27-4A6B8B09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43575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兩邊都會深思；唯一問題是：自由推理或按語用角色拆解，哪個比較不會答錯對象？</a:t>
            </a:r>
          </a:p>
        </p:txBody>
      </p:sp>
    </p:spTree>
    <p:extLst>
      <p:ext uri="{BB962C8B-B14F-4D97-AF65-F5344CB8AC3E}">
        <p14:creationId xmlns:p14="http://schemas.microsoft.com/office/powerpoint/2010/main" val="6292964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08E21-15B9-4098-BE1A-3E878E7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PREREGISTRATION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D1273-D5D8-4D7E-B6CB-7DA3A4D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這頁的意思：先寫好怎樣才算成功，再去看結果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37B48-7B38-4FE2-8DB4-0CAA31D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801B7-CD6C-4511-BE38-1E4A6A3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C20F-AA57-461A-8B23-F255DD89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300 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B8DDD-7426-4592-AC84-CB198FE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樣本數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EE635-6152-4C60-9BCA-1AFADAE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先用 power 計算需要多少題，不是看到 p 值才決定停。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5B60-B4F5-4C48-98F3-67415292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3D7ED-1883-4C66-B9A2-46E0D22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90%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8CCCA-213B-4800-A617-BF53E3A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抓得到效果的把握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94242-23BA-450E-9A95-AE9F738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如果真正存在事先認定的差異，這個設計約有九成機會找到。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62039-D191-4209-A8B7-8DFC2C4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7FEAE-D3BA-42E3-98E6-D15D246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+15pp SESOI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7DF95-EE35-495F-9876-F8541DD3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最小值得在意的提升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B198-881F-4DD5-BA5F-667E492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低於這個差異，即使統計顯著，也可能不值得增加專用流程。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CBF4D-A471-4005-8B14-840FC62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843B2-6ED8-422C-8E74-AA09DC5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CI &gt; 0 + p ≤ .05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11774-46D6-4F7F-B76F-04E902B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差異的不確定性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0A5C5-AFC0-482A-8B44-2586A70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兩種方法一起檢查：結果不是只靠運氣偏向 Ours。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680BB-8168-424B-9716-AD0DF090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C8B16-53FE-480B-A63A-4ABA3FE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9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Parse / schema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6FFA5-4876-4245-9C7F-7D4EDB6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實驗是否真的照規則跑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63823-5694-4163-867F-7A9D21A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如果欄位缺失，就不能說比較的是完整語用流程。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38F57-55EE-4E03-A791-5570C10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3D6EF-6A70-4776-868E-0EECB075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B4DCE-AD9B-4FC2-8C77-2685E422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38850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禁止 optional stopping：不能看完結果後再加題、刪題或改成功門檻。</a:t>
            </a:r>
          </a:p>
        </p:txBody>
      </p:sp>
    </p:spTree>
    <p:extLst>
      <p:ext uri="{BB962C8B-B14F-4D97-AF65-F5344CB8AC3E}">
        <p14:creationId xmlns:p14="http://schemas.microsoft.com/office/powerpoint/2010/main" val="16545984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6E1F2-FA89-4988-A39B-E6F90758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M15 CONFIRMATORY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47E24-3D59-4493-9D29-3FBCA3C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正式結果：語用分解在這個窄任務上提高 16.0 個百分點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25870-522E-411C-9C3D-9C39243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23CC-2853-41A7-B5A8-14120CA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6BC2-95AB-440B-BA0A-8EAC007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12470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990600" y="2000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eae621ccdb475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AF4D-AD76-487E-BAD9-43124F3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Exact-answer accuracy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AAE94-E630-4E05-8271-C927E441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+16.0pp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00176-E728-4648-B71A-87CB6A43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同一題成對差異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5E46A-0BFC-437D-A67F-7433097C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B740-B2C5-4C0E-A0C8-09652711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95% 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6E8D8-0BEA-4847-943B-79D84EC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+7.0 → +25.0pp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A0CE2-1830-4340-BB54-313F2EE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218E4-CC11-4C77-A934-3CF2956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Exact McNemar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F6ED-37E9-4075-9DCA-E44DB121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 = 0.000794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FB19E-6456-42D6-AF26-500A076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五個事前 gate：全部通過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F3379-8C1E-436A-BC0D-5ACE8BB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精確結論：證明正向 focused advantage；不能說所有語用或人類理解都已提升。</a:t>
            </a:r>
          </a:p>
        </p:txBody>
      </p:sp>
    </p:spTree>
    <p:extLst>
      <p:ext uri="{BB962C8B-B14F-4D97-AF65-F5344CB8AC3E}">
        <p14:creationId xmlns:p14="http://schemas.microsoft.com/office/powerpoint/2010/main" val="6149135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DF5ABFF-6EE9-4435-86A0-C67101B5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VISUALIZING THE EXPERIMENT ITSELF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C1DFF-8A0D-4EA7-B078-FB09426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題實際分布：Ours 多贏 48 題，正好等於 +16.0pp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2B9C4-9499-4B43-BD3B-8A5108C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F4AEF-B8A1-434B-89DC-BC50995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E0CE-1464-489D-8939-D9F2B5F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每一格代表一個相同題目的成對比較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0D0F5-EF54-4710-9E90-D8A310A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90EEA-D210-461F-835B-B4A8692C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8D2E-4E0E-4058-AAC1-A09D5850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DF461-4368-4C68-95B8-E7187E91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E6042-626B-4B1D-9BDB-2704575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32C1A-CBDD-4A15-AE5F-CBB313E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8CB5C-E2E7-46F3-90D2-EE72960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C7F6D-2F3D-4156-A8A5-EDD92A0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1DFC7-0BA4-4D23-BCD8-EA8B19C1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FFB73-810A-4EC1-AD8B-45A17FB3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4722F-8077-4327-919E-82329A6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C6261-7259-40B5-850A-E90EC73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FEA64-0525-4557-A6C8-8D88E49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F677B-A9C8-4A38-966A-C75CD780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9FAB8-747E-4DA7-B584-70E0A408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3AFAD-4D36-444B-9596-78C3D2FE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3F875-F48B-4F83-A936-A8336D4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00908-72AD-42EB-A91F-E6629622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A936F-F365-4DF5-84A6-2EB9C63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34743-A4AA-4562-827A-8E8533A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75462-CBE8-448C-A3DA-65F6439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6E6AD-5583-4663-B658-BC87376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C6DDD-30A5-47B8-9194-268D85F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5D4E9-1226-4CA5-B5EB-59A2452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8E784-4F94-4582-BD43-A1AB7A7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C46C2-58CC-42AD-934C-A09C0B1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9EAF9-64AB-4E69-B72F-2E612C0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10F8C-669C-4EE4-85EB-CE429BC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4D05E-B088-4E02-9782-A20EE61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B5ECD-5D67-416A-950F-33CCB7D1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41F83-101D-4815-9286-A56EDA8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902820-DC20-4E7E-98B3-73E8EA9E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FD5DE-3AF6-4AB3-A5FF-866733FC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992D37-481C-4F44-8F2F-74AA9278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D4EBE-18BA-4364-AFBB-2326C53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37659-84A2-40EA-93D9-1C20EA5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102212-B07F-4E80-9D1D-5EC9F13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EAF565-CCCC-4605-9B03-C5F15FD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7B18B0-62A9-468C-87F8-97411473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558F0-7B34-479A-9F38-3F41DEB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684719-0F04-40A8-891D-B43E75C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3507FC-3F0E-45EB-BB6B-FA4387DD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6C90DA-E4FE-44D8-80A7-FB9B5B7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AC898E-D77F-4FCD-9175-FB673577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39D7F7-17A7-4AA1-9C63-0A6C55B8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390895-4309-41BB-9041-CFC8AD0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DF21C-ED86-43CE-8597-4B3E8F0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2E00D9-5680-4107-A345-5B4B389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6DDFC2-E935-4A15-8865-107E8CA0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C6767-759F-47ED-B0A5-BA22B8A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F34DDE-4E15-4382-94B6-2829B301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D69509-333D-4621-A93B-203F1A0A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B5E5F7-BB58-4472-8BDE-ACAC9B54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8A5AA1-1997-4BBF-9C50-72130CF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C9C226-935E-4900-A960-77F68E6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B1C77A-A012-4254-909C-FBE83DA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7F90B6-D98C-4378-BA31-2E680F59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1654CD-E5C1-4CDC-ADD4-B26B7B8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A884F2-A924-4F5F-9573-970BE6B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F7D184-B8E0-4785-88D6-615D329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785CD5-205D-47B5-8D13-864EE4E1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48F7A8-2651-4BE8-B56D-B9D0FF19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485AFE-9D8D-43A6-A45D-9275FB0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64E246-6E09-416C-BEAA-C22989E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5DAF35-5541-472B-B767-7803D37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ED11C0-3A93-4EDF-B6B1-DD96F91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94AF45-51BD-485F-BEAE-1509303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2C3F48-E785-4BA9-BADD-0EC1586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89F569-2583-4041-84BB-E168B32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5C290-D233-48C0-B725-B7E70BC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2D21A6-EE01-40BF-A41D-6A2A680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C01626-958F-47F2-BAB0-28C1DC4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F9427C-BA2A-49D8-9A1E-AAAC337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2A3352-AB2B-466D-8F77-6D8E69F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1BC67C-360E-4DFE-95C6-62945B9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A2C5006-E88C-41F0-AD27-F65795E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ED1738-959D-46E1-87D8-5E4DCCBB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C70FAF-C3D9-4498-9B7D-3EEAD35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9239FF-8427-472A-B80E-0EE6F20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2BE468-DDC7-429B-8D13-5B79379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BEAFD7-7448-42A2-A02B-5CE48130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BB6985-F940-4C8D-8B41-4C8E276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71446A-E23B-4C27-AD34-DE4F4F0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FC051C-3567-4F09-9EC6-C485F6AA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501437-7324-41A6-B9B9-65A843E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EA5A0F-A7D5-4165-86F6-435F50A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1D8284-9FA2-46BA-9CD1-87FF7E0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41161D-7A85-4DC7-97BB-2281838E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1E76EA-E2B9-4582-AC67-F631958A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BE4FDD-1C52-4D19-935E-B918FE3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2AFE0D-1C85-4D9B-BE07-5D652202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D2606B-EE91-4D09-A89B-718A9C7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6A81F8-2369-4848-9489-1D209FB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726635-6966-4BEF-8BA3-EDD8608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3192F5-D72B-46FF-A8B0-0D6736B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6E15D3-F81C-4D90-B6DD-FC492DD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99E5C2-DAFB-4319-9499-6CF63007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A3B076-671D-4F11-A2F2-9E83B96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6E79F0-D3AD-41C6-A58B-08E1C9B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3F5443-C72A-4B55-BF84-4EBAAF7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BD6071-0194-46D7-BC13-45F9E508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9A3F25-E16D-4E94-9F26-3010955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94597E-8A43-4C23-A703-C5167CD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1EBCBEC-3CA9-406B-BB85-FBC42DC1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7E91D4A-0BDF-404C-BA72-B63D3EB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B88F4-6F27-43D3-B5E5-DCC52FC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E16DF2-BF19-4D1E-8B5F-712DF4D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E234206-4DD9-4F7B-A707-CFA97137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39BD99E-7527-45C9-A0DF-484E5C8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E07A93D-B894-4E49-8A8F-6859C467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20B3C7A-578B-42B0-BD22-F7955818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B6A5062-C1DC-4D4C-83C3-4461651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941294-FA52-4C7A-B215-A81905C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2B2758B-8DF4-4A20-9234-1658241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27F00B4-C1F8-46EE-ACDB-67A81AC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2CD81CB-00AA-4E4D-AFEB-9EB316A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F5BE5E5-3A01-4CFC-B6B4-5824F7B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D955BA9-9B12-4953-B33B-F603BAE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7A2102-56E0-4F08-A881-632E78F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F3FE54D-5DA0-49FB-8FC9-F953AB1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91E860-605E-4F9E-A51F-EC35AFB5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CF007DA-2CE2-4D6D-95D4-FBBE9B26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9E1939-99C3-4652-BC35-EB6BAE9B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2E12074-021F-4994-A39F-FCC7DE1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44C386-BB0E-495C-BD0B-BDFC7A77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F4F78B-1DB4-4E7F-A48C-6A5E405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8A76443-3F2C-41B8-970F-B4C55F66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D692916-B699-4656-82B0-191809B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AAFBDF-EDEC-470C-9893-E69219C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5484B8-3CA7-4029-8A4D-51346348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1BB40AF-EFFD-4D0C-BD76-1E25FA7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10A404-DC16-4013-910D-32DB27F6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6498F1D-53E5-470A-9931-35BD313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2B1ADA0-D89D-4E2C-A277-500F9E4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D7CEEE-4DD1-442E-8BBC-E3CFD48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1E0144C-C622-4CEE-9CA9-7AEC37FE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7095F81-A8C4-4272-9FF3-978FD05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7D1AFD-9C07-4EC4-A8F1-31248029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6AE5AA-FABF-4AA8-8E41-D0065852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970153D-46C2-47F1-97B7-EAD8A99D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76F074C-C04B-4D32-9FF7-674A6F1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02828FB-2981-427C-9804-0A551A3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25E4516-DC2E-4155-A696-6CE29D7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62EAB7-3EBC-4FCB-8556-BCE9F96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D83DCC-4A9A-456A-8D37-1B3F3DA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771036-16C4-40B4-8BCF-60D9E4D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13FCEFE-D718-4D6A-A4E4-99B61F1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42EB283-0964-4402-832F-A7441C8A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1199875-D65A-43C5-B89E-3F18F4BF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E98E389-E15D-4795-8A38-0E5C9B55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380D400-14C9-4402-85B8-9BD0C49D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6BBC12F-0CBC-43FE-BA9D-B7EB735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F2796AD-05AA-4085-937E-B800CA8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4816FEC-9E89-4CD6-AACC-1D31011F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6DDE398-7923-43E6-9FE7-0C4FA45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09C15EF-2979-4B4E-9F24-10D1F7E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AFAB046-925B-45E9-9B0F-77F4CE1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E945BF3-2F69-4441-9763-551D142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E717FEE-2697-4EEB-85AA-A4F0577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9BFE4A6-BFAC-4E3F-AD08-998CCB7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CCF46D4-C6EB-4D8D-8501-C066657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7037C7C-8D14-4CDE-B21B-842849F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BB9D066-033F-4202-BF6E-1BEF3E6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524E81B-091F-4FEB-9DB5-5416769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8942D7E-E9CC-4344-8FAC-2D3732D1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D523A38-E0CB-4F35-B8AF-37C844A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8AC55BC-9E5F-45C4-BDBB-A59724E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982AF9F-5487-49D3-9F2A-B30008F8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14CB603-47C9-42CC-9C3C-E8B4E065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9336B04-0205-481E-A273-C5550D8A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213E629-979B-4B5D-9BE8-0A8FA7A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D57727A-2450-4EB2-9480-DC93CE83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253DF43-1738-4194-A806-F0D7592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2B00BFE-7C7C-4A9C-BE9A-5C5CE72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8086BD1-6567-4D7C-8538-A16D055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0C15297-F38C-410E-9129-F07AFD7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6D3A5D7-5902-429F-A553-08B3039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83F602E-DB15-4857-9895-31F1416D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5D2D5F8-7B5F-4CC0-A27B-96027D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E7AA64E-2F6A-45CE-BF6B-4A831DF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FB4A497-38A2-4D85-B5CA-FB2CB82A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88C1AAD-51A0-4028-B3CC-5EB5FB4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2AB360D-E7AB-4546-B5B6-10B89CB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CC00E7A-FD7B-48E4-BA17-BD204AC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98AD52B-7841-4A77-9A9B-5F162A56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4F64264-C694-499F-ABC9-B9B41BB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BE1B119-596D-4AB2-AE58-D5149DA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90FDBA6-72A7-49A8-93F0-225B66A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B59EC6-8C91-43FE-B7A0-B0F7392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5CE9D5F-73C7-4BF0-9462-EBF0E9AB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03691C9-2D3F-4C1B-8CF3-73246FD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A5A0E42-5049-48B7-A71E-F20BC50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C9BF0D7-879B-46D5-B0B5-E562181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F3EDD34-57B0-44C1-BC88-469485BD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8C470EA-1DDD-40FA-9E81-18D5ACA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009C5F0-D75C-48C4-BD14-864E64EC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45A4E15-E559-4136-AE65-B8A5231E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608476A-3DE5-46DC-BC8B-376681B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66E392B-0D16-4D9F-9AFB-C9FCC20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3C8CEA6-8916-49D1-9C04-060F512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5094A1-F1B6-445D-B548-65820CC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D83636-08FE-4B55-8285-BFA6E0F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DFA7D75-CDA6-43FC-8E9F-75807DA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9A26714-B773-41D9-965B-70B8A72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94DB1FB-582E-478C-B351-682FDE8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A0B32F1-A209-453E-B631-32D5B7A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B6BDF17-16F2-44D1-B704-424F77A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0BBA1B4-5B8D-42F2-A19F-227693F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572CEBE-8DD5-4142-9ADC-F94C0A0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F5B71FA-12A9-41C5-9E26-7E58308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4606B5F-0F87-440A-9DAA-44E26E4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65B1CFE-F85B-47F5-A21C-3E05942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AFD1AF3-2B03-4674-94D8-69029CD2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2FACDD3-29D0-4B7E-9102-ED536A8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5566F9F-0D73-455C-9979-A1D05F39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5B8B338-F127-47A3-8944-036C420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B41B565-C739-413B-A443-D7E3A750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8D6E5EB-F1B3-43C1-AE32-3EBD6C4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1FE7119-7326-4937-84E9-45AA707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B90C876-1AFE-4E4E-81D9-841204F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C5F92D9-1133-4311-A852-4ADAB97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6925AD5-7A1A-40FB-BD42-14507CA8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48F1271-2B42-47F6-9BD6-27CAA3D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4ED4220-6F1A-44FF-BC79-AF8BCDED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7F71733-5EE2-47C5-9DCF-0334F07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77D460E-CAB0-4BE1-92AC-C01B62F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E4F061F-1420-40AE-90E7-89A4D75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7AEB733-4A46-446C-AE57-1A917C2A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0D0D871-005C-4768-9C03-3E5CC89E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AA960E9-2B87-40FA-AF20-683AAC8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D8B4D52-C244-4880-B29D-086E8B8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B49A480-EF6C-444A-BEF4-9F657DC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52875A0-E37A-4B76-85CC-35B8C80D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1CBB273-E0A8-4EA6-8126-B5121E1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BB78846-9588-494D-87AB-6FF6C22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38D8139-E942-47DE-A2F1-6F420B4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DA31EDC-3540-4D93-B32F-F18896A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28CED08-D0F0-41E9-A19D-5002735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D8E5667-AC92-4174-8B11-F5CA3D7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BF9CE0D-8138-4A56-98CA-0C364180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5D68F54-BFF8-478E-A88C-D0E662D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1CB5303-24CC-4371-AC8D-070EEF0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1302754-55C6-4A88-AEE1-12CDE26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4AF57E2-9503-4E9D-9ABC-67E8EF4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223FB45-F0BD-4E95-8292-49F8F5C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2FCC980-4D19-4C2F-9EE6-087B792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BCBC868-F77C-497B-848A-AFFC7FA8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4329D3A-C7D4-4061-908A-D6C5B97D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75034FF-C6F5-466D-9F61-61171F4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560A645-0819-48D3-A729-12BF7B7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6EE60A1-7137-4685-B188-72D8D88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9CBF9D7-F385-4A5D-8450-C9854BB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B7E2633-1770-428F-B553-AEF7343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34973AD-D19F-422A-AAA3-3A2B299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6E694E7-0A50-4158-A544-ED58E29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536F99D-8DE3-4AC1-9C89-7CA097AD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700E571-CB07-45F4-BDCB-166C8D5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3651FA1-D360-4B14-9E9D-D8279EA1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5257A2C-4D70-4E39-A113-8EB55FC1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575DE36-343E-4372-BC14-85CCD63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8D3E760-22CE-4635-A49E-F2F1839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43E77D0-08EF-40A1-871E-2685472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F6443BB-E1F7-4689-B3AE-855ED4E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D5E871E-077D-4AF9-8F04-272018D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73065EC-8559-408F-B0EA-F7C307D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7499894-C0C0-4BFC-86F4-3916F37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3B33CFC-1401-4328-94B7-A901422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63317CD-48BC-4C15-B51B-86D13A0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AEDF66F-F1D1-422E-8BC1-6E0FB34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39AD7C1-8BF7-4F8A-9B16-81A30E1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3742013-42C1-413F-979E-91F0FD5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A9D5BBD-72E7-41D5-A8F3-8CC4431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5E666AD-4A42-40FB-94FB-9CE39EE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D66E2BF-F2F8-48FC-9B54-F66DCE2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7E65C87-0443-4C99-87B3-943FD14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3ED6AE1-9804-4E23-9FF9-3B4F76C1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1D0D13F-E3C3-4622-BDDB-E8775F7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9BDAADD-562C-4527-9E26-BF08F6F8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7112368-B8F6-4EC1-BA69-AAFEBA6B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D6D5ADC-4954-4DE2-B6A3-428A48F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DD0B606-ED22-48FF-9C52-EAC2B46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7C886D8-67C9-4AB8-A596-4FF442A0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806F077-454B-4BCD-8311-FD2C18C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E5DEB90-54B7-4386-BE45-C2527945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F13F751-5D70-4402-87D8-5503408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48E4165-85E6-4B1C-AB40-1993E49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A92FF86-839E-4BB5-AC9C-FD37BB6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3B7F527-37F8-4495-B476-D608A26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439E7C7-4D9D-4058-9CA0-2C238EB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B21B430-0793-466B-9FAD-74CF5FE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245BB29-12F4-4B69-80CC-AA0CADB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1FED7B1-B87F-4563-B3F6-F96C52D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415A163-A2CD-4D0E-9C06-0B7C1011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8F7F756-ED0B-4AEE-97A6-A025F2E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49705F3-8FFF-43F9-8FC0-5238123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6DC0D7DD-6142-4EBD-9284-74111275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7A7705F4-0654-4461-829D-E4150EA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D8E0302-050E-49C0-B7E2-F5D8315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A37B798-0629-48A0-9B44-F1A0F0E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6A3942A-0C85-4012-8AFE-E215FD5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56B3EF5-BB15-4E6B-9AF4-5AACD35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123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F4C14A7-E5BB-4B34-8B00-5B89B8A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Ours-only correct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F228BB0-DAD1-4466-A042-E4A7A9D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同一題中 Ours 答對、Generic 答錯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AE20DB9-01C5-4D3E-9FC7-7A11B4E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102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9978503-5620-419D-B581-639F9BD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兩組結果相同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9FDBD5B-2748-4053-B2D5-921D963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可能同對，也可能同錯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01467BD-B30E-4C88-830F-E28B64F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75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0F41730-54C9-4567-8FCB-DA5FD56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Generic-only correct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5DFB2A4-B953-46D9-8F89-F6F08F7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6860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C1659B2-BF1C-4778-984D-E94C390A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123 − 75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384C1EB-12E0-43DE-805D-6762E4D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= 48 題淨優勢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4ED91B1-D979-4063-B447-BB8088BA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06F"/>
          </a:solidFill>
          <a:ln xmlns:a="http://schemas.openxmlformats.org/drawingml/2006/main" w="0">
            <a:solidFill>
              <a:srgbClr val="37506F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3FAB24C-9C8C-48B7-961C-3D272F7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48 ÷ 300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= 16.0%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B2A3EB3-4ECF-4ECD-96BC-C5B9405E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86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2C861DC4-8532-469F-98EA-BBD3B0B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14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代價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FE450B9-A663-457C-A6EA-47B3B94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958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tokens +9.0%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latency +4.8%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7F7978F-C54B-42A2-BA51-41F9818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這才是實驗成果本身；網頁只是讓這些資料可以被查看。</a:t>
            </a:r>
          </a:p>
        </p:txBody>
      </p:sp>
    </p:spTree>
    <p:extLst>
      <p:ext uri="{BB962C8B-B14F-4D97-AF65-F5344CB8AC3E}">
        <p14:creationId xmlns:p14="http://schemas.microsoft.com/office/powerpoint/2010/main" val="11161422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41758-6546-4E8E-BE66-B8D59AA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FROM ONE ORGAN BACK TO THE HUMAN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0EA15-550B-40A8-BB46-CBAAB23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這個窄結果如何回到整套系統：先把左腦的問題對準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1999A-09B9-47A8-A0AE-3C6CA3D4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53B16-2072-4F05-A04E-56355D96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AA732-4E3F-4C83-BDE7-2865EA8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PUB-T13-112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2A73B-C89B-472F-89F7-3152C5FC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FB0D0-06DF-407F-905C-21DC6C9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Q：broccoli 在 closet 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E193E-7AF6-4372-B485-1E49EA08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B7A40-7792-43AF-AC18-A6512A7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A：I put the pineapples there.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8F015-660D-4400-847E-2C1306D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14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there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95648-6276-45AE-8C8D-09FDBD3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指向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C7B17-7E76-43F5-BCF7-283DF56D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closet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DE1B3-19F8-4108-B3A1-1C18D52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2F3CF-B593-447A-8606-6545BDF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427D7-61D5-4B94-BFBE-CAB42B0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17F34-101F-49CB-B4D3-67DA8922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A4883-DFB8-46BE-AB58-A43C8E83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3996A-3506-4AB4-A185-EF8E922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一般深思：推理出 No，卻綁到 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9769F-0F4A-4C37-9899-D477B40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推理內容其實接近正確，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但最後 answer index 指到 Yes → 答錯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17F93-C320-4B0D-9239-62BC88E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A2F3E-FF17-42AE-AB81-19D5061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語用器官：分開字面、目標與證據後綁回 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E1B6E-DFD2-41A4-BB11-C684DCB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字面：提到的是 pineapples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CE2DC-9905-4C35-AB35-9E2B7A85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1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目標：題目問的是 broccoli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E635D-1913-4774-87EB-18B6543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證據：there 指 closet，但物品不同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F36A8-75B7-427E-9C2A-1C072D97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14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替代：broccoli 的位置仍未知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6768C-327F-4FFD-8D3E-54CB66C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3048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E830A-1456-4113-ACBA-857B6F0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Final answer：No · CORRECT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1896D-4465-4B8B-ACCC-28074D4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33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C028D-E9E6-40EC-9511-38BB082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關鍵不是『there = closet』而已；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還要保持 broccoli ≠ pineapples。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20128-B424-40AB-A00C-E7F84DB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已證明：PUB T13 中，左腦較常把答案綁到正確對象；Generic 仍有 75 題單獨答對。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969C1-E5DE-470D-BD83-98EA685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尚待驗證：理解更準 → 取對記憶 → 選對反應 → 右腦說對話；M15 只支持第一步。</a:t>
            </a:r>
          </a:p>
        </p:txBody>
      </p:sp>
    </p:spTree>
    <p:extLst>
      <p:ext uri="{BB962C8B-B14F-4D97-AF65-F5344CB8AC3E}">
        <p14:creationId xmlns:p14="http://schemas.microsoft.com/office/powerpoint/2010/main" val="744296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E5936-A50B-4812-9145-12B7344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WHAT THE RESULT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B9619-4A3A-442E-9F14-F454C09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目前可以向老師報告的是一個窄但完整的研究結果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93A4B-F0F1-4603-9A03-9A520C8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B5E9-E76D-4987-9417-29E8BF81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F5E6B-AC45-4809-B10B-9AABCAF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現在有證據支持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24E0E-1CC8-4A48-B846-3BC67B3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CC6F-EBA3-4AE8-B991-58467D8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建立了可追溯的記憶、狀態、預測與修正架構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E2B57-39FE-4D8D-8C3B-F275C1F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保留 M8、M9、M12 等沒有勝出的負結果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02E2C-935D-46F5-ABAA-42AD45A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在 300 個新 PUB T13 案例上完成同模型成對確認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00292-7C51-42E0-A71E-49D903D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語用分解得到 +16.0pp focused advantage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75C3A-B13B-4949-A2D0-7FA1D8E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每個結果都有 prereg、原始輸出、成本與限制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F063-C4BD-4D43-970F-9E1F1F27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現在仍不能宣稱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555D3-FBF7-49D9-B9C4-FB3558AB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6BB62-9FEB-4FDE-BFF1-654B047E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系統已經是人或具有主觀意識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CCBDA-CBF1-4680-8622-9880ACA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已理解所有隱含意圖、情緒與人類思考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B221-6F29-4691-9C60-46F87375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已證明長期 felt understanding 優於一般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EACC3-628D-4C7F-A456-C2584BF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已完成 Uruha 公開人格的時間預測驗證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42049-AA79-4109-BEEB-654B510C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+16pp 可以自動推廣到其他模型與其他任務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3E6BB-5EA9-4348-A326-9392F46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1740C-7189-46D3-8D90-09C3F0D1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研究價值：我已經把『像人』的一個模糊願景，轉成可重現、可失敗、可繼續擴張的實驗。</a:t>
            </a:r>
          </a:p>
        </p:txBody>
      </p:sp>
    </p:spTree>
    <p:extLst>
      <p:ext uri="{BB962C8B-B14F-4D97-AF65-F5344CB8AC3E}">
        <p14:creationId xmlns:p14="http://schemas.microsoft.com/office/powerpoint/2010/main" val="12076601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ABE97-1A1A-47AB-AB60-518B17F4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48D09-9A91-407B-A7B0-5EE6D1D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這一年真正完成的，是把一個類人系統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從「展示功能」推進到「可以做研究」。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D9E5D-3CF2-468B-ACF8-09B163D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F60A-0717-401C-8610-8A9CBBF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工程成果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95DB-80A8-4AE8-B1C4-8BEA6E7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日文對話、長期記憶、人格／關係狀態、node graph、50 輪測試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9EB65-B182-48CC-AE7E-D2A42957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5C908-68F7-485D-9DB1-C92DA10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研究成果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D6E45-8045-479A-8F7D-A1C511EB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時間切分、強 baseline、消融、干預、轉移、公開 benchmark、預註冊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47D14-C29F-4BE3-BD0F-6ACD772F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2965-9447-4CD4-96E8-D9E15DA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rPr>
              <a:t>正式正結果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F3E22-7A45-4493-AC09-094D61B2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M15：300 個新 T13 案例，Ours 68.7% vs Generic 52.7%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3870E-F8C0-4235-A364-7F543F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A017A-646F-4B3E-9DAB-80D640E2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1. token-matched 對照　2. 跨模型與選項排列　3. 多輪隱含需求修正　4. Uruha 時間資料真值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D7790-300F-426F-965D-6AF62007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原本的夢想沒有消失；現在它有了可以逐步驗證的路。</a:t>
            </a:r>
          </a:p>
        </p:txBody>
      </p:sp>
    </p:spTree>
    <p:extLst>
      <p:ext uri="{BB962C8B-B14F-4D97-AF65-F5344CB8AC3E}">
        <p14:creationId xmlns:p14="http://schemas.microsoft.com/office/powerpoint/2010/main" val="16908595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FCC50-D3E5-4A83-96C2-9CEB8F8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REFERENCES ·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D4EEB-5E14-45B2-9C89-8996BB4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主要參考文獻（備用頁）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1182-79B3-4ECF-9708-29E8525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08E29-3E7B-4490-8509-BC2D2C6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DEC54-E9D8-4665-9A02-B2B8096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313BF-ABE3-406A-8953-863FDB4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Sravanthi et al. (2024)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6F485-88AA-4A59-A6DB-7425E6AF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PUB: A Pragmatics Understanding Benchmark…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8D07-7B6D-411F-94E3-8C20ADA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T13 語用資料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BBACF-EB07-4F86-93EA-3F0ADA4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2FFC3-4ABE-4550-9E28-8CB6E9D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Maharana et al. (2024)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E84EE-F3C7-4E89-B29D-3B22A8C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Evaluating Very Long-Term Conversational Memory…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60B0E-CB3B-4F77-B7B2-A25FBBF4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長期記憶任務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5A9DD-3979-484A-A9E9-B595234A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BB1F3-F3E3-417E-AACC-5B828CE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Gneiting &amp; Raftery (2007)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9E038-5EFF-438D-A273-65D1BEA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Strictly Proper Scoring Rules…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F55DE-66BC-4B43-BA05-55CFDCF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Brier / NLL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DC1D9-B5C2-45C6-B776-44599D8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7E740-EC16-4F57-B909-9BB3BA63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Guo et al. (2017)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2EF06-44BC-4462-B230-3C56CC1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On Calibration of Modern Neural Networks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EE759-83D9-4BE3-917C-48D0215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ECE /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CC09-72B8-43F0-8845-287600B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16771-28F8-40EB-A006-C7BD574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Peyrard et al. (2021)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2C6A4-1810-4BC1-A7DE-1324ECF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Better than Average: Paired Evaluation…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A8089-E578-414E-A4E7-F01C084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同題成對比較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7BD36-B584-4108-9878-F658E16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D0A66-126B-43EE-8F99-8449FDC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Berg-Kirkpatrick et al. (2012)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6EB91-EC06-4260-A92E-3574EF9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Statistical Significance in NLP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672D3-CDFB-4DAD-B0FD-85AD2B8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05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bootstrap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9F95C-26F1-486D-B51A-A32D1B1F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50A48-FE29-4D58-8797-B0DF7EA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Liu et al. (2016)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B9799-284E-4C10-9184-16BB44F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How NOT To Evaluate Your Dialogue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DCC02-A7E0-490F-B4F6-98A646E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53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真人品質邊界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CEF47-2053-4791-B838-8CDFAAD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完整 URL 放在每頁講者備註；正式 20 分鐘報告可不逐篇介紹。</a:t>
            </a:r>
          </a:p>
        </p:txBody>
      </p:sp>
    </p:spTree>
    <p:extLst>
      <p:ext uri="{BB962C8B-B14F-4D97-AF65-F5344CB8AC3E}">
        <p14:creationId xmlns:p14="http://schemas.microsoft.com/office/powerpoint/2010/main" val="1900247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2026-08-18T21:12:34.4950000Z</dcterms:created>
  <dcterms:modified xsi:type="dcterms:W3CDTF">2026-08-18T21:12:34.4960000Z</dcterms:modified>
</coreProperties>
</file>