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b21070fe2842dc" /><Relationship Type="http://schemas.openxmlformats.org/officeDocument/2006/relationships/extended-properties" Target="/docProps/app.xml" Id="R143864dc16824907" /><Relationship Type="http://schemas.openxmlformats.org/officeDocument/2006/relationships/officeDocument" Target="/ppt/presentation.xml" Id="Rec6d88c39bf142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9fd84819474767"/>
  </p:sldMasterIdLst>
  <p:notesMasterIdLst>
    <p:notesMasterId xmlns:r="http://schemas.openxmlformats.org/officeDocument/2006/relationships" r:id="Rb369dd2ea0784229"/>
  </p:notesMasterIdLst>
  <p:sldIdLst>
    <p:sldId xmlns:r="http://schemas.openxmlformats.org/officeDocument/2006/relationships" id="256" r:id="Rc83445a636d84c1e"/>
    <p:sldId xmlns:r="http://schemas.openxmlformats.org/officeDocument/2006/relationships" id="257" r:id="R24c5800a8e1c434b"/>
    <p:sldId xmlns:r="http://schemas.openxmlformats.org/officeDocument/2006/relationships" id="258" r:id="R5dade0b0d484404a"/>
    <p:sldId xmlns:r="http://schemas.openxmlformats.org/officeDocument/2006/relationships" id="259" r:id="Re8765f7178704eb6"/>
    <p:sldId xmlns:r="http://schemas.openxmlformats.org/officeDocument/2006/relationships" id="260" r:id="Rc8f250bb28b54819"/>
    <p:sldId xmlns:r="http://schemas.openxmlformats.org/officeDocument/2006/relationships" id="261" r:id="R11dd2267ea7d4c83"/>
    <p:sldId xmlns:r="http://schemas.openxmlformats.org/officeDocument/2006/relationships" id="262" r:id="R28133c6e9a384c88"/>
    <p:sldId xmlns:r="http://schemas.openxmlformats.org/officeDocument/2006/relationships" id="263" r:id="R19bbb248631c4572"/>
    <p:sldId xmlns:r="http://schemas.openxmlformats.org/officeDocument/2006/relationships" id="264" r:id="R3e7efd0ffaf9440b"/>
    <p:sldId xmlns:r="http://schemas.openxmlformats.org/officeDocument/2006/relationships" id="265" r:id="R3d7988ec977a4d2d"/>
    <p:sldId xmlns:r="http://schemas.openxmlformats.org/officeDocument/2006/relationships" id="266" r:id="R606adcad65ab4cf0"/>
    <p:sldId xmlns:r="http://schemas.openxmlformats.org/officeDocument/2006/relationships" id="267" r:id="Rec239711f3224fb9"/>
    <p:sldId xmlns:r="http://schemas.openxmlformats.org/officeDocument/2006/relationships" id="268" r:id="Ra464eb56961444a9"/>
    <p:sldId xmlns:r="http://schemas.openxmlformats.org/officeDocument/2006/relationships" id="269" r:id="Rb0195a306b674e19"/>
    <p:sldId xmlns:r="http://schemas.openxmlformats.org/officeDocument/2006/relationships" id="270" r:id="Rba86dc2a8aa24cf3"/>
    <p:sldId xmlns:r="http://schemas.openxmlformats.org/officeDocument/2006/relationships" id="271" r:id="Rfb6c109f322a47a4"/>
    <p:sldId xmlns:r="http://schemas.openxmlformats.org/officeDocument/2006/relationships" id="272" r:id="Rc27cccb17c1b4d16"/>
    <p:sldId xmlns:r="http://schemas.openxmlformats.org/officeDocument/2006/relationships" id="273" r:id="Red311249626a43ec"/>
    <p:sldId xmlns:r="http://schemas.openxmlformats.org/officeDocument/2006/relationships" id="274" r:id="Rde523e30406c4010"/>
    <p:sldId xmlns:r="http://schemas.openxmlformats.org/officeDocument/2006/relationships" id="275" r:id="R7aa1024e46aa4248"/>
    <p:sldId xmlns:r="http://schemas.openxmlformats.org/officeDocument/2006/relationships" id="276" r:id="Rd965b17e9e8c4a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0f88e9d53b4316" /><Relationship Type="http://schemas.openxmlformats.org/officeDocument/2006/relationships/slideMaster" Target="/ppt/slideMasters/slideMaster1.xml" Id="R009fd84819474767" /><Relationship Type="http://schemas.openxmlformats.org/officeDocument/2006/relationships/notesMaster" Target="/ppt/notesMasters/notesMaster1.xml" Id="Rb369dd2ea0784229" /><Relationship Type="http://schemas.openxmlformats.org/officeDocument/2006/relationships/presProps" Target="/ppt/presProps.xml" Id="R2bd699d8963c4e92" /><Relationship Type="http://schemas.openxmlformats.org/officeDocument/2006/relationships/tableStyles" Target="/ppt/tableStyles.xml" Id="R67d39860df2d45eb" /><Relationship Type="http://schemas.openxmlformats.org/officeDocument/2006/relationships/slide" Target="/ppt/slides/slide1.xml" Id="Rc83445a636d84c1e" /><Relationship Type="http://schemas.openxmlformats.org/officeDocument/2006/relationships/slide" Target="/ppt/slides/slide2.xml" Id="R24c5800a8e1c434b" /><Relationship Type="http://schemas.openxmlformats.org/officeDocument/2006/relationships/slide" Target="/ppt/slides/slide3.xml" Id="R5dade0b0d484404a" /><Relationship Type="http://schemas.openxmlformats.org/officeDocument/2006/relationships/slide" Target="/ppt/slides/slide4.xml" Id="Re8765f7178704eb6" /><Relationship Type="http://schemas.openxmlformats.org/officeDocument/2006/relationships/slide" Target="/ppt/slides/slide5.xml" Id="Rc8f250bb28b54819" /><Relationship Type="http://schemas.openxmlformats.org/officeDocument/2006/relationships/slide" Target="/ppt/slides/slide6.xml" Id="R11dd2267ea7d4c83" /><Relationship Type="http://schemas.openxmlformats.org/officeDocument/2006/relationships/slide" Target="/ppt/slides/slide7.xml" Id="R28133c6e9a384c88" /><Relationship Type="http://schemas.openxmlformats.org/officeDocument/2006/relationships/slide" Target="/ppt/slides/slide8.xml" Id="R19bbb248631c4572" /><Relationship Type="http://schemas.openxmlformats.org/officeDocument/2006/relationships/slide" Target="/ppt/slides/slide9.xml" Id="R3e7efd0ffaf9440b" /><Relationship Type="http://schemas.openxmlformats.org/officeDocument/2006/relationships/slide" Target="/ppt/slides/slide10.xml" Id="R3d7988ec977a4d2d" /><Relationship Type="http://schemas.openxmlformats.org/officeDocument/2006/relationships/slide" Target="/ppt/slides/slide11.xml" Id="R606adcad65ab4cf0" /><Relationship Type="http://schemas.openxmlformats.org/officeDocument/2006/relationships/slide" Target="/ppt/slides/slide12.xml" Id="Rec239711f3224fb9" /><Relationship Type="http://schemas.openxmlformats.org/officeDocument/2006/relationships/slide" Target="/ppt/slides/slide13.xml" Id="Ra464eb56961444a9" /><Relationship Type="http://schemas.openxmlformats.org/officeDocument/2006/relationships/slide" Target="/ppt/slides/slide14.xml" Id="Rb0195a306b674e19" /><Relationship Type="http://schemas.openxmlformats.org/officeDocument/2006/relationships/slide" Target="/ppt/slides/slide15.xml" Id="Rba86dc2a8aa24cf3" /><Relationship Type="http://schemas.openxmlformats.org/officeDocument/2006/relationships/slide" Target="/ppt/slides/slide16.xml" Id="Rfb6c109f322a47a4" /><Relationship Type="http://schemas.openxmlformats.org/officeDocument/2006/relationships/slide" Target="/ppt/slides/slide17.xml" Id="Rc27cccb17c1b4d16" /><Relationship Type="http://schemas.openxmlformats.org/officeDocument/2006/relationships/slide" Target="/ppt/slides/slide18.xml" Id="Red311249626a43ec" /><Relationship Type="http://schemas.openxmlformats.org/officeDocument/2006/relationships/slide" Target="/ppt/slides/slide19.xml" Id="Rde523e30406c4010" /><Relationship Type="http://schemas.openxmlformats.org/officeDocument/2006/relationships/slide" Target="/ppt/slides/slide20.xml" Id="R7aa1024e46aa4248" /><Relationship Type="http://schemas.openxmlformats.org/officeDocument/2006/relationships/slide" Target="/ppt/slides/slide21.xml" Id="Rd965b17e9e8c4a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430983a6ad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063b840e524343" /><Relationship Type="http://schemas.openxmlformats.org/officeDocument/2006/relationships/notesMaster" Target="/ppt/notesMasters/notesMaster1.xml" Id="R0f20a4c5035348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6d17a17f344a2" /><Relationship Type="http://schemas.openxmlformats.org/officeDocument/2006/relationships/notesMaster" Target="/ppt/notesMasters/notesMaster1.xml" Id="R87c429131226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fa650af97d42d8" /><Relationship Type="http://schemas.openxmlformats.org/officeDocument/2006/relationships/notesMaster" Target="/ppt/notesMasters/notesMaster1.xml" Id="Ree44d102bd0e4a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9d8cd833e64d52" /><Relationship Type="http://schemas.openxmlformats.org/officeDocument/2006/relationships/notesMaster" Target="/ppt/notesMasters/notesMaster1.xml" Id="Rdf69873e60b84e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900ccc45154b4f" /><Relationship Type="http://schemas.openxmlformats.org/officeDocument/2006/relationships/notesMaster" Target="/ppt/notesMasters/notesMaster1.xml" Id="R8fdb39d46ea64e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7c824be944436c" /><Relationship Type="http://schemas.openxmlformats.org/officeDocument/2006/relationships/notesMaster" Target="/ppt/notesMasters/notesMaster1.xml" Id="R77d80faffcfe41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cbca1c2209486d" /><Relationship Type="http://schemas.openxmlformats.org/officeDocument/2006/relationships/notesMaster" Target="/ppt/notesMasters/notesMaster1.xml" Id="R11e79075fbda4d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45fdb3c2444503" /><Relationship Type="http://schemas.openxmlformats.org/officeDocument/2006/relationships/notesMaster" Target="/ppt/notesMasters/notesMaster1.xml" Id="R3a6980fac54c43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58d84017a54ec0" /><Relationship Type="http://schemas.openxmlformats.org/officeDocument/2006/relationships/notesMaster" Target="/ppt/notesMasters/notesMaster1.xml" Id="Rf28797085e4149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8356b335114f26" /><Relationship Type="http://schemas.openxmlformats.org/officeDocument/2006/relationships/notesMaster" Target="/ppt/notesMasters/notesMaster1.xml" Id="R5ab9be32c93042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39b677c3024947" /><Relationship Type="http://schemas.openxmlformats.org/officeDocument/2006/relationships/notesMaster" Target="/ppt/notesMasters/notesMaster1.xml" Id="R5f65d611ad2141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9b619366c24b44" /><Relationship Type="http://schemas.openxmlformats.org/officeDocument/2006/relationships/notesMaster" Target="/ppt/notesMasters/notesMaster1.xml" Id="R771a036db7b24b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dccd4a5c774e89" /><Relationship Type="http://schemas.openxmlformats.org/officeDocument/2006/relationships/notesMaster" Target="/ppt/notesMasters/notesMaster1.xml" Id="Rfc43baf081f64f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b66f9b08a246f3" /><Relationship Type="http://schemas.openxmlformats.org/officeDocument/2006/relationships/notesMaster" Target="/ppt/notesMasters/notesMaster1.xml" Id="Rcddb5e4554e343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746f2b07ae4d06" /><Relationship Type="http://schemas.openxmlformats.org/officeDocument/2006/relationships/notesMaster" Target="/ppt/notesMasters/notesMaster1.xml" Id="R610d7543421e4f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d53e1c101d4e35" /><Relationship Type="http://schemas.openxmlformats.org/officeDocument/2006/relationships/notesMaster" Target="/ppt/notesMasters/notesMaster1.xml" Id="R7aca7bf2ff9141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3525b25e1241ec" /><Relationship Type="http://schemas.openxmlformats.org/officeDocument/2006/relationships/notesMaster" Target="/ppt/notesMasters/notesMaster1.xml" Id="Rbebfba22436d41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6eba13d8d94cc2" /><Relationship Type="http://schemas.openxmlformats.org/officeDocument/2006/relationships/notesMaster" Target="/ppt/notesMasters/notesMaster1.xml" Id="Raee8d01a217d44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7adb4e3e2248fe" /><Relationship Type="http://schemas.openxmlformats.org/officeDocument/2006/relationships/notesMaster" Target="/ppt/notesMasters/notesMaster1.xml" Id="Rc20a6c15d88841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fe2704f2ca4edb" /><Relationship Type="http://schemas.openxmlformats.org/officeDocument/2006/relationships/notesMaster" Target="/ppt/notesMasters/notesMaster1.xml" Id="R8650033baef44e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50a33334be4e28" /><Relationship Type="http://schemas.openxmlformats.org/officeDocument/2006/relationships/notesMaster" Target="/ppt/notesMasters/notesMaster1.xml" Id="R4fd89fd5c868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45 秒。這份報告不是只講最後一次實驗，而是說明我這一年如何從『想做一個像人的系統』，走到『把每個能力拆成可以被驗證的研究問題』。最後會展示目前第一個正式通過確認的窄能力結果。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master specification: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先把『像人』說具體：認知科學通常不把反應視為輸入直接跳到輸出，而會討論知覺、語意理解、工作記憶與長期記憶、事件評估、反應選擇，以及語言產生。我的研究不是說這六格等於真實大腦，而是把這些功能做成可執行模組，問同一個刺激在不同記憶、關係與目標下，為什麼會得到不同回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ACT-R cognitive architecture: https://act-r.psy.cmu.edu/</a:t>
            </a:r>
          </a:p>
          <a:p xmlns:a="http://schemas.openxmlformats.org/drawingml/2006/main">
            <a:r>
              <a:t>- Cowan (2008), working and long-term memory: https://pubmed.ncbi.nlm.nih.gov/18394484/</a:t>
            </a:r>
          </a:p>
          <a:p xmlns:a="http://schemas.openxmlformats.org/drawingml/2006/main">
            <a:r>
              <a:t>- Scherer &amp; Moors (2019), appraisal and action tendency: https://doi.org/10.1146/annurev-psych-122216-011854</a:t>
            </a:r>
          </a:p>
          <a:p xmlns:a="http://schemas.openxmlformats.org/drawingml/2006/main">
            <a:r>
              <a:t>- Levelt (1999), word production: https://pubmed.ncbi.nlm.nih.gov/10354575/</a:t>
            </a:r>
          </a:p>
          <a:p xmlns:a="http://schemas.openxmlformats.org/drawingml/2006/main">
            <a:r>
              <a:t>- Sections 0–6 of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100 秒。這頁把舊系統講清楚。左腦負責理解、ToM 與候選計畫；記憶系統把過去和當下狀態帶進決策；右腦把已決定的意思轉成 Uruha 風格的自然日文。這是工程上的功能分工，不是生物腦宣稱。當時我也做過 ToMBench 與 Big Five：ToMBench 40 題 97.5%，Big Five 30 次穩定度 0.7554。它們分別測社會推理與人格回答一致性，但不能合併成『它就是人』。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reports/formal_brain_benchmarks_report.md</a:t>
            </a:r>
          </a:p>
          <a:p xmlns:a="http://schemas.openxmlformats.org/drawingml/2006/main">
            <a:r>
              <a:t>- reports/project_direction_audit_and_future_roadmap_zh.md</a:t>
            </a:r>
          </a:p>
          <a:p xmlns:a="http://schemas.openxmlformats.org/drawingml/2006/main">
            <a:r>
              <a:t>- reports/rightbrain_tombench_state_snapshot_zh_20260610.md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秒。這頁要直接回答老師可能問的『所以分數很高不就代表像人？』。答案是不行：沒有一篇論文定義 ToM、Big Five、自然度或記憶分數超過某門檻就等於人。不同人本來就不一樣，同一句話也沒有唯一的人類答案。因此我把研究問題改成可反駁的形式：固定其他條件時，某個中間機制是否真的提升未見行為預測。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reports/formal_brain_benchmarks_report.md</a:t>
            </a:r>
          </a:p>
          <a:p xmlns:a="http://schemas.openxmlformats.org/drawingml/2006/main">
            <a:r>
              <a:t>- Research claim boundary: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這頁用因果故事把前後連起來。我原本要還原整段人類反應，但因為『像人』不能直接驗證，所以改成一次只動一個器官。以記憶為例：有昨天發表的記憶時，預測應該改變；拿掉記憶後若完全不變，就不能說記憶參與了方程式。新研究不是突然換成語用分析，而是開始對舊系統的每個模組做這種可反駁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Ablation and intervention logic: /Users/jerrychang/Downloads/RESEARCH_SPEC_FOR_CODEX.md</a:t>
            </a:r>
          </a:p>
          <a:p xmlns:a="http://schemas.openxmlformats.org/drawingml/2006/main">
            <a:r>
              <a:t>- reports/project_direction_audit_and_future_roadmap_zh.md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105 秒。這不是假想流程，而是 V2.16 frozen 實際案例。沒有前文時，系統不能把坐不住直接判成焦慮：睡眠、身體狀態、是否求解法都保留為 unknown，再從候選回覆政策中選低壓追問，最後產生畫面上的日文。相同輸入若加入『熟人、明確邀請吐槽』的前文，實際政策會改成 playful_tease，輸出為『朝から脳内だけ二十四時間営業かよ。止まる気ゼロじゃん。』。這就是記憶和關係如何改變同一輸入的可觀察例子。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analysis/v2_16_reference_person_equation_raw.json</a:t>
            </a:r>
          </a:p>
          <a:p xmlns:a="http://schemas.openxmlformats.org/drawingml/2006/main">
            <a:r>
              <a:t>- analysis/v2_16_one_week_reference_person_equation_acceptance_2026-08-12.md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100 秒。這頁要解釋為什麼叫理解、以及為什麼剛好是五步。真正決定回覆的缺睡、焦慮、興奮、求解法或求吐槽都不是文字上直接可見的。系統只能先形成假設，再用來源證據約束，做出能被後續行為檢驗的預測，等待結果，最後更新。缺任何一步都不再是一個可學習、可驗證的人類反應方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analysis/v2_14_human_pragmatic_comparison_raw.json</a:t>
            </a:r>
          </a:p>
          <a:p xmlns:a="http://schemas.openxmlformats.org/drawingml/2006/main">
            <a:r>
              <a:t>- analysis/v2_15_one_week_pragmatic_showcase_acceptance_2026-08-12.md</a:t>
            </a:r>
          </a:p>
          <a:p xmlns:a="http://schemas.openxmlformats.org/drawingml/2006/main">
            <a:r>
              <a:t>- CHAT_CONTEXT_COMPACTION_2026-08-10.md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75 秒。清楚說明文獻的作用：現在沒有一個官方單一分數可以宣布『這就是人』，所以我不能找一篇論文直接替系統蓋章。我的做法是把問題分區：PUB 測語用、LoCoMo 測長期記憶、proper scoring 與 calibration 測機率、paired evaluation 與 bootstrap 測比較可信度、對話自然度則保留真人評估。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https://aclanthology.org/2024.acl-long.747/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https://aclanthology.org/2021.acl-long.179/</a:t>
            </a:r>
          </a:p>
          <a:p xmlns:a="http://schemas.openxmlformats.org/drawingml/2006/main">
            <a:r>
              <a:t>- https://aclanthology.org/D12-1091/</a:t>
            </a:r>
          </a:p>
          <a:p xmlns:a="http://schemas.openxmlformats.org/drawingml/2006/main">
            <a:r>
              <a:t>- https://aclanthology.org/D16-1230/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95 秒。特別說明 M1：如果我要模擬某人在時間 t 的反應，系統就只能擁有那個人在 t 以前可能擁有的資料；先看到未來再回推等於洩題。M2 問複雜方程式是否真的需要，M3 定義當下可用記憶，M4 把看不見的狀態保留為有證據的推測，M5 才處理人如何隨事件改變。這些都直接對應人類方程式，不是獨立的技術清單。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analysis/m1_temporal_prediction_observatory_acceptance_2026-08-15.md</a:t>
            </a:r>
          </a:p>
          <a:p xmlns:a="http://schemas.openxmlformats.org/drawingml/2006/main">
            <a:r>
              <a:t>- analysis/m2_strong_temporal_baselines_acceptance_2026-08-15.md</a:t>
            </a:r>
          </a:p>
          <a:p xmlns:a="http://schemas.openxmlformats.org/drawingml/2006/main">
            <a:r>
              <a:t>- analysis/m3_structured_memory_acceptance_2026-08-15.md</a:t>
            </a:r>
          </a:p>
          <a:p xmlns:a="http://schemas.openxmlformats.org/drawingml/2006/main">
            <a:r>
              <a:t>- analysis/m4_human_state_acceptance_2026-08-15.md</a:t>
            </a:r>
          </a:p>
          <a:p xmlns:a="http://schemas.openxmlformats.org/drawingml/2006/main">
            <a:r>
              <a:t>- analysis/m5_state_transition_acceptance_2026-08-15.md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秒。M6 第一次把輸出變成機率；M7 用消融與干預檢查中間變數是否真的連到結果；M8 測新語句與不同時間點時失敗，證明原本的提升不穩；M9 顯示架構能換人但預測沒有變好；M10 把行為和日文表達分離。這些負結果讓後續研究知道不能只靠內部 demo。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analysis/m6_behavior_predictor_acceptance_2026-08-15.md</a:t>
            </a:r>
          </a:p>
          <a:p xmlns:a="http://schemas.openxmlformats.org/drawingml/2006/main">
            <a:r>
              <a:t>- analysis/m7_ablation_intervention_diagnostic_acceptance_2026-08-15.md</a:t>
            </a:r>
          </a:p>
          <a:p xmlns:a="http://schemas.openxmlformats.org/drawingml/2006/main">
            <a:r>
              <a:t>- analysis/m8_rolling_scaling_acceptance_2026-08-15.md</a:t>
            </a:r>
          </a:p>
          <a:p xmlns:a="http://schemas.openxmlformats.org/drawingml/2006/main">
            <a:r>
              <a:t>- analysis/m9_second_person_transfer_acceptance_2026-08-15.md</a:t>
            </a:r>
          </a:p>
          <a:p xmlns:a="http://schemas.openxmlformats.org/drawingml/2006/main">
            <a:r>
              <a:t>- analysis/m10_behavior_authoritative_language_acceptance_2026-08-15.md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秒。M11 先把可以說與不能說分開；M12 用論文方法總評後，中央優勢仍不成立。M13 第一次接公開 PUB 也沒有勝，而且暴露 schema 問題。M14 只修 schema 後找到 T13 的 development signal。M15 才在生成前固定規則，使用 300 個全新案例做確認。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analysis/m11_research_evidence_closure_acceptance_2026-08-15.md</a:t>
            </a:r>
          </a:p>
          <a:p xmlns:a="http://schemas.openxmlformats.org/drawingml/2006/main">
            <a:r>
              <a:t>- analysis/m12_literature_grounded_evaluation_report_2026-08-17.md</a:t>
            </a:r>
          </a:p>
          <a:p xmlns:a="http://schemas.openxmlformats.org/drawingml/2006/main">
            <a:r>
              <a:t>- analysis/m13_pub_pragmatics_report_2026-08-17.md</a:t>
            </a:r>
          </a:p>
          <a:p xmlns:a="http://schemas.openxmlformats.org/drawingml/2006/main">
            <a:r>
              <a:t>- analysis/m14_pub_schema_replication_report_2026-08-17.md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105 秒。這頁不只講題目，而是跑進系統後的實際 schema。PUB、T13 和 deixis 先用一句話定義；接著看中間結果：字面內容是 pineapples，真正問題目標是 broccoli，there 的地點是 closet，但物品身分不同；替代解釋保留 broccoli 的位置未知，最後才把 No 綁到 answer index。這就是 M15 實際測的語用分解模組。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 paper and benchmark: https://aclanthology.org/2024.findings-acl.719/</a:t>
            </a:r>
          </a:p>
          <a:p xmlns:a="http://schemas.openxmlformats.org/drawingml/2006/main">
            <a:r>
              <a:t>- Exact project case PUB-T13-112: analysis/m15_deixis_confirmation_raw_result.json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秒。這頁逐一解釋變因。自變因是回答前必須走的思考結構；依變因是同一題是否答對；控制變因讓兩邊使用完全相同模型、題目和 deterministic 設定；對照組不是弱直接回答，而是會深思與反證的 Generic。300 題都沒被 M13/M14 使用。唯一明顯限制是 Ours 多 9%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100 秒。這兩組不是直接從 PUB 論文拿來的現成模型。PUB 只提供題目與 gold answer；我在預註冊中自己建立兩條提示流程。Generic 是強對照，也包含觀察、兩步推理、反證與不確定性，不是弱的直接回答。Ours 則是原 UruhaBrain 左腦的一個語用器官，強制把字面、真正目標、上下文證據與替代讀法分開。兩邊模型、題目、選項與設定相同。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M15 condition schemas and prompts: run_m15_deixis_confirmation.py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- PUB paper supplies benchmark items and gold labels: https://aclanthology.org/2024.findings-acl.719/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秒。用非統計背景也能懂的方式講：這整頁的目的就是防止看完答案再改規則。Power 決定需要多少題；SESOI 決定多大的提升才值得；CI 和 p 值處理不確定性；parse 和 schema 保證流程真的執行。五項全部通過才算成功。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秒。Generic 52.7%，Ours 68.7%，同題成對差 +16pp。信賴區間排除零、McNemar p 約 0.00079，五個 gate 全部通過。精確說法是：在 qwen3.5:9b、這個 frozen protocol 和 PUB T13 上，明確語用分解具有正向 focused advantage。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秒。這張不再展示網站，而是直接把 300 個成對案例畫出來。藍色 123 題是 Ours-only correct，灰色 102 題是兩組相同，橘色 75 題是 Generic-only correct。123 減 75 等於 48，除以 300 正好是 16%。方格按類別排列只是視覺分組，不代表原始題目順序。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100 秒。先回答 Ours 是不是整套系統：不是。它是原 UruhaBrain 左腦中負責拆字面、真正目標、上下文證據與替代讀法的一個語用器官；記憶、狀態、行為選擇與右腦日文輸出不在 M15 的因變量裡。這一題中 Generic 其實推理出 no，但最後 answer index 綁到 Yes；Ours 保持 broccoli 與 pineapples 不同，最後選 No。Generic 並不弱：整體 52.7%，且有 75 題單獨勝過 Ours。本頁只說明一種錯誤機制，統計證據仍是 300 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rows for PUB-T13-112: analysis/m15_deixis_confirmation_raw_result.json</a:t>
            </a:r>
          </a:p>
          <a:p xmlns:a="http://schemas.openxmlformats.org/drawingml/2006/main">
            <a:r>
              <a:t>- M15 paired totals: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秒。老師可以把這個成果看成一個 scoped research contribution：工程鏈完整、負結果被保留、M15 有正式 same-model paired advantage。但是不能外推成系統已是人、理解所有語用、或已完成 Uruha 真人預測。研究價值在於模糊目標已被轉成可以反駁的實驗。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- Research boundaries: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75 秒。收尾不要說已經完成完整人類模型。這一年完成的是轉型：前半段把對話、記憶、人格和圖像系統做出來；後半段建立時間切分、baseline、消融、公開 benchmark 與 prereg；最後得到 M15 的窄正結果。原本的類人目標仍是長期方向，但現在每一步都能被驗證。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Annual evidence chain: CHAT_CONTEXT_COMPACTION_2026-08-10.md</a:t>
            </a:r>
          </a:p>
          <a:p xmlns:a="http://schemas.openxmlformats.org/drawingml/2006/main">
            <a:r>
              <a:t>- Next valid tests: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備用頁。若老師問資料或統計方法來源，再回到這張；正式報告不需要逐篇念。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https://aclanthology.org/2024.acl-long.747/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https://aclanthology.org/2021.acl-long.179/</a:t>
            </a:r>
          </a:p>
          <a:p xmlns:a="http://schemas.openxmlformats.org/drawingml/2006/main">
            <a:r>
              <a:t>- https://aclanthology.org/D12-1091/</a:t>
            </a:r>
          </a:p>
          <a:p xmlns:a="http://schemas.openxmlformats.org/drawingml/2006/main">
            <a:r>
              <a:t>- https://aclanthology.org/D16-1230/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d741d67e84a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9884ce71f24d45" /><Relationship Type="http://schemas.openxmlformats.org/officeDocument/2006/relationships/slideLayout" Target="/ppt/slideLayouts/slideLayout1.xml" Id="R4f601d347aca43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01d347aca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ea4c7f3d04121" /><Relationship Type="http://schemas.openxmlformats.org/officeDocument/2006/relationships/notesSlide" Target="/ppt/notesSlides/notesSlide1.xml" Id="R7b812b12ce824a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09dd5432548a5" /><Relationship Type="http://schemas.openxmlformats.org/officeDocument/2006/relationships/notesSlide" Target="/ppt/notesSlides/notesSlide2.xml" Id="Rf522864770b049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1e9ee31f64d11" /><Relationship Type="http://schemas.openxmlformats.org/officeDocument/2006/relationships/notesSlide" Target="/ppt/notesSlides/notesSlide3.xml" Id="Rf97589d3fb2b40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f0608c2224412" /><Relationship Type="http://schemas.openxmlformats.org/officeDocument/2006/relationships/notesSlide" Target="/ppt/notesSlides/notesSlide4.xml" Id="R6d90416d379544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7cf2823a04aa8" /><Relationship Type="http://schemas.openxmlformats.org/officeDocument/2006/relationships/notesSlide" Target="/ppt/notesSlides/notesSlide5.xml" Id="Rbb476ba5261d45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722003f174f55" /><Relationship Type="http://schemas.openxmlformats.org/officeDocument/2006/relationships/notesSlide" Target="/ppt/notesSlides/notesSlide6.xml" Id="R55572b449ac54a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b981df3cd4a9d" /><Relationship Type="http://schemas.openxmlformats.org/officeDocument/2006/relationships/notesSlide" Target="/ppt/notesSlides/notesSlide7.xml" Id="Ra9c67d6c303841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8e24856a4df9" /><Relationship Type="http://schemas.openxmlformats.org/officeDocument/2006/relationships/notesSlide" Target="/ppt/notesSlides/notesSlide8.xml" Id="Rde0b1dc0242542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13b3bd7d44113" /><Relationship Type="http://schemas.openxmlformats.org/officeDocument/2006/relationships/notesSlide" Target="/ppt/notesSlides/notesSlide9.xml" Id="Rccc6e3330b9d48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b79dfe26046ae" /><Relationship Type="http://schemas.openxmlformats.org/officeDocument/2006/relationships/notesSlide" Target="/ppt/notesSlides/notesSlide10.xml" Id="R62dab42fbac147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7923f54874615" /><Relationship Type="http://schemas.openxmlformats.org/officeDocument/2006/relationships/notesSlide" Target="/ppt/notesSlides/notesSlide11.xml" Id="Ra5fe1bd860064c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bc152ab7946f9" /><Relationship Type="http://schemas.openxmlformats.org/officeDocument/2006/relationships/notesSlide" Target="/ppt/notesSlides/notesSlide12.xml" Id="R66fda5659bf34b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c4b96923e40e9" /><Relationship Type="http://schemas.openxmlformats.org/officeDocument/2006/relationships/notesSlide" Target="/ppt/notesSlides/notesSlide13.xml" Id="R0c8666281fbc45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20ecad01743b9" /><Relationship Type="http://schemas.openxmlformats.org/officeDocument/2006/relationships/notesSlide" Target="/ppt/notesSlides/notesSlide14.xml" Id="Rb3cd54adca6846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77c5c1212414c" /><Relationship Type="http://schemas.openxmlformats.org/officeDocument/2006/relationships/notesSlide" Target="/ppt/notesSlides/notesSlide15.xml" Id="R874b096fb6e64d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0d5cd92e64161" /><Relationship Type="http://schemas.openxmlformats.org/officeDocument/2006/relationships/chart" Target="/ppt/slides/charts/chart1.xml" Id="R5039d5230e6044aa" /><Relationship Type="http://schemas.openxmlformats.org/officeDocument/2006/relationships/notesSlide" Target="/ppt/notesSlides/notesSlide16.xml" Id="Rfaeb78eabc0643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f657ffbcf4ffb" /><Relationship Type="http://schemas.openxmlformats.org/officeDocument/2006/relationships/notesSlide" Target="/ppt/notesSlides/notesSlide17.xml" Id="R5528e5c64b504c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259bbbbdd4651" /><Relationship Type="http://schemas.openxmlformats.org/officeDocument/2006/relationships/notesSlide" Target="/ppt/notesSlides/notesSlide18.xml" Id="Ra33e549daea646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566736fc4b43" /><Relationship Type="http://schemas.openxmlformats.org/officeDocument/2006/relationships/notesSlide" Target="/ppt/notesSlides/notesSlide19.xml" Id="R3ff8edd92c954b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d6e186bd1499f" /><Relationship Type="http://schemas.openxmlformats.org/officeDocument/2006/relationships/notesSlide" Target="/ppt/notesSlides/notesSlide20.xml" Id="R0dfd3f7e5bef48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5b3d451ea45eb" /><Relationship Type="http://schemas.openxmlformats.org/officeDocument/2006/relationships/notesSlide" Target="/ppt/notesSlides/notesSlide21.xml" Id="R42372e866c6e4db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Exact accuracy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一般深思 Generic</c:v>
              </c:pt>
              <c:pt idx="1">
                <c:v>語用分解 Ours</c:v>
              </c:pt>
            </c:strLit>
          </c:cat>
          <c:val>
            <c:numLit>
              <c:formatCode>General</c:formatCode>
              <c:ptCount val="2"/>
              <c:pt idx="0">
                <c:v>52.7</c:v>
              </c:pt>
              <c:pt idx="1">
                <c:v>68.7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7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7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42ECD-5AA9-47E7-A0BC-8E51A0D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ONE-YEAR RESEARCH SUMMARY · 2025–2026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1B25C-956A-4C44-8B71-21FE13A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572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從「做得像人」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到「可以被驗證」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2D519-8521-47BC-A917-2558042C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rPr>
              <a:t>UruhaBrain 一年研究總報告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60E34-C669-47F4-BE0E-F1D98F9A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44BB2-1542-4E58-A6AB-28B94802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對話、記憶、人格假設 → 實驗架構 → M15 正式結果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2C34D-2FBA-4BD4-B074-E0C47D0C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AFC5D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AFC5DE"/>
                </a:solidFill>
                <a:latin typeface="Noto Sans CJK TC"/>
                <a:ea typeface="Noto Sans CJK TC"/>
                <a:cs typeface="Noto Sans CJK TC"/>
              </a:rPr>
              <a:t>Jerry Chang · 2026.08.19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95BE7-0338-4CB3-90FB-9CB1642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72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20 分鐘</a:t>
            </a:r>
          </a:p>
        </p:txBody>
      </p:sp>
    </p:spTree>
    <p:extLst>
      <p:ext uri="{BB962C8B-B14F-4D97-AF65-F5344CB8AC3E}">
        <p14:creationId xmlns:p14="http://schemas.microsoft.com/office/powerpoint/2010/main" val="418755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517AA0-7B77-4EFD-AF1C-1C1FACE6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THE ORIGINAL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F5512-EEF5-41BC-B622-E3DDC18F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我一開始想還原的，是人從「聽到」到「說出」的整段過程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721CE-DB11-4172-9161-F1B9AC5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D5164-93DB-4BDB-9748-23CA871D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3EE78-18E7-4D84-8C35-2A9DE3E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8AA54-70BE-434D-957C-F16267B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F17B9-BF54-47FF-9C49-74F89ABE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8B23D-A051-458A-B0F6-AD96AFF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A1415-06A9-4360-AB0E-8244AF5A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FBA9A-AA23-477C-8ED7-82A4DFC3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639E9-95CB-47AD-AB03-0D962227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AA7EF-77F0-468D-83FE-DB2B059C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4A79A-72CD-439D-8013-85E8BE28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7660D-C728-42E9-8E9B-9306CBB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F6D6F-0C4F-4F4E-A031-33589190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552E1-102B-41AC-8BBE-D46C4FB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1D24F-4A5A-4FAE-BA40-EAEEA07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4F79C-65DD-4D41-A571-B575B17C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接收訊號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A29B1-199C-4506-A26D-7A6502FF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看見文字／聽見聲音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A2B0B-5B0D-4E9D-9A22-A2C182B7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23AB2-7FEE-4361-9847-E3E1D4D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CA8DA-26C4-4DF5-B1BA-985DD005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E1BEE-6A69-4D6F-8D0D-AB2D94AC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理解意思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84459-9900-4672-AB71-5BE693D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字面、語氣、指涉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2C9E5-5B4B-495A-8973-6FFE8FFA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A56F7-DADB-41F5-9D65-A9FFCE4D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D1537-0B89-40EF-9F7A-C7D2EAD4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1C860-D087-4065-BDAB-2251CC7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喚起記憶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7AB03-486C-4065-B490-799AFDB2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過去經驗與人物關係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A3477-525C-43F6-ADAA-A5D5D06A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8A3AF5-6102-4955-870E-18E80E23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591457-04D7-4ACE-A8E8-F39E02B8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1D5A06-3175-40DB-A385-D7F271CC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評估狀態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CF6C53-FF43-42D7-8B89-D381AC45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重要嗎？期待還是威脅？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DD5BA-E9D0-4CB5-9C4B-7D7BD4E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85AB6-CFC3-425F-9F2A-4A915070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72D"/>
          </a:solidFill>
          <a:ln xmlns:a="http://schemas.openxmlformats.org/drawingml/2006/main" w="0">
            <a:solidFill>
              <a:srgbClr val="E5A7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0CE942-36FA-4CD1-81E7-06823D1E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53C722-0409-4D00-A933-9ECCCD9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選擇反應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89C8F1-9D24-46B0-9135-0852C4D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安慰、解法、吐槽或追問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881DA8-14D7-47B1-8709-F5449C3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8BBA3F-54D3-419E-B4A1-5781369F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5AB1C3-FB6B-4143-8A40-5ADA195A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57C1D-0FFD-430A-B9AD-07D1FD8D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組成語句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8B514F-F260-4BE9-8F8A-3E677B28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把決定說成自然語言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CB3AFC-C391-4E2C-98D2-FC5C42B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782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503711-FC78-4027-B58B-157773C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例：『我從早上就一直坐不住，腦子停不下來。』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D4DBC7-7109-41E8-B16B-BD2F199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3860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可能在求方法、求安慰、分享興奮，或等熟人吐槽；只看字面無法決定。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BAB6D8-0168-44DE-91BE-2E65EADD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914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685B04-8D47-428C-912F-C2DBA764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62550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回應 = f（當前訊號、可用記憶、評估、目標、關係、人格、不確定性）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7AC003-3D50-45AD-A306-13499745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這不是宣稱複製生物腦；而是把認知科學常談的功能，改寫成可以執行與驗證的計算流程。</a:t>
            </a:r>
          </a:p>
        </p:txBody>
      </p:sp>
    </p:spTree>
    <p:extLst>
      <p:ext uri="{BB962C8B-B14F-4D97-AF65-F5344CB8AC3E}">
        <p14:creationId xmlns:p14="http://schemas.microsoft.com/office/powerpoint/2010/main" val="832776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D0078B-95EA-4579-A733-2B818C1E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THE FIRST WORKING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6FF4C-E07A-48F4-9C41-82B16681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我把這段過程做成「左腦＋記憶＋右腦」的工程架構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1007A-357C-4C57-8957-C2F1BF95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03F90-2742-4884-BD90-AEF55D4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F4AD2-7141-44BA-88AA-F25B8685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CAD1E-2B4B-43A6-9339-4CE2E98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BC719-76F2-4438-A15E-C2456B53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48EDF-7399-4106-8D7B-A8FAD79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A35D2-416C-4F79-921F-2B09E262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194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1E974-5FF7-425D-AFC9-089FB51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BB9C0-7AB6-4519-8F6B-CA55E16C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194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69FCB-D446-40C1-8CB8-29C8D4A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A3518-6D44-4EB8-B5F7-2A58FEC3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23950" cy="137160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38F94-EBFC-479F-BACD-9056607D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輸入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C0B34-41BA-40B7-AD44-59366BE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文字／語音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BDCA6-5E4C-4CE6-A119-8D19F4F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90700"/>
            <a:ext cx="22479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65559-F881-4597-B4F3-4C41C91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383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1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左腦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DA37D-6AF3-4E94-AB43-B9749E5D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理解字面與意圖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推測他人想法（ToM）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提出候選反應與計畫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67230-786C-4A0F-BA08-90605CD4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90700"/>
            <a:ext cx="22479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9CB5F-B575-450D-8055-31367F0E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記憶／狀態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C1374-73C1-419F-B92A-D6CEE48C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431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工作記憶與長期記憶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當下目標、關係與情緒假設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把過去帶進現在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95266-B047-431C-9385-24AC38E8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1714500" cy="19812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6E567-04A0-412A-B29D-4D3C867C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1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右腦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FC5C1-C7C9-4EE8-810C-F19E084C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1257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保留左腦意思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加入 Uruha 風格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說成自然日文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ADD0D-E7FF-42CC-8718-65982C2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0"/>
            <a:ext cx="895350" cy="13716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B244D-9B9E-4F01-94C3-26328C6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336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輸出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FCF55-F899-41B5-BF07-9A1586D0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80035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rPr>
              <a:t>使用者看到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rPr>
              <a:t>的回答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FF7482-4541-4279-876E-6C8D4B0B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18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工程命名只是功能分工，不是宣稱軟體真的等同人類左右腦。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343A0-2E4C-48ED-A229-480CDFE1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5A59A-4BD3-4882-A028-FA099AF0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早期驗證 1｜ToMBench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0121BD-D3DA-47C2-9CF4-E7E37B71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40 題，正確率 97.5%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AC188-B8D8-485F-856E-9CD7D1C5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40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代表系統級心智推理；部分來自 symbolic selector。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14AD79-005F-4BD4-9FC6-2BA1BDD4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9B633-5B44-4F7F-943E-232AC7B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早期驗證 2｜MPI-style Big Five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11D892-598D-456A-9FA3-3F05C368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30 次，穩定度 0.7554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263CC4-88BC-4A7C-BA5C-E5DAC9D1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440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代表人格回答有一定一致性；不是人格真實性證明。</a:t>
            </a:r>
          </a:p>
        </p:txBody>
      </p:sp>
    </p:spTree>
    <p:extLst>
      <p:ext uri="{BB962C8B-B14F-4D97-AF65-F5344CB8AC3E}">
        <p14:creationId xmlns:p14="http://schemas.microsoft.com/office/powerpoint/2010/main" val="1551996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E88CA-ED6C-484E-8248-B1400CB7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WHY THE OLD EVALUATION COULD NOT ANSWER THE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50393-7C9B-4353-ABFA-73E3F66A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問題不在分數不夠，而是沒有論文規定「過這條線就是人」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9F61A-67CC-47E1-B5AA-59986A64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6C5B9-DCFD-45EA-9EE1-9C9A79D0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8E554-60AF-42F9-9452-1345365E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D80D-3871-4294-8207-EAC0406A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ToMBench 97.5%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FCD37-B35D-4F6B-A8C2-DB02372B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9A1FE-818A-423B-8A56-D242233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只表示這組系統能解多數心智推理題；不能代表所有真實互動。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0F74A-C88B-4CD8-91E0-4519124C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DA167-6E97-485A-A76B-10D6CC64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Big Five 0.7554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86BDB-0E74-45BF-A74F-5AF5620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3D8"/>
          </a:solidFill>
          <a:ln xmlns:a="http://schemas.openxmlformats.org/drawingml/2006/main" w="0">
            <a:solidFill>
              <a:srgbClr val="7C6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975C5-F4E8-4C56-8E73-C5F2A92B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只表示多次回答有一定一致性；不同真人本來就有不同人格。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663BE-D3AF-40D6-8EED-46A292BC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E2AEA-7D78-4CE2-ABFF-F972E27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自然對話／記憶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8D273-C7CE-46C9-8E14-6231782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337A6-52AC-41B0-BEA0-297BE12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一句話像人、或記憶方式像人，都不能推導整個系統就是人。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ABEE3-9A58-4B63-A475-0EFCA889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人有不同文化、人格、記憶、情境與說話方式；同一句話也可能同時有多個合理反應。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DB93E-A32F-40C5-A10E-3B6784C1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0325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1C2B8-F76D-4890-8686-2ED47B5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38675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所以「像不像人」不是一個能被穩定重做、證實或推翻的單一研究變量。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8DE56-21B6-4805-8D97-B86793C2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2925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68D48-3460-468B-9401-0FB3927D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768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C58AC-B451-494E-A6D1-39673A73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我因此改問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5BBDF-8926-4632-A2FE-CAD00CD2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673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哪一個中間機制，真的讓未見行為預測更準？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DC27A-8E02-44F1-AB96-674FF594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這就是從舊研究轉到 M1–M15 的直接原因。</a:t>
            </a:r>
          </a:p>
        </p:txBody>
      </p:sp>
    </p:spTree>
    <p:extLst>
      <p:ext uri="{BB962C8B-B14F-4D97-AF65-F5344CB8AC3E}">
        <p14:creationId xmlns:p14="http://schemas.microsoft.com/office/powerpoint/2010/main" val="61911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AE00A-7DDA-43E0-A237-CE00195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THE BRIDGE FROM ENGINEERING TO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6784E-CC27-4BBE-A701-5296E37A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我沒有換題目：我只是把「整個人」拆成一個個可被推翻的假設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37CB7-B24B-4FCD-82B7-B9987D0D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07EE-3E52-4EC3-A6E4-9472F2F6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3815B-9025-47F8-ABAB-D276D015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252"/>
          </a:solidFill>
          <a:ln xmlns:a="http://schemas.openxmlformats.org/drawingml/2006/main" w="0">
            <a:solidFill>
              <a:srgbClr val="D752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1D0B7-7CFC-4A46-896B-2B7E11B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812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BD0DD-704F-488F-9980-639A65E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D7240-F968-4C27-BF0C-E53B932A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812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BD8ED-C06D-48BC-BD2A-B8E61D0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8638B-A8E0-47E4-920E-06680F9D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812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875FF-D27E-4DEA-A8B3-824CD534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3622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7C6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118BC-4CC0-477B-A45D-D0B449FA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原本願景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D8180-560D-4FCC-AC1C-D893776E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把輸入到輸出的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整段人類反應做出來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4B9A5-8D8C-477B-9BD6-FC972FF5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3622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752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B9F54-BE40-4AA7-B70D-1443E4F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遇到問題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10882-56C8-40C9-895F-D09D813C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812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「像人」沒有共同門檻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漂亮對話也不能當證據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B8CCE-BBCA-47B6-8BD7-7E74DBF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3622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F8FAF-7305-4369-9B9F-C64FFC7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研究轉換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286D3-7329-4854-8FB8-511721B6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固定其他條件，只改一個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記憶／狀態／推理機制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DC283-8143-4D49-B979-66C4C17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3622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608C6-10A0-43B4-B281-1F4BC050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47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可反駁問題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4CD2D-E5FA-4ED4-83A9-75C344D7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812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拿掉它後，未見行為的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機率與正確率會不會改變？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7ACFD-DF01-4FD4-9058-33F40C4C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一個最簡單的因果例子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CF002-BAF7-4635-8C22-0BC33730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85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89D4F-6A5D-4EFC-9164-1AD95C87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有記憶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520C7-C24B-4713-B4CC-44F804F6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9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昨天說今天要發表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10A48-F8DE-461C-AFA6-963177FC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15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D8EA6-9BCF-4E3E-A6E2-9B7824C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19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預測「緊張／需要支持」機率提高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8F197-EFAA-418D-AE63-B44EBFFA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拿掉記憶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EBAB4-1D3E-4C63-BE2E-AA096F5D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只剩『坐不住』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0D929-CDF2-454D-BA44-9C825ED1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101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7B3CA-3204-46F8-AA94-02C38FD3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48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如果預測完全不變，記憶就沒有被證明有用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A78F3-AF77-4AEE-AF1F-AE6A99BF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以前的左腦、記憶、狀態與右腦成為被測模組；M1–M15 是逐步建立可信測量的方法。</a:t>
            </a:r>
          </a:p>
        </p:txBody>
      </p:sp>
    </p:spTree>
    <p:extLst>
      <p:ext uri="{BB962C8B-B14F-4D97-AF65-F5344CB8AC3E}">
        <p14:creationId xmlns:p14="http://schemas.microsoft.com/office/powerpoint/2010/main" val="1580159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65BC8-25DF-4CFA-862C-9C248E74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ONE ACTUAL FROZEN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87CB7-CCA4-4F63-AB9C-38989294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用一個實際輸入，看系統每一層到底產生什麼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161BB-3D6D-45EA-99C7-7EE9C771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1B9A2-BB3C-42FB-B3E4-FFAE4227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A8AE4-F4F6-47AB-B0BF-B7E2BC74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3A248-33B0-4005-B920-5EC3B5F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輸入：我從早上就一直坐不住，腦子停不下來。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716B4-A251-4522-87FD-7377E849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FC3C9-D606-40D2-ADD6-825E6C5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字面抽取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23039-BB76-4D16-95DD-55D60BB0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從早上開始坐立不安；沒有直接要求解法。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F55B7-B9F1-4D03-8D49-D5F4ABBA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51FB7-AA95-4143-B58E-31AA51F3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記憶檢查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8FB18-A4FC-47F2-9DAC-0BD6C8E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24175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本案例沒有前文；睡眠、身體不適與原因都標成 unknown。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49612-C092-49E4-9403-D7D67782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00A7F-E21C-4884-816B-E0D789F2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狀態原子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97172-B3E0-433A-9714-B733C300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23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sleep_debt 0.30（信心 0.12）；solution_request 0.38（信心 0.20）。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22ED-E420-45B1-968F-8EA3AF94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09356-7E15-41B3-B45D-167ADEF8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候選政策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15282-377F-4F86-81F3-BC6C71F6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00525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解法／只傾聽／分享興奮／熟人吐槽／低壓追問。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2D0A9-B00B-4B4A-B70A-AAACBA98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7AB73-8F1C-418F-8072-A33AB9A9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選中政策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06B42-3436-4A21-8E32-A1B0FC48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387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calibrate_need：資訊不足，先分辨沒睡還是想法停不下來。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9B2D5-BC7A-481F-88A8-B50A924B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10058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62B71-5478-4699-A6F4-1D3BEEC8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34050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實際日文輸出：『寝てないのか、考え事で止まんないのか、まずそこだけどっち？』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FD15B-DAB0-4E31-9FF6-11E11C21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76975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同一句輸入若加入「平常會互相吐槽、不是求方法」的記憶，政策會改成 playful_tease，實際輸出也會改變。</a:t>
            </a:r>
          </a:p>
        </p:txBody>
      </p:sp>
    </p:spTree>
    <p:extLst>
      <p:ext uri="{BB962C8B-B14F-4D97-AF65-F5344CB8AC3E}">
        <p14:creationId xmlns:p14="http://schemas.microsoft.com/office/powerpoint/2010/main" val="216319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C50C9F-EF35-4318-9D4E-B6BA623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WHY THE FIVE-STEP LOOP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3BABA-0059-4FCB-9ADB-38E1E153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為什麼需要「理解」？因為真正影響回覆的中間狀態看不見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36A8D-5BB8-4444-B2D7-DBB0E5E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215FE-53B8-4B04-8990-27931A7B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51A83-803A-4399-ABC7-B5D9F809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E2247-B25B-4E96-82A1-219B1FD4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同一句『坐不住』 → 可能是缺睡、焦慮、興奮、求解法、求陪伴或邀請吐槽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763C-408B-4D85-8BE6-68036D37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70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如果系統不推測「現在是哪一種狀態」，就只能給通用答案；但狀態不能直接讀取，所以只能用可驗證的假設逼近。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6EE16-90A8-40AA-BA0D-611C8DA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57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AF57C-C34A-452D-B147-96C2C94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052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8241C-B238-4B7E-910B-C0F7C648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57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936F0-D61A-4948-AA13-45524E96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052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8FC9F-D547-4195-AC71-E21646C0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57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D6F89-7007-4F80-83C1-DDEE0042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052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074A6-A60D-41D3-84C6-F3DFCB6C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57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4BE2C-F45A-47C6-BB29-E8F22C9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052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61E4D-78C1-45DF-A009-C01D10BD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3AA57-4A50-46E0-ABD8-B7DBE0A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5F3E7-6119-47A9-809A-CB82363E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306D9-D7CF-4FD6-AF92-E5EE4811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假設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C382E-155F-4A0C-83CC-46031AF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把看不見的狀態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先寫成暫定變數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A02F7-9911-4478-A234-0268F20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可被推翻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80D18-75B0-454E-A21F-8D651A1E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F1023-EECC-4A1D-8C7B-A0F78DD6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53C84-1E38-4AA6-AEF0-2D98DBBC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6C524-4011-47BA-8A34-B8E5AD97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證據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DDC40-5330-4FA7-A742-A6C816A5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綁定當前字句、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記憶與關係來源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2DBF6-0A16-4F93-845B-3CEA6A4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不是憑空猜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9B0650-1511-407A-872D-2085E3E1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2A43F-F694-4D29-8E90-0DE0F3A9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64632D-B2CE-4045-B750-ADAA660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E7E38-3CE7-4E09-BC47-BAB7A57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預測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1E0CAE-EEEE-4CFF-8A19-1D3AA951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預測下一步反應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或較可能想要的回覆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C19E4-EDDB-40EA-927A-2C19A249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可以計分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4E1B81-CB7A-487E-90FC-56C0F02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275378-596C-44EC-B008-481F9FDF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825A46-058A-4711-9F79-4E69CB36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33F8D3-BCE2-41C1-9915-FC1A2F66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結果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EB9F3D-D7EC-4AE4-9E8A-60E8E4BC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等使用者後續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支持、否定或保持未知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46AABB-59CD-413B-A7D7-62F26AC2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知道猜對沒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F166D9-EFB2-4038-A0C8-92583FA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88CEA-2D46-4874-B00E-ED9D20F3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FB003A-DAE5-49DB-BD4E-6B6070B6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4A3CFE-0DB6-480F-93B0-CEC339B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更新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68BFC4-EDAC-48B5-A309-D5D654A9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調低、撤銷、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保留或提高變數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8E6723-42D1-4217-955B-88CA909C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模型才會學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C6484B-1C06-41C8-A49D-25FA84CB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91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E07981-A511-4E59-81D7-219A213C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實際多輪結果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8AF2B5-4698-4DF1-B136-9C1D6B1F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10150"/>
            <a:ext cx="784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第 1 輪：系統保留「期待／不安」兩種可能，先問哪一邊。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9AA73A-A5E2-46E6-AB72-8464CA41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102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第 2 輪：使用者說不是緊張 → 原假設被否定，回覆『そっちだな、読み違えた。』並更新後續目標。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B52FCB-DFAB-43F6-AA78-1C390155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所以這五步不是『狀態確認表』，而是讓人類方程式能被後續行為驗證、修正與逐步逼近的最小閉環。</a:t>
            </a:r>
          </a:p>
        </p:txBody>
      </p:sp>
    </p:spTree>
    <p:extLst>
      <p:ext uri="{BB962C8B-B14F-4D97-AF65-F5344CB8AC3E}">
        <p14:creationId xmlns:p14="http://schemas.microsoft.com/office/powerpoint/2010/main" val="720561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6E386-25A9-456B-8B66-8ED8BFB1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LITERATURE-BASED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8EB48-0612-4FC5-95FA-5E2DD2BA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沒有一篇論文能評完全部，所以我改成分區塊驗證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DAC14-CF07-4256-80D1-3F167CE1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73759-D3B2-4A8F-9B62-F5ECB3C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0C35F-0C96-4A3D-A0C9-1B52445C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9F975-8598-44F6-A52A-04B2B482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目前沒有一個完整標準可以一次判斷我的系統，因此我從不同論文借用已發表的方法，分別驗證記憶、語用、機率與對照。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FFB35-B04E-462F-B3B5-955A1731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CAED6-CDE2-4493-83FF-1E8CB09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 ·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2F96B-5FED-4B02-8134-09718B45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語用理解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79B2C-AFD1-42A5-BB1A-D188B1FE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241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用公開題庫測指示語、暗示等窄能力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D2646-5C2D-43D7-AE63-22CB642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54C56-621C-4D8B-8F81-C1BC83C5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LoCoMo ·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6485D-FA38-4517-879C-CEFF2F7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33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長期記憶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766C0-0DB4-461F-8DE6-4767C203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不只問一題，而是分成回想、摘要、生成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82B79-2703-46A3-93F3-A9FFC077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E5F6C-D264-4DAA-8939-D7391256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Gneiting / Guo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F7F19-6C0B-4896-A6F6-5DC2344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機率可信度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0733E-F26F-460A-9BB8-0653310D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433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錯得很有自信要受到更大懲罰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2A297-738D-426D-ABC4-623B552D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4C8C6-5FC5-4A99-A1C1-4D4DDF5D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Peyrard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93A4E-0CCD-4831-A8A7-B2FCC73E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52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公平比較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5E328-F240-4033-AAFE-C1975B2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529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同一題下做成對比較，不只看兩個平均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33B72-9763-401A-9152-8F13627F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3FD89-FCE3-4FEA-BBBA-9062DF99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Berg-Kirkpatrick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24D3A-6471-4735-B8D3-7795272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統計不確定性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939E4-65C9-4120-B7D1-526ED08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625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用重抽樣檢查差異是否穩定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7D18B-4824-42D7-A132-3DD7394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47EEB-8CB7-44AD-A924-1FC42648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Liu et 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A1455-17D8-43D0-9CB8-C6C65E1B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對話品質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EEDE89-9994-402B-9278-488311B6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721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自動文字相似度不能代替真人感受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9224B9-8795-4F58-B77F-F6A85751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這些方法拼在一起，才形成目前的評測框架；它們不是一個『人類分數』。</a:t>
            </a:r>
          </a:p>
        </p:txBody>
      </p:sp>
    </p:spTree>
    <p:extLst>
      <p:ext uri="{BB962C8B-B14F-4D97-AF65-F5344CB8AC3E}">
        <p14:creationId xmlns:p14="http://schemas.microsoft.com/office/powerpoint/2010/main" val="2103036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15B1E-0032-45BA-A817-8FEFB909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ANNUAL ROADMAP ·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59204-73E3-4E9B-942B-6908855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M1–M5：先確定方程式只用「當下的人」真的擁有的資訊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6AACB-D117-45DF-BB86-28C6C41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9B89B-5FD9-45F6-862B-66A3645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9E008-5132-4DB9-BDE6-A3FEECCE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A1129-7C3C-42C0-BCA5-955B48FD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5425E-D650-4F4D-9743-7E0FF62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為什麼人類方程式需要它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FF1C2-D795-4BE8-94E9-41AA2183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84B59-0B3B-4CD1-81C9-EA80976E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40CD8-35F5-4B99-B6D2-949DD376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先封存時間 t 以前資料，再預測 t 以後。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150BC-C6F8-43DE-919C-BD565DFE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真人在 t 時也看不到未來；若系統偷看到後來資訊，就不是同一條件。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F1E88-C21E-479E-A8EE-B9B20EAA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BDE6F-A654-46E9-B85C-89C6265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185BF-983F-42F5-9993-86DC6D2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和隨機、LLM、人格 prompt、RAG、完整歷史比較。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31273-8D71-40A7-BC64-09604D46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若複雜方程式不比同資訊量的簡單方法好，額外器官就沒有價值。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2687B-0E78-437C-87C3-C85D748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4AD5F-2040-476C-913F-DC1CDE45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2F3DD-21EE-46C8-9344-35FD473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只從 t 以前的歷史，選出本輪真正相關記憶。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73C3B-BF17-48AD-8EA8-AE5FB1F5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人不是把一生全文同時放進腦中；記憶必須有來源、時間、衰減與選擇。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C3D90-4EA0-47E5-B564-B3BE6498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92C32-DB12-47C8-A689-366E4E84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C87FA-E3BA-4A85-9504-17F4A3DD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把當下狀態寫成有信心與證據的暫定快照。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B01E0-278E-43CA-8371-56C0B81F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必須分開 observed／inferred／unknown，否則會把猜測冒充真實心理。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E6B81-ED96-4415-A4BA-04D22A06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EA5B1-2F66-4E45-BB29-FB78FF7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97AFC-73A3-4213-A49E-84BD7B06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比較事件前後，狀態變數應如何轉移。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77422-66A3-472E-858B-2D038A24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沒有狀態轉移，方程式只會描述固定人格，無法描述會改變的人。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65418-6D94-4A43-BECA-56AC8DCA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這五步是在建立公平的「同一時間點、同一資訊邊界」；還沒有證明 Uruha 預測成功。</a:t>
            </a:r>
          </a:p>
        </p:txBody>
      </p:sp>
    </p:spTree>
    <p:extLst>
      <p:ext uri="{BB962C8B-B14F-4D97-AF65-F5344CB8AC3E}">
        <p14:creationId xmlns:p14="http://schemas.microsoft.com/office/powerpoint/2010/main" val="16808999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CBE87-7A1F-454D-8BB1-843D8476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ANNUAL ROADMAP · MECHANISM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AD108-2ECA-48FC-8549-96932E1A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M6–M10：開始問每個器官到底有沒有用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7C85B-D910-4552-A970-8A55388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0A62F-5826-408D-A241-371EDD6B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77B04-AED6-4618-81BB-9F2C1978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E7768-4848-4592-8493-976DC101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F2157-BD04-469E-AED6-7F9485B7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實際學到什麼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23492-9D2E-4CDE-94D7-EA28D59C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4442B-2F96-4A35-BF31-75821D7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DF4C1-95CA-48BF-AC1F-15DAAB0C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回答前能不能先預測行為機率？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E2B3F-4D8E-4752-9017-7F3DCCC5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完成 behavior distribution；小型合成資料方向有利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FC125-C737-4E39-9A23-DDB051C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A116B-463A-4C32-B859-15E31CDC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14BFE-F1ED-48FB-9ED2-BD1C2CC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拿掉記憶、狀態或關係後，結果會不會變？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7E967-A064-4939-81A8-C929285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整體狀態有用，但當時的時間轉移反而造成錯誤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476DF-8B94-48B8-99F3-C89F13D4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404CC-E38B-48B3-B1AD-0CCA874A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B37F6-7B78-41DB-BCBA-C6F91A7E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換新語句、不同時間點、更多歷史還穩不穩？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A00AA-8D75-4AC0-BFE3-0781DBA2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正式 gate 失敗；強 B5 baseline 勝過 Ours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5A8D7-BAD2-4D6D-9A49-2E69E2C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8CB05-8A6C-4BD0-9248-8F0699A5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C374D-C901-4C6D-B1FB-20A01288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同一架構換成第二個人還能工作嗎？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5919D-F9BC-43F0-92BA-8DA7728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工程能轉移，但 full adaptation 預測更差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2B4F0-002C-4390-BB6B-91632E16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D764F-51C7-4B7E-9214-17D983CD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M10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4BDCD-F228-48F7-91BF-19B9457F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行為決定後，能否說成自然日文又不改掉原意？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542E6-68B4-4FAA-A628-6EE36E23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語言 guard 完成；真人自然度證據仍待評分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B30CE-820F-410E-AFF2-8BE6D949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這一段最重要的成果不是全勝，而是找到哪些模組有用、哪些模組會拖累。</a:t>
            </a:r>
          </a:p>
        </p:txBody>
      </p:sp>
    </p:spTree>
    <p:extLst>
      <p:ext uri="{BB962C8B-B14F-4D97-AF65-F5344CB8AC3E}">
        <p14:creationId xmlns:p14="http://schemas.microsoft.com/office/powerpoint/2010/main" val="15011861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2386B-B91F-4236-83C6-C0DBBCE1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ANNUAL ROADMAP · EVIDENCE STRENGTHENING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16588-49BB-422E-AF69-1F523C36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M11–M15：從自製測試走到公開基準與前瞻確認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EEBAF-9261-4EB4-A7E1-239EE74C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B7EFA-1A2F-4AA8-BCF9-C6EE3605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7673A-55DD-4612-A129-2B354621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D6DE6-5BA0-49D0-BD39-35565287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5F352-6FF4-4ECA-9CAB-3AB2FEA4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實際學到什麼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948F3-5046-4B0F-8F31-D1F0016D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0E3C7-8C13-4666-8CE9-3D015005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08F5C-0810-45CF-9EB9-57556CAA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目前到底有哪些證據、哪些不能說？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7D7E5-0948-4704-A0D6-ABDA68BF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把成功、失敗、缺口與人類 gate 放在同一張證據圖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31F05-3A66-41DE-BBE2-4195AD3F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03AD8-2170-452C-A871-CA4998B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387E6-5653-4265-89FB-4E484F7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評價方法能不能對齊已發表論文？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7FAAB-4063-4737-B044-F95EC88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重算成對統計；中央系統優勢仍不支持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E5DF6-805C-4197-82FE-4867F05B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3B7D8-3514-40DE-94D0-2DC4BE0D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0635E-FD7C-439E-BF3F-90DA62CE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放到 ACL 2024 PUB 語用基準會怎樣？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9BDEE-74D2-49F5-81AE-2D2E1DAB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第一次未勝 Generic；還發現 schema 只有 23.4% 完整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B9975-8830-46EC-BDE8-37470EE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93556-702D-4018-8984-9C6B5F43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EBD82-2289-4C14-93C2-1C94D98D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只修 schema，換全新題目後結果會怎樣？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9CCD1-9FC0-4A5A-A8C6-2B3B9A66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整體仍不確定，但 T13 指示語出現 +37.5pp 訊號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CEF7A-9AFC-4C93-A613-56F01BEA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500E5-DEF6-4A5C-8EA7-D641943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53582-A89C-4F00-A9A6-CD698241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這個 T13 訊號能否在 300 個新案例確認？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46B00-C2E6-4C42-B975-64332F4D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五個事前 gate 全過；觀察到 +16.0pp focused advantage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D361D-1E07-4490-86A8-3AF2B69F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M15 是這一年第一個完整但範圍很窄的正式正結果。</a:t>
            </a:r>
          </a:p>
        </p:txBody>
      </p:sp>
    </p:spTree>
    <p:extLst>
      <p:ext uri="{BB962C8B-B14F-4D97-AF65-F5344CB8AC3E}">
        <p14:creationId xmlns:p14="http://schemas.microsoft.com/office/powerpoint/2010/main" val="531152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39FFE8-FE7C-4DF3-9B9D-4DE5AD0F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PUBLISHED BENCHMARK THROUGH THE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38CD4-7B1E-4601-8D6B-D605B62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 題目進入系統後，不是直接跳答案，而會產生這些中間結果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FB74-82C3-476D-A547-D5EBA5E3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A6963-C89E-48C0-8580-963F6F9D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CCD7A-05D7-4D18-B28E-A6E6DD75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F6988-A690-41E7-9B94-28A99070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PUB：ACL 2024 公開語用基準　｜　T13：第 13 類指示語參照題　｜　Deixis：there／it／she 等依上下文才知道指向的詞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D330B-AAB9-41FE-B7B5-59D3879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題目：Did you put the broccoli in the closet?　→　I put the pineapples there.　→　Is the broccoli in the closet?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BDF8B-A714-4AF8-BB09-46CC34C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71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7A6"/>
          </a:solidFill>
          <a:ln xmlns:a="http://schemas.openxmlformats.org/drawingml/2006/main" w="0">
            <a:solidFill>
              <a:srgbClr val="8D9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BD68D-898A-4EA8-B40C-B590782D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194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A0C4B-C7DF-4736-B643-A12D6ED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E6661-A9BD-4E80-AAB0-8B0E13D0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Literal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904A7-ED11-4EEA-9439-673FF3D1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說話者明確說：放進去的是 pineapples。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367B1-85EF-4E0D-8DF0-098A35C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83A42-AE57-468D-906B-D906BD08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系統作用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5E013-ABFB-409B-A992-F944E6BC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76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先保留字面事實，不自行補 broccoli。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AE87F-4ECD-4430-856F-8987EDA0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52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7A6"/>
          </a:solidFill>
          <a:ln xmlns:a="http://schemas.openxmlformats.org/drawingml/2006/main" w="0">
            <a:solidFill>
              <a:srgbClr val="8D97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29B68-7846-474B-9AF1-A910D32E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004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0B320-31AC-4592-8A63-357D4C84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BA5CF-96FB-4E54-A95C-AA51D28E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Pragmatic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E8C8C-3E0F-4D15-BBA5-32EDDE3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575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最後問題真正要判斷的對象是 broccoli。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DFE65-E60E-4B0B-8292-687F9762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62325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9D131-B87F-4E96-951F-5566F0A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系統作用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B0768-6A9C-4BFD-B526-A1346CBF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把回答目標固定在 broccoli，不被 pineapples 帶走。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2C9E1-E616-4987-8807-C9D94DC9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33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7A6"/>
          </a:solidFill>
          <a:ln xmlns:a="http://schemas.openxmlformats.org/drawingml/2006/main" w="0">
            <a:solidFill>
              <a:srgbClr val="8D9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1003C-A617-4D1F-A6DC-FCC6D03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3AD77-FD86-4346-B6B8-DB9BE942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87BD9-2E78-4504-85C0-0EEF35E6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Context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0DAD2D-8121-4C56-808C-99E5E4F7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there 指向 closet；但地點相同不代表物品相同。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88D6C-844B-4395-88F9-8F7B13A0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733A0-94AA-48D4-A7E7-4DB198DD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系統作用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63CE4-8B19-4C96-964F-103669D3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 there=closet 與 object identity 分開。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A37C04-7D2D-40C0-A7B8-C7E0CA02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14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7A6"/>
          </a:solidFill>
          <a:ln xmlns:a="http://schemas.openxmlformats.org/drawingml/2006/main" w="0">
            <a:solidFill>
              <a:srgbClr val="8D97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9C29C-751C-4EED-BD1F-4A896E7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624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0D8C10-4715-4BE5-B95D-473CFCA2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A3A92B-5DB1-42C8-94E4-2D9B73B2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Alternative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B28073-208B-478E-983C-EBEFB86A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2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broccoli 的位置仍 unknown，不能用 pineapples 取代。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9B614A-7405-4F2D-B402-671DF513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7F82DF-7877-40E4-894F-005488CB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系統作用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7CCFE0-FD95-4E38-93C7-7F3AF1D9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9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保留不知道，避免把另一個物品當成答案。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4E09C3-963A-43C7-A5B2-708ADE91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BBC911-5225-45FF-A316-B03A96E0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Answer binding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028EDB-CB21-4168-B96E-2AFE34A5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006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題目問 broccoli 是否在 closet → No。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95ECC-31E6-4B53-B48D-2A47F2F3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5AFE6B-6BF6-40BA-81D8-C1672C7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最終答案：No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A4E009-9A93-429C-A9BB-446C8CFA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這只驗證「指示語＋物品身分」這個窄機制，不代表完整人類理解。</a:t>
            </a:r>
          </a:p>
        </p:txBody>
      </p:sp>
    </p:spTree>
    <p:extLst>
      <p:ext uri="{BB962C8B-B14F-4D97-AF65-F5344CB8AC3E}">
        <p14:creationId xmlns:p14="http://schemas.microsoft.com/office/powerpoint/2010/main" val="2106150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0CC960-4B4A-4FC0-B96C-2CBDF8C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VARIABLES EXPLAINED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B5066-CEB2-4104-B33D-2CABB8F4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M15 測試設計：改變一件事，其他條件盡量相同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1EDC2-12B9-4442-892F-6C7481E5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A6A8A-394F-4113-AC65-F487E834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7714F-67A8-420B-A93D-E4B00B02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項目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CE719-CBC7-430A-B3FD-EEE2B185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它控制／測量什麼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DD81B-0135-4F12-BACA-B1D8EFDE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為什麼需要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5777A-DC7B-4734-8C99-E8F46FA5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自變因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32183-B98D-4F5A-9033-34444E2A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478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回答前的思考清單：Generic 或 Pragmatic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B32B8-077E-4232-A7F3-3F53403D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只改中間推理結構，測它是否造成準確率差異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0C10D-A72C-470E-9FE7-9B8BEC25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7EC69-A150-4C0B-9AD2-D216A453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31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依變因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A8483-A571-42FF-863F-969B3165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336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同一題最後選項是否正確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DE9C1-3EB5-4074-8642-54AACA4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把抽象的『比較懂』改成可客觀判分的結果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E80E7-BE6C-479C-84D1-53AC1255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C53AE-DF40-4B36-84F8-C31902C0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控制變因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BE623-011C-42C0-A894-55F17C8E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19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同模型、同題、同選項、seed、T=0、schema、上限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A9595-E533-4B1C-B947-6DBBA403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減少模型、題目或隨機性造成的其他解釋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99898-35CF-4195-B993-D9ED11F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59AB8-A071-46C6-8D95-1C1A317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對照組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67B03-F564-4FDA-A528-63DC768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B1 Generic：也會觀察、推理、反證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D6707-6DE9-4CAC-B8EC-7F221292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不能故意拿很弱的直接回答來襯托 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D9F23-CFCF-4E3D-8922-B0EB2178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E29CC-1FD2-4DCF-9BBB-C4B8793F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測試內容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A9BFB-1FB1-4794-8B99-76B0B683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910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300 個未用過的 PUB T13 多選題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90A00-D906-4985-921D-1FC46BE4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避免重用開發題目追分；每題兩條件成對比較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6A145-7B5F-4287-A3D3-9EC5C0DC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C6960-95DB-4116-9EF9-43D9FAF0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剩餘限制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6853EA-0EAE-460F-8A45-64E64343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768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Ours 總 tokens 比 Generic 多 9.0%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FE915-F0A2-4882-84A2-76B0DF98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結果可能含『多一點計算』的效果，下一步要 token-match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9C5D74-126E-4E4A-8C31-F9A65A8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EFB9C2-C5DD-4634-8D14-E6C69513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083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實驗要回答的不是『哪個模型比較強』，而是『同一模型加上語用分解後，是否比較會解指示語』。</a:t>
            </a:r>
          </a:p>
        </p:txBody>
      </p:sp>
    </p:spTree>
    <p:extLst>
      <p:ext uri="{BB962C8B-B14F-4D97-AF65-F5344CB8AC3E}">
        <p14:creationId xmlns:p14="http://schemas.microsoft.com/office/powerpoint/2010/main" val="1395509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6C7F44-10C5-406C-A1D6-6B50DF9E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WHERE THE TWO CONDITIONS COME FROM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EDBC4-A354-4234-9447-288E79E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這兩組不是論文原本的模型，而是我為公平對照建立的兩條同模型流程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9D81C-E052-4564-AAB4-B031FBF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BADB8-E21B-41DA-86E2-21FD74E8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F6319-C241-4469-BA93-FE787C43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E15F0-4240-4E43-A9F4-29FB1E10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95425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 論文提供：題目與正確答案　｜　我建立：Generic 對照提示與 UruhaBrain 語用模組提示　｜　兩邊使用相同 qwen3.5:9b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0C549-52BF-4954-85C4-93FC729B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0482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74877-F62B-4AED-A79E-E35CCE4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一般深思 B1 Generic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7557F-22D8-4DFC-B97F-DA995FDE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我建立的強對照：不是直接猜答案，也會逐步思考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37DD2-7499-4B7D-A561-CC24B2A1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observations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A0827-8E28-4F14-88BC-09711CC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看到了哪些事實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947DB-6908-479E-9D06-846C3034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C2F6E-EF3B-4B4B-AD3A-C9A44B6A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reasoning step 1 /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42E68-B496-4D0E-A984-964552BB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逐步推理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0304A-4203-4533-9D22-FF63D9E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A3B7C-75F6-4426-9D14-E1AD4C03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counterargument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E1C9F-D068-4DA2-8124-9D9DD10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找一個反證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53DE9-4896-4CA9-95B8-D700664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BCFFD-4BD9-4E11-BF6C-6EC781A8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uncertainty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7BC4E-D5C6-4D9E-8979-BD2C75F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24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標示不確定性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E403B-91B1-4C85-B215-F64FB87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22BDF-FF75-4843-9180-E683DB85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answer index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ACB097-5FFC-4FD1-A7E6-7109A54C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05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最後選項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D0A33-4DFF-4FE7-8F09-E8EED944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912DD-889A-4E4C-844C-0CC1D2A2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50482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D1EAA-997B-4E57-98A7-2711B6D9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語用分解 Ours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FE8BA-FF8A-4B3E-9742-F5596154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UruhaBrain 左腦中的一個模組：專門拆字面、目標與證據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3D3C3-9B79-4272-9317-3A1007B0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literal 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A5B6F-5C56-4291-B296-0BFB7490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字面真正說了什麼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F5445-9937-4DA1-9063-64AA5B8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43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80AE4D-6145-490C-8C70-4A413F0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pragmatic target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1B5C69-BDB0-4FCA-9C8D-F83380BB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題目要判斷的真正對象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2C1F19-620B-42B0-BB61-D0278502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24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DFDA8B-19E9-4C93-AD41-372F9B33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context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331602-8BF9-4AEB-983D-B6957E0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43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上下文哪一句支持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A2126-C452-4B6A-B52D-535722EB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8AADA0-5959-4FA2-BE29-A602ABF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alternative interpretation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D9F1C-7B27-4D7D-826F-ECC03FAE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24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還有什麼可能讀法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90B639-E4AB-4574-A405-DC07A198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533643-BBC8-4251-9950-BDD1C91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answer index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2AAC61-8608-4D57-A0ED-70362612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05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最後選項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362910-15DD-40A6-8480-47586E3C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67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AD4BA5-0FA2-4699-B612-C814BD4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9753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D4BA19-6EF6-407E-8F27-4A6B8B09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43575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為什麼這樣設計？先讓 Generic 也充分深思；若 Ours 仍較好，差異才比較可能來自「拆對問題」，不是單純多想。</a:t>
            </a:r>
          </a:p>
        </p:txBody>
      </p:sp>
    </p:spTree>
    <p:extLst>
      <p:ext uri="{BB962C8B-B14F-4D97-AF65-F5344CB8AC3E}">
        <p14:creationId xmlns:p14="http://schemas.microsoft.com/office/powerpoint/2010/main" val="6292964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08E21-15B9-4098-BE1A-3E878E79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PREREGISTRATION IN PLAIN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D1273-D5D8-4D7E-B6CB-7DA3A4DF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這頁的意思：先寫好怎樣才算成功，再去看結果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37B48-7B38-4FE2-8DB4-0CAA31D2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801B7-CD6C-4511-BE38-1E4A6A3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9C20F-AA57-461A-8B23-F255DD89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300 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B8DDD-7426-4592-AC84-CB198FE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04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樣本數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EE635-6152-4C60-9BCA-1AFADAE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先用 power 計算需要多少題，不是看到 p 值才決定停。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25B60-B4F5-4C48-98F3-67415292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3D7ED-1883-4C66-B9A2-46E0D220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90% 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8CCCA-213B-4800-A617-BF53E3A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抓得到效果的把握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94242-23BA-450E-9A95-AE9F7387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如果真正存在事先認定的差異，這個設計約有九成機會找到。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62039-D191-4209-A8B7-8DFC2C43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7FEAE-D3BA-42E3-98E6-D15D246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+15pp SESOI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7DF95-EE35-495F-9876-F8541DD3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最小值得在意的提升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6B198-881F-4DD5-BA5F-667E492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低於這個差異，即使統計顯著，也可能不值得增加專用流程。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CBF4D-A471-4005-8B14-840FC62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843B2-6ED8-422C-8E74-AA09DC5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CI &gt; 0 + p ≤ .05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11774-46D6-4F7F-B76F-04E902B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差異的不確定性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0A5C5-AFC0-482A-8B44-2586A70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兩種方法一起檢查：結果不是只靠運氣偏向 Ours。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680BB-8168-424B-9716-AD0DF090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C8B16-53FE-480B-A63A-4ABA3FE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9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Parse / schema 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6FFA5-4876-4245-9C7F-7D4EDB69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86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實驗是否真的照規則跑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63823-5694-4163-867F-7A9D21AD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863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如果欄位缺失，就不能說比較的是完整語用流程。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38F57-55EE-4E03-A791-5570C10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3D6EF-6A70-4776-868E-0EECB075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62650"/>
            <a:ext cx="876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B4DCE-AD9B-4FC2-8C77-2685E422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38850"/>
            <a:ext cx="830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禁止 optional stopping：不能看完結果後再加題、刪題或改成功門檻。</a:t>
            </a:r>
          </a:p>
        </p:txBody>
      </p:sp>
    </p:spTree>
    <p:extLst>
      <p:ext uri="{BB962C8B-B14F-4D97-AF65-F5344CB8AC3E}">
        <p14:creationId xmlns:p14="http://schemas.microsoft.com/office/powerpoint/2010/main" val="16545984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6E1F2-FA89-4988-A39B-E6F90758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M15 CONFIRMATORY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47E24-3D59-4493-9D29-3FBCA3C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正式結果：語用分解在這個窄任務上提高 16.0 個百分點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25870-522E-411C-9C3D-9C39243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023CC-2853-41A7-B5A8-14120CA1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C6BC2-95AB-440B-BA0A-8EAC0079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124700" cy="4514850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90600" y="20002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39d5230e6044a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AF4D-AD76-487E-BAD9-43124F3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95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Exact-answer accuracy (%)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AAE94-E630-4E05-8271-C927E441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1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+16.0pp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00176-E728-4648-B71A-87CB6A43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同一題成對差異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5E46A-0BFC-437D-A67F-7433097C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BB740-B2C5-4C0E-A0C8-09652711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95% 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6E8D8-0BEA-4847-943B-79D84EC1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+7.0 → +25.0pp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A0CE2-1830-4340-BB54-313F2EE8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218E4-CC11-4C77-A934-3CF2956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67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Exact McNemar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2F6ED-37E9-4075-9DCA-E44DB121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 = 0.000794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FB19E-6456-42D6-AF26-500A076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72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五個事前 gate：全部通過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F3379-8C1E-436A-BC0D-5ACE8BB2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72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精確結論：證明正向 focused advantage；不能說所有語用或人類理解都已提升。</a:t>
            </a:r>
          </a:p>
        </p:txBody>
      </p:sp>
    </p:spTree>
    <p:extLst>
      <p:ext uri="{BB962C8B-B14F-4D97-AF65-F5344CB8AC3E}">
        <p14:creationId xmlns:p14="http://schemas.microsoft.com/office/powerpoint/2010/main" val="6149135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DF5ABFF-6EE9-4435-86A0-C67101B5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VISUALIZING THE EXPERIMENT ITSELF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C1DFF-8A0D-4EA7-B078-FB09426E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300 題實際分布：Ours 多贏 48 題，正好等於 +16.0pp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2B9C4-9499-4B43-BD3B-8A5108C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F4AEF-B8A1-434B-89DC-BC50995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0E0CE-1464-489D-8939-D9F2B5F7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每一格代表一個相同題目的成對比較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0D0F5-EF54-4710-9E90-D8A310AB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90EEA-D210-461F-835B-B4A8692C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48D2E-4E0E-4058-AAC1-A09D5850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DF461-4368-4C68-95B8-E7187E91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E6042-626B-4B1D-9BDB-27045751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32C1A-CBDD-4A15-AE5F-CBB313E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8CB5C-E2E7-46F3-90D2-EE72960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C7F6D-2F3D-4156-A8A5-EDD92A0B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1DFC7-0BA4-4D23-BCD8-EA8B19C1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FFB73-810A-4EC1-AD8B-45A17FB3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4722F-8077-4327-919E-82329A62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C6261-7259-40B5-850A-E90EC737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FEA64-0525-4557-A6C8-8D88E499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F677B-A9C8-4A38-966A-C75CD780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9FAB8-747E-4DA7-B584-70E0A408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3AFAD-4D36-444B-9596-78C3D2FE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3F875-F48B-4F83-A936-A8336D4C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00908-72AD-42EB-A91F-E6629622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A936F-F365-4DF5-84A6-2EB9C63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34743-A4AA-4562-827A-8E8533A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75462-CBE8-448C-A3DA-65F6439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6E6AD-5583-4663-B658-BC87376A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C6DDD-30A5-47B8-9194-268D85F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5D4E9-1226-4CA5-B5EB-59A24522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88E784-4F94-4582-BD43-A1AB7A7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C46C2-58CC-42AD-934C-A09C0B1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79EAF9-64AB-4E69-B72F-2E612C01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10F8C-669C-4EE4-85EB-CE429BC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44D05E-B088-4E02-9782-A20EE610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B5ECD-5D67-416A-950F-33CCB7D1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41F83-101D-4815-9286-A56EDA88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902820-DC20-4E7E-98B3-73E8EA9E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3FD5DE-3AF6-4AB3-A5FF-866733FC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992D37-481C-4F44-8F2F-74AA9278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ED4EBE-18BA-4364-AFBB-2326C53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D37659-84A2-40EA-93D9-1C20EA55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102212-B07F-4E80-9D1D-5EC9F132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EAF565-CCCC-4605-9B03-C5F15FD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7B18B0-62A9-468C-87F8-97411473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8558F0-7B34-479A-9F38-3F41DEBA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684719-0F04-40A8-891D-B43E75C6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3507FC-3F0E-45EB-BB6B-FA4387DD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6C90DA-E4FE-44D8-80A7-FB9B5B7D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AC898E-D77F-4FCD-9175-FB673577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39D7F7-17A7-4AA1-9C63-0A6C55B8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390895-4309-41BB-9041-CFC8AD0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9DF21C-ED86-43CE-8597-4B3E8F0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2E00D9-5680-4107-A345-5B4B389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6DDFC2-E935-4A15-8865-107E8CA0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4C6767-759F-47ED-B0A5-BA22B8A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F34DDE-4E15-4382-94B6-2829B30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D69509-333D-4621-A93B-203F1A0A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B5E5F7-BB58-4472-8BDE-ACAC9B54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8A5AA1-1997-4BBF-9C50-72130CF1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C9C226-935E-4900-A960-77F68E60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B1C77A-A012-4254-909C-FBE83DA1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7F90B6-D98C-4378-BA31-2E680F59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1654CD-E5C1-4CDC-ADD4-B26B7B87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A884F2-A924-4F5F-9573-970BE6B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F7D184-B8E0-4785-88D6-615D3296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785CD5-205D-47B5-8D13-864EE4E1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48F7A8-2651-4BE8-B56D-B9D0FF19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485AFE-9D8D-43A6-A45D-9275FB0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64E246-6E09-416C-BEAA-C22989E7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5DAF35-5541-472B-B767-7803D37D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ED11C0-3A93-4EDF-B6B1-DD96F91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94AF45-51BD-485F-BEAE-1509303C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32C3F48-E785-4BA9-BADD-0EC1586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89F569-2583-4041-84BB-E168B32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C5C290-D233-48C0-B725-B7E70BCE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2D21A6-EE01-40BF-A41D-6A2A680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C01626-958F-47F2-BAB0-28C1DC4A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F9427C-BA2A-49D8-9A1E-AAAC3372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2A3352-AB2B-466D-8F77-6D8E69F0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01BC67C-360E-4DFE-95C6-62945B9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A2C5006-E88C-41F0-AD27-F65795EF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ED1738-959D-46E1-87D8-5E4DCCBB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C70FAF-C3D9-4498-9B7D-3EEAD35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9239FF-8427-472A-B80E-0EE6F206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92BE468-DDC7-429B-8D13-5B79379A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BEAFD7-7448-42A2-A02B-5CE48130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BB6985-F940-4C8D-8B41-4C8E2761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871446A-E23B-4C27-AD34-DE4F4F0A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FC051C-3567-4F09-9EC6-C485F6AA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501437-7324-41A6-B9B9-65A843E6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EA5A0F-A7D5-4165-86F6-435F50AC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E1D8284-9FA2-46BA-9CD1-87FF7E04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141161D-7A85-4DC7-97BB-2281838E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1E76EA-E2B9-4582-AC67-F631958A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BE4FDD-1C52-4D19-935E-B918FE3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2AFE0D-1C85-4D9B-BE07-5D652202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2D2606B-EE91-4D09-A89B-718A9C7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6A81F8-2369-4848-9489-1D209FB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726635-6966-4BEF-8BA3-EDD8608E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3192F5-D72B-46FF-A8B0-0D6736BC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6E15D3-F81C-4D90-B6DD-FC492DDE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99E5C2-DAFB-4319-9499-6CF63007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A3B076-671D-4F11-A2F2-9E83B96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C6E79F0-D3AD-41C6-A58B-08E1C9B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A3F5443-C72A-4B55-BF84-4EBAAF7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EBD6071-0194-46D7-BC13-45F9E508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9A3F25-E16D-4E94-9F26-30109555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94597E-8A43-4C23-A703-C5167CD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1EBCBEC-3CA9-406B-BB85-FBC42DC1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7E91D4A-0BDF-404C-BA72-B63D3EB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B88F4-6F27-43D3-B5E5-DCC52FC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AE16DF2-BF19-4D1E-8B5F-712DF4DB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E234206-4DD9-4F7B-A707-CFA97137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39BD99E-7527-45C9-A0DF-484E5C8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E07A93D-B894-4E49-8A8F-6859C467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20B3C7A-578B-42B0-BD22-F7955818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B6A5062-C1DC-4D4C-83C3-4461651E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E941294-FA52-4C7A-B215-A81905C3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2B2758B-8DF4-4A20-9234-1658241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27F00B4-C1F8-46EE-ACDB-67A81AC1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2CD81CB-00AA-4E4D-AFEB-9EB316A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F5BE5E5-3A01-4CFC-B6B4-5824F7BD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D955BA9-9B12-4953-B33B-F603BAE2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47A2102-56E0-4F08-A881-632E78FC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F3FE54D-5DA0-49FB-8FC9-F953AB10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691E860-605E-4F9E-A51F-EC35AFB5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CF007DA-2CE2-4D6D-95D4-FBBE9B26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99E1939-99C3-4652-BC35-EB6BAE9B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2E12074-021F-4994-A39F-FCC7DE1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644C386-BB0E-495C-BD0B-BDFC7A77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0F4F78B-1DB4-4E7F-A48C-6A5E4055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8A76443-3F2C-41B8-970F-B4C55F66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D692916-B699-4656-82B0-191809BE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CAAFBDF-EDEC-470C-9893-E69219C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75484B8-3CA7-4029-8A4D-51346348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1BB40AF-EFFD-4D0C-BD76-1E25FA70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410A404-DC16-4013-910D-32DB27F6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6498F1D-53E5-470A-9931-35BD3132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2B1ADA0-D89D-4E2C-A277-500F9E42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6D7CEEE-4DD1-442E-8BBC-E3CFD48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1E0144C-C622-4CEE-9CA9-7AEC37FE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7095F81-A8C4-4272-9FF3-978FD057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27D1AFD-9C07-4EC4-A8F1-31248029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A6AE5AA-FABF-4AA8-8E41-D0065852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970153D-46C2-47F1-97B7-EAD8A99D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76F074C-C04B-4D32-9FF7-674A6F1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02828FB-2981-427C-9804-0A551A3D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25E4516-DC2E-4155-A696-6CE29D7E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062EAB7-3EBC-4FCB-8556-BCE9F96A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6D83DCC-4A9A-456A-8D37-1B3F3DA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0771036-16C4-40B4-8BCF-60D9E4DC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13FCEFE-D718-4D6A-A4E4-99B61F1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42EB283-0964-4402-832F-A7441C8A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1199875-D65A-43C5-B89E-3F18F4BF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E98E389-E15D-4795-8A38-0E5C9B55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380D400-14C9-4402-85B8-9BD0C49D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6BBC12F-0CBC-43FE-BA9D-B7EB735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F2796AD-05AA-4085-937E-B800CA8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4816FEC-9E89-4CD6-AACC-1D31011F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6DDE398-7923-43E6-9FE7-0C4FA45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09C15EF-2979-4B4E-9F24-10D1F7EB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AFAB046-925B-45E9-9B0F-77F4CE1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E945BF3-2F69-4441-9763-551D142A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E717FEE-2697-4EEB-85AA-A4F05775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9BFE4A6-BFAC-4E3F-AD08-998CCB7E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CCF46D4-C6EB-4D8D-8501-C0666578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7037C7C-8D14-4CDE-B21B-842849F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BB9D066-033F-4202-BF6E-1BEF3E62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524E81B-091F-4FEB-9DB5-54167692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8942D7E-E9CC-4344-8FAC-2D3732D1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D523A38-E0CB-4F35-B8AF-37C844A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8AC55BC-9E5F-45C4-BDBB-A59724E0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982AF9F-5487-49D3-9F2A-B30008F8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14CB603-47C9-42CC-9C3C-E8B4E065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9336B04-0205-481E-A273-C5550D8A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213E629-979B-4B5D-9BE8-0A8FA7A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D57727A-2450-4EB2-9480-DC93CE83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253DF43-1738-4194-A806-F0D7592E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2B00BFE-7C7C-4A9C-BE9A-5C5CE721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8086BD1-6567-4D7C-8538-A16D0557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0C15297-F38C-410E-9129-F07AFD7F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6D3A5D7-5902-429F-A553-08B3039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83F602E-DB15-4857-9895-31F1416D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5D2D5F8-7B5F-4CC0-A27B-96027D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E7AA64E-2F6A-45CE-BF6B-4A831DF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FB4A497-38A2-4D85-B5CA-FB2CB82A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88C1AAD-51A0-4028-B3CC-5EB5FB45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2AB360D-E7AB-4546-B5B6-10B89CB3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CC00E7A-FD7B-48E4-BA17-BD204AC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98AD52B-7841-4A77-9A9B-5F162A56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4F64264-C694-499F-ABC9-B9B41BB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BE1B119-596D-4AB2-AE58-D5149DA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90FDBA6-72A7-49A8-93F0-225B66AD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AB59EC6-8C91-43FE-B7A0-B0F7392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5CE9D5F-73C7-4BF0-9462-EBF0E9AB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03691C9-2D3F-4C1B-8CF3-73246FD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A5A0E42-5049-48B7-A71E-F20BC500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C9BF0D7-879B-46D5-B0B5-E562181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F3EDD34-57B0-44C1-BC88-469485BD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8C470EA-1DDD-40FA-9E81-18D5ACA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009C5F0-D75C-48C4-BD14-864E64EC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45A4E15-E559-4136-AE65-B8A5231E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608476A-3DE5-46DC-BC8B-376681BB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66E392B-0D16-4D9F-9AFB-C9FCC203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3C8CEA6-8916-49D1-9C04-060F5123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65094A1-F1B6-445D-B548-65820CC9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D83636-08FE-4B55-8285-BFA6E0FA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DFA7D75-CDA6-43FC-8E9F-75807DA3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9A26714-B773-41D9-965B-70B8A725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94DB1FB-582E-478C-B351-682FDE81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A0B32F1-A209-453E-B631-32D5B7AB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B6BDF17-16F2-44D1-B704-424F77A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0BBA1B4-5B8D-42F2-A19F-227693FA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572CEBE-8DD5-4142-9ADC-F94C0A0F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F5B71FA-12A9-41C5-9E26-7E58308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4606B5F-0F87-440A-9DAA-44E26E4F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65B1CFE-F85B-47F5-A21C-3E059420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AFD1AF3-2B03-4674-94D8-69029CD2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2FACDD3-29D0-4B7E-9102-ED536A8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5566F9F-0D73-455C-9979-A1D05F39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5B8B338-F127-47A3-8944-036C4204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B41B565-C739-413B-A443-D7E3A750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8D6E5EB-F1B3-43C1-AE32-3EBD6C4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1FE7119-7326-4937-84E9-45AA7072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B90C876-1AFE-4E4E-81D9-841204F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C5F92D9-1133-4311-A852-4ADAB97B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6925AD5-7A1A-40FB-BD42-14507CA8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48F1271-2B42-47F6-9BD6-27CAA3D4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4ED4220-6F1A-44FF-BC79-AF8BCDED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7F71733-5EE2-47C5-9DCF-0334F075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77D460E-CAB0-4BE1-92AC-C01B62F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E4F061F-1420-40AE-90E7-89A4D753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7AEB733-4A46-446C-AE57-1A917C2A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0D0D871-005C-4768-9C03-3E5CC89E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AA960E9-2B87-40FA-AF20-683AAC86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D8B4D52-C244-4880-B29D-086E8B8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B49A480-EF6C-444A-BEF4-9F657DC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52875A0-E37A-4B76-85CC-35B8C80D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1CBB273-E0A8-4EA6-8126-B5121E1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BB78846-9588-494D-87AB-6FF6C226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38D8139-E942-47DE-A2F1-6F420B4E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DA31EDC-3540-4D93-B32F-F18896AD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28CED08-D0F0-41E9-A19D-50027352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D8E5667-AC92-4174-8B11-F5CA3D7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BF9CE0D-8138-4A56-98CA-0C364180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5D68F54-BFF8-478E-A88C-D0E662D2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E1CB5303-24CC-4371-AC8D-070EEF01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1302754-55C6-4A88-AEE1-12CDE263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4AF57E2-9503-4E9D-9ABC-67E8EF4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223FB45-F0BD-4E95-8292-49F8F5C5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2FCC980-4D19-4C2F-9EE6-087B792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BCBC868-F77C-497B-848A-AFFC7FA8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4329D3A-C7D4-4061-908A-D6C5B97D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75034FF-C6F5-466D-9F61-61171F4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2560A645-0819-48D3-A729-12BF7B7A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6EE60A1-7137-4685-B188-72D8D88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9CBF9D7-F385-4A5D-8450-C9854BB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B7E2633-1770-428F-B553-AEF7343A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34973AD-D19F-422A-AAA3-3A2B299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6E694E7-0A50-4158-A544-ED58E29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536F99D-8DE3-4AC1-9C89-7CA097AD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700E571-CB07-45F4-BDCB-166C8D5D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3651FA1-D360-4B14-9E9D-D8279EA1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5257A2C-4D70-4E39-A113-8EB55FC1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575DE36-343E-4372-BC14-85CCD63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8D3E760-22CE-4635-A49E-F2F1839A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43E77D0-08EF-40A1-871E-2685472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F6443BB-E1F7-4689-B3AE-855ED4E8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D5E871E-077D-4AF9-8F04-272018D8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73065EC-8559-408F-B0EA-F7C307DC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7499894-C0C0-4BFC-86F4-3916F375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3B33CFC-1401-4328-94B7-A9014221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63317CD-48BC-4C15-B51B-86D13A0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AEDF66F-F1D1-422E-8BC1-6E0FB340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A39AD7C1-8BF7-4F8A-9B16-81A30E1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3742013-42C1-413F-979E-91F0FD5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A9D5BBD-72E7-41D5-A8F3-8CC4431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5E666AD-4A42-40FB-94FB-9CE39EEB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D66E2BF-F2F8-48FC-9B54-F66DCE2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7E65C87-0443-4C99-87B3-943FD14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3ED6AE1-9804-4E23-9FF9-3B4F76C1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1D0D13F-E3C3-4622-BDDB-E8775F7A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9BDAADD-562C-4527-9E26-BF08F6F8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7112368-B8F6-4EC1-BA69-AAFEBA6B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0D6D5ADC-4954-4DE2-B6A3-428A48F7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DD0B606-ED22-48FF-9C52-EAC2B46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7C886D8-67C9-4AB8-A596-4FF442A0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806F077-454B-4BCD-8311-FD2C18C7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E5DEB90-54B7-4386-BE45-C2527945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F13F751-5D70-4402-87D8-5503408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48E4165-85E6-4B1C-AB40-1993E493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A92FF86-839E-4BB5-AC9C-FD37BB6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3B7F527-37F8-4495-B476-D608A26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439E7C7-4D9D-4058-9CA0-2C238EBD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B21B430-0793-466B-9FAD-74CF5FE6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245BB29-12F4-4B69-80CC-AA0CADB1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1FED7B1-B87F-4563-B3F6-F96C52D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415A163-A2CD-4D0E-9C06-0B7C1011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8F7F756-ED0B-4AEE-97A6-A025F2E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D49705F3-8FFF-43F9-8FC0-52381233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6DC0D7DD-6142-4EBD-9284-74111275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7A7705F4-0654-4461-829D-E4150EA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D8E0302-050E-49C0-B7E2-F5D83150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A37B798-0629-48A0-9B44-F1A0F0E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6A3942A-0C85-4012-8AFE-E215FD57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56B3EF5-BB15-4E6B-9AF4-5AACD35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123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F4C14A7-E5BB-4B34-8B00-5B89B8A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Ours-only correct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F228BB0-DAD1-4466-A042-E4A7A9D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同一題中 Ours 答對、Generic 答錯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AE20DB9-01C5-4D3E-9FC7-7A11B4EB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102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9978503-5620-419D-B581-639F9BD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兩組結果相同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9FDBD5B-2748-4053-B2D5-921D963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可能同對，也可能同錯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01467BD-B30E-4C88-830F-E28B64FA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75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B0F41730-54C9-4567-8FCB-DA5FD56A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Generic-only correct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5DFB2A4-B953-46D9-8F89-F6F08F7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6860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2C1659B2-BF1C-4778-984D-E94C390A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5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123 − 75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384C1EB-12E0-43DE-805D-6762E4D0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0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= 48 題淨優勢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D4ED91B1-D979-4063-B447-BB8088BA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06F"/>
          </a:solidFill>
          <a:ln xmlns:a="http://schemas.openxmlformats.org/drawingml/2006/main" w="0">
            <a:solidFill>
              <a:srgbClr val="37506F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23FAB24C-9C8C-48B7-961C-3D272F7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48 ÷ 300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= 16.0%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9B2A3EB3-4ECF-4ECD-96BC-C5B9405E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860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C861DC4-8532-469F-98EA-BBD3B0B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14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代價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FE450B9-A663-457C-A6EA-47B3B94C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958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tokens +9.0%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latency +4.8%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A7F7978F-C54B-42A2-BA51-41F98180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這才是實驗成果本身；網頁只是讓這些資料可以被查看。</a:t>
            </a:r>
          </a:p>
        </p:txBody>
      </p:sp>
    </p:spTree>
    <p:extLst>
      <p:ext uri="{BB962C8B-B14F-4D97-AF65-F5344CB8AC3E}">
        <p14:creationId xmlns:p14="http://schemas.microsoft.com/office/powerpoint/2010/main" val="11161422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441758-6546-4E8E-BE66-B8D59AA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WHAT THE FOCUSED MECHANISM ACTUALLY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0EA15-550B-40A8-BB46-CBAAB23C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Ours 是左腦的一個語用器官：它把推理結果綁回真正問題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1999A-09B9-47A8-A0AE-3C6CA3D4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53B16-2072-4F05-A04E-56355D96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AA732-4E3F-4C83-BDE7-2865EA83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PUB-T13-112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2A73B-C89B-472F-89F7-3152C5FC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409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FB0D0-06DF-407F-905C-21DC6C9B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Q：broccoli 在 closet 嗎？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E193E-7AF6-4372-B485-1E49EA08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409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B7A40-7792-43AF-AC18-A6512A71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A：I put the pineapples there.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8F015-660D-4400-847E-2C1306D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14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there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95648-6276-45AE-8C8D-09FDBD3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指向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C7B17-7E76-43F5-BCF7-283DF56D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closet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DE1B3-19F8-4108-B3A1-1C18D526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3D8"/>
          </a:solidFill>
          <a:ln xmlns:a="http://schemas.openxmlformats.org/drawingml/2006/main" w="0">
            <a:solidFill>
              <a:srgbClr val="7C6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2F3CF-B593-447A-8606-6545BDF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427D7-61D5-4B94-BFBE-CAB42B0E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3D8"/>
          </a:solidFill>
          <a:ln xmlns:a="http://schemas.openxmlformats.org/drawingml/2006/main" w="0">
            <a:solidFill>
              <a:srgbClr val="7C63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17F34-101F-49CB-B4D3-67DA8922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A4883-DFB8-46BE-AB58-A43C8E83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3996A-3506-4AB4-A185-EF8E922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一般深思：推理與答案綁定失敗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9769F-0F4A-4C37-9899-D477B40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050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reasoning_step_2 寫『answer is no』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但 answer_index 卻指到 Yes → 答錯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17F93-C320-4B0D-9239-62BC88E8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A2F3E-FF17-42AE-AB81-19D5061C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UruhaBrain 左腦的語用分解器官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E1B6E-DFD2-41A4-BB11-C684DCB1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字面：提到的是 pineapples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CE2DC-9905-4C35-AB35-9E2B7A85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81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目標：題目問的是 broccoli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6E635D-1913-4774-87EB-18B65438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證據：there 指 closet，但物品不同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8F36A8-75B7-427E-9C2A-1C072D97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14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替代：broccoli 的位置仍未知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6768C-327F-4FFD-8D3E-54CB66C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05400"/>
            <a:ext cx="3048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E830A-1456-4113-ACBA-857B6F02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Final answer：No · CORRECT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1896D-4465-4B8B-ACCC-28074D4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5334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C028D-E9E6-40EC-9511-38BB0826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關鍵不是『there = closet』而已；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還要保持 broccoli ≠ pineapples。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20128-B424-40AB-A00C-E7F84DBF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Generic 並不弱：整體 52.7%，而且有 75 題是 Generic 對、Ours 錯；本頁只解釋其中一種可重現錯誤。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F969C1-E5DE-470D-BD83-98EA6859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M15 只證明左腦這個窄器官的優勢，不代表整套 UruhaBrain 或人類方程式已完成。</a:t>
            </a:r>
          </a:p>
        </p:txBody>
      </p:sp>
    </p:spTree>
    <p:extLst>
      <p:ext uri="{BB962C8B-B14F-4D97-AF65-F5344CB8AC3E}">
        <p14:creationId xmlns:p14="http://schemas.microsoft.com/office/powerpoint/2010/main" val="744296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E5936-A50B-4812-9145-12B7344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WHAT THE RESULT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B9619-4A3A-442E-9F14-F454C09C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目前可以向老師報告的是一個窄但完整的研究結果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93A4B-F0F1-4603-9A03-9A520C8B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B5E9-E76D-4987-9417-29E8BF81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F5E6B-AC45-4809-B10B-9AABCAF3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現在有證據支持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24E0E-1CC8-4A48-B846-3BC67B33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ACC6F-EBA3-4AE8-B991-58467D86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建立了可追溯的記憶、狀態、預測與修正架構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E2B57-39FE-4D8D-8C3B-F275C1F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保留 M8、M9、M12 等沒有勝出的負結果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02E2C-935D-46F5-ABAA-42AD45A0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在 300 個新 PUB T13 案例上完成同模型成對確認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00292-7C51-42E0-A71E-49D903DD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語用分解得到 +16.0pp focused advantage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75C3A-B13B-4949-A2D0-7FA1D8E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每個結果都有 prereg、原始輸出、成本與限制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FF063-C4BD-4D43-970F-9E1F1F2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現在仍不能宣稱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555D3-FBF7-49D9-B9C4-FB3558AB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252"/>
          </a:solidFill>
          <a:ln xmlns:a="http://schemas.openxmlformats.org/drawingml/2006/main" w="0">
            <a:solidFill>
              <a:srgbClr val="D752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6BB62-9FEB-4FDE-BFF1-654B047E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系統已經是人或具有主觀意識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CCBDA-CBF1-4680-8622-9880ACA6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已理解所有隱含意圖、情緒與人類思考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1B221-6F29-4691-9C60-46F87375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已證明長期 felt understanding 優於一般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EACC3-628D-4C7F-A456-C2584BF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已完成 Uruha 公開人格的時間預測驗證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42049-AA79-4109-BEEB-654B510C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62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+16pp 可以自動推廣到其他模型與其他任務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3E6BB-5EA9-4348-A326-9392F46D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1740C-7189-46D3-8D90-09C3F0D1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197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研究價值：我已經把『像人』的一個模糊願景，轉成可重現、可失敗、可繼續擴張的實驗。</a:t>
            </a:r>
          </a:p>
        </p:txBody>
      </p:sp>
    </p:spTree>
    <p:extLst>
      <p:ext uri="{BB962C8B-B14F-4D97-AF65-F5344CB8AC3E}">
        <p14:creationId xmlns:p14="http://schemas.microsoft.com/office/powerpoint/2010/main" val="12076601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ABE97-1A1A-47AB-AB60-518B17F4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ONE-YEAR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48D09-9A91-407B-A7B0-5EE6D1DE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這一年真正完成的，是把一個類人系統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從「展示功能」推進到「可以做研究」。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D9E5D-3CF2-468B-ACF8-09B163D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2F60A-0717-401C-8610-8A9CBBF5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工程成果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595DB-80A8-4AE8-B1C4-8BEA6E7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日文對話、長期記憶、人格／關係狀態、node graph、50 輪測試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9EB65-B182-48CC-AE7E-D2A42957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5C908-68F7-485D-9DB1-C92DA10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研究成果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D6E45-8045-479A-8F7D-A1C511EB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時間切分、強 baseline、消融、干預、轉移、公開 benchmark、預註冊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47D14-C29F-4BE3-BD0F-6ACD772F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F2965-9447-4CD4-96E8-D9E15DA2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8DE0B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8DE0B2"/>
                </a:solidFill>
                <a:latin typeface="Noto Sans CJK TC"/>
                <a:ea typeface="Noto Sans CJK TC"/>
                <a:cs typeface="Noto Sans CJK TC"/>
              </a:rPr>
              <a:t>正式正結果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F3E22-7A45-4493-AC09-094D61B2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M15：300 個新 T13 案例，Ours 68.7% vs Generic 52.7%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3870E-F8C0-4235-A364-7F543FB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A017A-646F-4B3E-9DAB-80D640E2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1. token-matched 對照　2. 跨模型與選項排列　3. 多輪隱含需求修正　4. Uruha 時間資料真值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D7790-300F-426F-965D-6AF62007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原本的夢想沒有消失；現在它有了可以逐步驗證的路。</a:t>
            </a:r>
          </a:p>
        </p:txBody>
      </p:sp>
    </p:spTree>
    <p:extLst>
      <p:ext uri="{BB962C8B-B14F-4D97-AF65-F5344CB8AC3E}">
        <p14:creationId xmlns:p14="http://schemas.microsoft.com/office/powerpoint/2010/main" val="16908595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FCC50-D3E5-4A83-96C2-9CEB8F8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REFERENCES ·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D4EEB-5E14-45B2-9C89-8996BB4F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主要參考文獻（備用頁）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11182-79B3-4ECF-9708-29E8525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08E29-3E7B-4490-8509-BC2D2C6E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DEC54-E9D8-4665-9A02-B2B80961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313BF-ABE3-406A-8953-863FDB4D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Sravanthi et al. (2024)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6F485-88AA-4A59-A6DB-7425E6AF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PUB: A Pragmatics Understanding Benchmark…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38D07-7B6D-411F-94E3-8C20ADA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6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PUB T13 語用資料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BBACF-EB07-4F86-93EA-3F0ADA4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2FFC3-4ABE-4550-9E28-8CB6E9D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Maharana et al. (2024)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E84EE-F3C7-4E89-B29D-3B22A8CF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Evaluating Very Long-Term Conversational Memory…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60B0E-CB3B-4F77-B7B2-A25FBBF4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長期記憶任務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5A9DD-3979-484A-A9E9-B595234A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BB1F3-F3E3-417E-AACC-5B828CE6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Gneiting &amp; Raftery (2007)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9E038-5EFF-438D-A273-65D1BEAF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Strictly Proper Scoring Rules…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F55DE-66BC-4B43-BA05-55CFDCF0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Brier / NLL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DC1D9-B5C2-45C6-B776-44599D8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7E740-EC16-4F57-B909-9BB3BA63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Guo et al. (2017)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2EF06-44BC-4462-B230-3C56CC1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On Calibration of Modern Neural Networks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EE759-83D9-4BE3-917C-48D02151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ECE / 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8CC09-72B8-43F0-8845-287600B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16771-28F8-40EB-A006-C7BD574F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Peyrard et al. (2021)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2C6A4-1810-4BC1-A7DE-1324ECFA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Better than Average: Paired Evaluation…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A8089-E578-414E-A4E7-F01C084D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同題成對比較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7BD36-B584-4108-9878-F658E167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D0A66-126B-43EE-8F99-8449FDC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Berg-Kirkpatrick et al. (2012)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6EB91-EC06-4260-A92E-3574EF99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Statistical Significance in NLP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9672D3-CDFB-4DAD-B0FD-85AD2B80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05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bootstrap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9F95C-26F1-486D-B51A-A32D1B1F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850A48-FE29-4D58-8797-B0DF7EAD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Liu et al. (2016)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BB9799-284E-4C10-9184-16BB44F7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53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How NOT To Evaluate Your Dialogue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7DCC02-A7E0-490F-B4F6-98A646E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53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真人品質邊界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CEF47-2053-4791-B838-8CDFAAD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2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完整 URL 放在每頁講者備註；正式 20 分鐘報告可不逐篇介紹。</a:t>
            </a:r>
          </a:p>
        </p:txBody>
      </p:sp>
    </p:spTree>
    <p:extLst>
      <p:ext uri="{BB962C8B-B14F-4D97-AF65-F5344CB8AC3E}">
        <p14:creationId xmlns:p14="http://schemas.microsoft.com/office/powerpoint/2010/main" val="1900247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2026-08-18T20:37:03.4400000Z</dcterms:created>
  <dcterms:modified xsi:type="dcterms:W3CDTF">2026-08-18T20:37:03.4400000Z</dcterms:modified>
</coreProperties>
</file>