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6a37f3185144ca" /><Relationship Type="http://schemas.openxmlformats.org/officeDocument/2006/relationships/extended-properties" Target="/docProps/app.xml" Id="Re843cc4cf3d84147" /><Relationship Type="http://schemas.openxmlformats.org/officeDocument/2006/relationships/officeDocument" Target="/ppt/presentation.xml" Id="R416cb99cec47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dae51134fa457f"/>
  </p:sldMasterIdLst>
  <p:notesMasterIdLst>
    <p:notesMasterId xmlns:r="http://schemas.openxmlformats.org/officeDocument/2006/relationships" r:id="R894da66d8e9143af"/>
  </p:notesMasterIdLst>
  <p:sldIdLst>
    <p:sldId xmlns:r="http://schemas.openxmlformats.org/officeDocument/2006/relationships" id="256" r:id="R149f66d337084e53"/>
    <p:sldId xmlns:r="http://schemas.openxmlformats.org/officeDocument/2006/relationships" id="257" r:id="Rb3eeeb349b3e4793"/>
    <p:sldId xmlns:r="http://schemas.openxmlformats.org/officeDocument/2006/relationships" id="258" r:id="Rf4695131897445c0"/>
    <p:sldId xmlns:r="http://schemas.openxmlformats.org/officeDocument/2006/relationships" id="259" r:id="Rf03176277f1143c8"/>
    <p:sldId xmlns:r="http://schemas.openxmlformats.org/officeDocument/2006/relationships" id="260" r:id="R1f0373a292e6459e"/>
    <p:sldId xmlns:r="http://schemas.openxmlformats.org/officeDocument/2006/relationships" id="261" r:id="R8b302ecbfa3543e5"/>
    <p:sldId xmlns:r="http://schemas.openxmlformats.org/officeDocument/2006/relationships" id="262" r:id="R021743fec98046c1"/>
    <p:sldId xmlns:r="http://schemas.openxmlformats.org/officeDocument/2006/relationships" id="263" r:id="Rd897e716ecf44a95"/>
    <p:sldId xmlns:r="http://schemas.openxmlformats.org/officeDocument/2006/relationships" id="264" r:id="R1da06f4830964a11"/>
    <p:sldId xmlns:r="http://schemas.openxmlformats.org/officeDocument/2006/relationships" id="265" r:id="R556e99d6a4c142e0"/>
    <p:sldId xmlns:r="http://schemas.openxmlformats.org/officeDocument/2006/relationships" id="266" r:id="R9d07ed0486324f4d"/>
    <p:sldId xmlns:r="http://schemas.openxmlformats.org/officeDocument/2006/relationships" id="267" r:id="Rcd3e5f5475594552"/>
    <p:sldId xmlns:r="http://schemas.openxmlformats.org/officeDocument/2006/relationships" id="268" r:id="Rcdc068774d0d4dd7"/>
    <p:sldId xmlns:r="http://schemas.openxmlformats.org/officeDocument/2006/relationships" id="269" r:id="R3c298ddc9a104054"/>
    <p:sldId xmlns:r="http://schemas.openxmlformats.org/officeDocument/2006/relationships" id="270" r:id="R3691f5e46455493e"/>
    <p:sldId xmlns:r="http://schemas.openxmlformats.org/officeDocument/2006/relationships" id="271" r:id="R26be1c9a85794ade"/>
    <p:sldId xmlns:r="http://schemas.openxmlformats.org/officeDocument/2006/relationships" id="272" r:id="Re372e76966cd47c6"/>
    <p:sldId xmlns:r="http://schemas.openxmlformats.org/officeDocument/2006/relationships" id="273" r:id="Re738dca4f36a40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ebfe54855f41ab" /><Relationship Type="http://schemas.openxmlformats.org/officeDocument/2006/relationships/slideMaster" Target="/ppt/slideMasters/slideMaster1.xml" Id="R0bdae51134fa457f" /><Relationship Type="http://schemas.openxmlformats.org/officeDocument/2006/relationships/notesMaster" Target="/ppt/notesMasters/notesMaster1.xml" Id="R894da66d8e9143af" /><Relationship Type="http://schemas.openxmlformats.org/officeDocument/2006/relationships/presProps" Target="/ppt/presProps.xml" Id="R88f4be04b58949e3" /><Relationship Type="http://schemas.openxmlformats.org/officeDocument/2006/relationships/tableStyles" Target="/ppt/tableStyles.xml" Id="R64888a82e09d4393" /><Relationship Type="http://schemas.openxmlformats.org/officeDocument/2006/relationships/slide" Target="/ppt/slides/slide1.xml" Id="R149f66d337084e53" /><Relationship Type="http://schemas.openxmlformats.org/officeDocument/2006/relationships/slide" Target="/ppt/slides/slide2.xml" Id="Rb3eeeb349b3e4793" /><Relationship Type="http://schemas.openxmlformats.org/officeDocument/2006/relationships/slide" Target="/ppt/slides/slide3.xml" Id="Rf4695131897445c0" /><Relationship Type="http://schemas.openxmlformats.org/officeDocument/2006/relationships/slide" Target="/ppt/slides/slide4.xml" Id="Rf03176277f1143c8" /><Relationship Type="http://schemas.openxmlformats.org/officeDocument/2006/relationships/slide" Target="/ppt/slides/slide5.xml" Id="R1f0373a292e6459e" /><Relationship Type="http://schemas.openxmlformats.org/officeDocument/2006/relationships/slide" Target="/ppt/slides/slide6.xml" Id="R8b302ecbfa3543e5" /><Relationship Type="http://schemas.openxmlformats.org/officeDocument/2006/relationships/slide" Target="/ppt/slides/slide7.xml" Id="R021743fec98046c1" /><Relationship Type="http://schemas.openxmlformats.org/officeDocument/2006/relationships/slide" Target="/ppt/slides/slide8.xml" Id="Rd897e716ecf44a95" /><Relationship Type="http://schemas.openxmlformats.org/officeDocument/2006/relationships/slide" Target="/ppt/slides/slide9.xml" Id="R1da06f4830964a11" /><Relationship Type="http://schemas.openxmlformats.org/officeDocument/2006/relationships/slide" Target="/ppt/slides/slide10.xml" Id="R556e99d6a4c142e0" /><Relationship Type="http://schemas.openxmlformats.org/officeDocument/2006/relationships/slide" Target="/ppt/slides/slide11.xml" Id="R9d07ed0486324f4d" /><Relationship Type="http://schemas.openxmlformats.org/officeDocument/2006/relationships/slide" Target="/ppt/slides/slide12.xml" Id="Rcd3e5f5475594552" /><Relationship Type="http://schemas.openxmlformats.org/officeDocument/2006/relationships/slide" Target="/ppt/slides/slide13.xml" Id="Rcdc068774d0d4dd7" /><Relationship Type="http://schemas.openxmlformats.org/officeDocument/2006/relationships/slide" Target="/ppt/slides/slide14.xml" Id="R3c298ddc9a104054" /><Relationship Type="http://schemas.openxmlformats.org/officeDocument/2006/relationships/slide" Target="/ppt/slides/slide15.xml" Id="R3691f5e46455493e" /><Relationship Type="http://schemas.openxmlformats.org/officeDocument/2006/relationships/slide" Target="/ppt/slides/slide16.xml" Id="R26be1c9a85794ade" /><Relationship Type="http://schemas.openxmlformats.org/officeDocument/2006/relationships/slide" Target="/ppt/slides/slide17.xml" Id="Re372e76966cd47c6" /><Relationship Type="http://schemas.openxmlformats.org/officeDocument/2006/relationships/slide" Target="/ppt/slides/slide18.xml" Id="Re738dca4f36a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572fbe8837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dd51a84abd4231" /><Relationship Type="http://schemas.openxmlformats.org/officeDocument/2006/relationships/notesMaster" Target="/ppt/notesMasters/notesMaster1.xml" Id="R75873ab8ec0547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84c21de049487d" /><Relationship Type="http://schemas.openxmlformats.org/officeDocument/2006/relationships/notesMaster" Target="/ppt/notesMasters/notesMaster1.xml" Id="R88d445d606cd4c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641fa9d8904f8d" /><Relationship Type="http://schemas.openxmlformats.org/officeDocument/2006/relationships/notesMaster" Target="/ppt/notesMasters/notesMaster1.xml" Id="R608e45f5ef474c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490b45edc34fe8" /><Relationship Type="http://schemas.openxmlformats.org/officeDocument/2006/relationships/notesMaster" Target="/ppt/notesMasters/notesMaster1.xml" Id="R77062fe2ae9245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a9791ad4c94f17" /><Relationship Type="http://schemas.openxmlformats.org/officeDocument/2006/relationships/notesMaster" Target="/ppt/notesMasters/notesMaster1.xml" Id="R502889438b7942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a6a00b64494e54" /><Relationship Type="http://schemas.openxmlformats.org/officeDocument/2006/relationships/notesMaster" Target="/ppt/notesMasters/notesMaster1.xml" Id="R1f422fcaa17942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71d2df61d2488d" /><Relationship Type="http://schemas.openxmlformats.org/officeDocument/2006/relationships/notesMaster" Target="/ppt/notesMasters/notesMaster1.xml" Id="Rae2aa0d91e8b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4a389f6c2345b9" /><Relationship Type="http://schemas.openxmlformats.org/officeDocument/2006/relationships/notesMaster" Target="/ppt/notesMasters/notesMaster1.xml" Id="R7ade95e6844d44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4012f2c85e442f" /><Relationship Type="http://schemas.openxmlformats.org/officeDocument/2006/relationships/notesMaster" Target="/ppt/notesMasters/notesMaster1.xml" Id="R3f32f2f180214c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2efe78f0e2475d" /><Relationship Type="http://schemas.openxmlformats.org/officeDocument/2006/relationships/notesMaster" Target="/ppt/notesMasters/notesMaster1.xml" Id="R1b7f3909401d4b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f97e3f586b46fb" /><Relationship Type="http://schemas.openxmlformats.org/officeDocument/2006/relationships/notesMaster" Target="/ppt/notesMasters/notesMaster1.xml" Id="R91df5f3381c045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e0caf5625f4ed1" /><Relationship Type="http://schemas.openxmlformats.org/officeDocument/2006/relationships/notesMaster" Target="/ppt/notesMasters/notesMaster1.xml" Id="R7d6911fcf63743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8c9cca2d174124" /><Relationship Type="http://schemas.openxmlformats.org/officeDocument/2006/relationships/notesMaster" Target="/ppt/notesMasters/notesMaster1.xml" Id="R60f6db1d416245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41a88ebfe140fd" /><Relationship Type="http://schemas.openxmlformats.org/officeDocument/2006/relationships/notesMaster" Target="/ppt/notesMasters/notesMaster1.xml" Id="Rbc5f6ed45fb049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121d76823849af" /><Relationship Type="http://schemas.openxmlformats.org/officeDocument/2006/relationships/notesMaster" Target="/ppt/notesMasters/notesMaster1.xml" Id="R5359737a04a14d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0aacf83afa4514" /><Relationship Type="http://schemas.openxmlformats.org/officeDocument/2006/relationships/notesMaster" Target="/ppt/notesMasters/notesMaster1.xml" Id="Rbc7eb752a3f446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2034655c254e67" /><Relationship Type="http://schemas.openxmlformats.org/officeDocument/2006/relationships/notesMaster" Target="/ppt/notesMasters/notesMaster1.xml" Id="R7b9172e5e9ab42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e7c43fafa3466d" /><Relationship Type="http://schemas.openxmlformats.org/officeDocument/2006/relationships/notesMaster" Target="/ppt/notesMasters/notesMaster1.xml" Id="R8373d8e86c3e4a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55 秒。開場先講一句：我不是要做一個只會模仿語氣的聊天機器人。我想把人回應前可能涉及的記憶、情緒、關係、目的與不確定性，拆成可以被觀察與驗證的計算。今天展示的是這條路上第一個正式通過確認的窄能力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research master specification: /Users/jerrychang/Downloads/RESEARCH_SPEC_FOR_CODEX.md</a:t>
            </a:r>
          </a:p>
          <a:p xmlns:a="http://schemas.openxmlformats.org/drawingml/2006/main">
            <a:r>
              <a:t>- Project screenshot: analysis/m15_safari_overview_2026-08-17.jpeg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秒。用這個例子讓老師立刻懂：字面意思相同，不代表使用者想要的回覆相同。一般 LLM 也可能猜中，但如果猜中的過程不可追蹤、不能在下一輪被檢驗，就很難成為研究。我的目標是把這個隱藏差異變成可反駁的計算假設。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motivation and operational framing: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秒。說明 Uruha 的定位：人與人不同，如果沒有固定個體，就沒有明確對照目標。因此先用一ノ瀬うるは的公開可觀察資料當第一個人別常數；但研究主體是可轉移的計算架構，不是單純模仿 Uruha。公式中的變數是模型假設，不是宣稱抓到真實生理腦狀態。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Sections 0–6 and 42–44 of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老師如果問『你怎麼證明理解？』，我的回答不是主觀說看起來很懂，而是要求系統留下假設、證據、預測、驗證與校正。只要下一輪不符合預測，系統就必須留下被否定的紀錄並修正。這讓理解從不可見的感覺，變成可觀察的研究物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Operational definition and evidence boundary: /Users/jerrychang/Downloads/RESEARCH_SPEC_FOR_CODEX.md</a:t>
            </a:r>
          </a:p>
          <a:p xmlns:a="http://schemas.openxmlformats.org/drawingml/2006/main">
            <a:r>
              <a:t>- V2.12–V2.15 functional pragmatic loop records: CHAT_CONTEXT_COMPACTION_2026-08-10.md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秒。簡單說明每篇只拿一個必要方法：PUB 提供已發表的語用基準；LoCoMo 告訴我長期記憶不能只用一題回想；proper scoring 與 calibration 讓未來的機率分布可評；paired evaluation 和 bootstrap 讓同一題、同一模型的差異不被平均數掩蓋。M15 直接使用 PUB 與成對統計；其他文獻支撐整體研究評測框架。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https://aclanthology.org/2024.acl-long.747/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https://aclanthology.org/2021.acl-long.179/</a:t>
            </a:r>
          </a:p>
          <a:p xmlns:a="http://schemas.openxmlformats.org/drawingml/2006/main">
            <a:r>
              <a:t>- https://aclanthology.org/D12-1091/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秒。用一句話區分：LLM 擅長看懂文字與把答案說自然，但研究需要可控制的中間層。因此記憶衰減、狀態轉移、信心、校準、消融與干預不能全藏在一個不可見的生成呼叫裡。這也是系統和只加一段 persona prompt 的主要差異。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Sections 9–17 and 41 of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秒。這張投影片很重要：不要只講 M15。M12 的統計總評其實不支持整體系統勝過強 LLM，M13 也先失敗，M14 修好 schema 後整體仍不確定。只有 T13 出現可追蹤訊號，所以才在 M15 做全新題的前瞻確認。這讓結果更像研究，而不是挑最好看的圖。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Sections 7.26–7.29 of CHAT_CONTEXT_COMPACTION_2026-08-10.md</a:t>
            </a:r>
          </a:p>
          <a:p xmlns:a="http://schemas.openxmlformats.org/drawingml/2006/main">
            <a:r>
              <a:t>- analysis/m12_literature_grounded_evaluation_report_2026-08-17.md</a:t>
            </a:r>
          </a:p>
          <a:p xmlns:a="http://schemas.openxmlformats.org/drawingml/2006/main">
            <a:r>
              <a:t>- analysis/m13_pub_pragmatics_report_2026-08-17.md</a:t>
            </a:r>
          </a:p>
          <a:p xmlns:a="http://schemas.openxmlformats.org/drawingml/2006/main">
            <a:r>
              <a:t>- analysis/m14_pub_schema_replication_report_2026-08-17.md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秒。把研究循環講清楚：M13 暴露了 schema 失敗，所以 M14 只修 implementation fidelity；M14 總體沒有顯著，但 T13 有大訊號。這個訊號只用來產生 M15 假設。M15 在生成前固定樣本數、最小有意義差異、統計門檻與停止規則，並用全新題做確認。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analysis/m13_pub_pragmatics_report_2026-08-17.md</a:t>
            </a:r>
          </a:p>
          <a:p xmlns:a="http://schemas.openxmlformats.org/drawingml/2006/main">
            <a:r>
              <a:t>- analysis/m14_pub_schema_replication_report_2026-08-17.md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60 秒。強調範圍：這不是把整個人腦方程式一次驗完，而是先挑一個可客觀判分的語用元件——指示語與參照。預註冊同時要求實務效果、信賴區間、p 值、答案解析與 schema 完整性，任何一個沒過就不算 pass。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 task framing: https://aclanthology.org/2024.findings-acl.719/</a:t>
            </a:r>
          </a:p>
          <a:p xmlns:a="http://schemas.openxmlformats.org/drawingml/2006/main">
            <a:r>
              <a:t>- M15 preregistration: configs/m15_deixis_confirmation_preregistration.json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秒。這張直接回答老師會問的變因。自變因只有推理 scaffold；依變因是同一題是否答對。控制同一模型、同一題、同一選項順序、相同 seed 與 deterministic decoding，兩邊也都要求 strict schema。對照組不是弱的直接回答，而是一般深思的強 baseline。唯一明顯資源差異是 Ours 多用約 9% tokens，所以必須視為成本而不是忽略。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75 秒。從左到右講：每一個案例分流到兩條 lane。Generic 也會觀察、推理和反證，不是故意做弱；Ours 額外強迫分開 literal content、pragmatic target、context evidence 與 alternative interpretation。最後兩邊用同一答案規則評分。這是 same-model paired design。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- analysis/m15_deixis_confirmation_dashboard_2026-08-17.html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秒。解釋 SESOI：不是只追求 p 值，而是先問多大的提升值得增加專用流程。M14 的 discordance 只用來估計 power；正式 M15 使用全新 300 題，禁止中途看結果停下或加題。這是避免 p-hacking 的關鍵。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- configs/m15_deixis_confirmation_case_manifest.json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100 秒。先讀圖：Generic 52.7%，Ours 68.7%，同一題成對差 +16pp。信賴區間完全在零以上，McNemar p 約 0.00079，五個事前門檻皆通過。精確說法是：觀察樣本效果超過 +15pp 且有正向統計證據；但 CI 下界是 +7pp，所以不能說母體效果一定至少 +15pp。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65 秒。這是 Safari 真實打開的成果，不是設計稿。先指 1：老師最先看到主結果。指 2：可以確認兩組是同一模型、同一輸入，只換中間 scaffold。指 3：右側逐一列出五個預先條件。下方還能展開成本、題型與逐案例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screenshot: analysis/m15_safari_overview_2026-08-17.jpeg</a:t>
            </a:r>
          </a:p>
          <a:p xmlns:a="http://schemas.openxmlformats.org/drawingml/2006/main">
            <a:r>
              <a:t>- Interactive source: analysis/m15_deixis_confirmation_dashboard_2026-08-17.html</a:t>
            </a:r>
          </a:p>
          <a:p xmlns:a="http://schemas.openxmlformats.org/drawingml/2006/main">
            <a:r>
              <a:t>- Locked result: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75 秒。這張用一個具體案例解釋 trace 的價值。問題問 broccoli 是否在 closet，對話只說 pineapples 放在 there。Generic 的 reasoning_step_2 寫了 no，卻把 answer_index 指向 yes，因此答錯；Ours 明確分出 literal content、pragmatic target、context evidence、alternative interpretation，最後指到 no。不要把單一案例當因果證明；它只是讓 300 題統計背後的機制變得可檢查。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screenshot: analysis/m15_safari_case_trace_2026-08-17.jpeg</a:t>
            </a:r>
          </a:p>
          <a:p xmlns:a="http://schemas.openxmlformats.org/drawingml/2006/main">
            <a:r>
              <a:t>- Raw case rows for PUB-T13-112: analysis/m15_deixis_confirmation_raw_result.json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秒。這張是整份報告的誠實邊界。可以說 focused deictic-reference advantage；不能把多選指示語直接等同於人類理解。也要報成本：Ours 多 13,830 tokens、約 +9%，延遲 +4.8%。M15 是完整且可看出優勢的研究單元，但整體專案仍需要 temporal Uruha ground truth、跨模型重現與真人 felt-understanding 評測。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- Research claim boundary: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75 秒。收尾回到開頭：我不是宣稱已經解出人腦，而是把願景改寫成逐步可驗證的研究。M15 是第一個正式正結果。接下來依優先順序排除 token 差異、跨模型與選項排列，然後做 fresh multi-turn 隱含需求與修正，最後回到 Uruha 的時間切分真人公開行為資料。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Next valid tests: configs/m15_deixis_confirmation_result_lock.json</a:t>
            </a:r>
          </a:p>
          <a:p xmlns:a="http://schemas.openxmlformats.org/drawingml/2006/main">
            <a:r>
              <a:t>- Long-term definition of success: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備用參考頁，正式 20 分鐘可不逐篇講。若老師追問某個方法，就從這裡回到對應論文；每一篇在前面使用的範圍已明確標示。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https://aclanthology.org/2024.acl-long.747/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https://aclanthology.org/2021.acl-long.179/</a:t>
            </a:r>
          </a:p>
          <a:p xmlns:a="http://schemas.openxmlformats.org/drawingml/2006/main">
            <a:r>
              <a:t>- https://aclanthology.org/D12-1091/</a:t>
            </a:r>
          </a:p>
          <a:p xmlns:a="http://schemas.openxmlformats.org/drawingml/2006/main">
            <a:r>
              <a:t>- https://aclanthology.org/D16-1230/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c54e7ac0b4c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1787718ea04a52" /><Relationship Type="http://schemas.openxmlformats.org/officeDocument/2006/relationships/slideLayout" Target="/ppt/slideLayouts/slideLayout1.xml" Id="R4a838373ae02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38373ae02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463419be740aa" /><Relationship Type="http://schemas.openxmlformats.org/officeDocument/2006/relationships/image" Target="/ppt/media/image.jpeg" Id="R064351f59dd54be5" /><Relationship Type="http://schemas.openxmlformats.org/officeDocument/2006/relationships/notesSlide" Target="/ppt/notesSlides/notesSlide1.xml" Id="Rbb5508f027d6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873ad7c604738" /><Relationship Type="http://schemas.openxmlformats.org/officeDocument/2006/relationships/notesSlide" Target="/ppt/notesSlides/notesSlide2.xml" Id="Rbb8f545a855742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cf5e2a3ae4b72" /><Relationship Type="http://schemas.openxmlformats.org/officeDocument/2006/relationships/notesSlide" Target="/ppt/notesSlides/notesSlide3.xml" Id="R8ab0605d3e6449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73c9808c4077" /><Relationship Type="http://schemas.openxmlformats.org/officeDocument/2006/relationships/notesSlide" Target="/ppt/notesSlides/notesSlide4.xml" Id="R486dc3a8126449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c07a7f5d1420a" /><Relationship Type="http://schemas.openxmlformats.org/officeDocument/2006/relationships/notesSlide" Target="/ppt/notesSlides/notesSlide5.xml" Id="Rf6c4622e1ba648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3b64ded0749c8" /><Relationship Type="http://schemas.openxmlformats.org/officeDocument/2006/relationships/notesSlide" Target="/ppt/notesSlides/notesSlide6.xml" Id="R1bc6633cce5f4a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7a3b5ff2468e" /><Relationship Type="http://schemas.openxmlformats.org/officeDocument/2006/relationships/notesSlide" Target="/ppt/notesSlides/notesSlide7.xml" Id="R2e6b191b3d4b41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5d18713d14c8a" /><Relationship Type="http://schemas.openxmlformats.org/officeDocument/2006/relationships/notesSlide" Target="/ppt/notesSlides/notesSlide8.xml" Id="Ra189c29122ed44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5c5bc2da24f62" /><Relationship Type="http://schemas.openxmlformats.org/officeDocument/2006/relationships/notesSlide" Target="/ppt/notesSlides/notesSlide9.xml" Id="R5fae8b42861e42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a5b9f20e34a5a" /><Relationship Type="http://schemas.openxmlformats.org/officeDocument/2006/relationships/notesSlide" Target="/ppt/notesSlides/notesSlide10.xml" Id="R3f5ec5215e5542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848e0d9db442a" /><Relationship Type="http://schemas.openxmlformats.org/officeDocument/2006/relationships/notesSlide" Target="/ppt/notesSlides/notesSlide11.xml" Id="R8bef7ccfff8b47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7c2220b564845" /><Relationship Type="http://schemas.openxmlformats.org/officeDocument/2006/relationships/notesSlide" Target="/ppt/notesSlides/notesSlide12.xml" Id="R404d429c53464c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54d3813e94d8e" /><Relationship Type="http://schemas.openxmlformats.org/officeDocument/2006/relationships/chart" Target="/ppt/slides/charts/chart1.xml" Id="R8c6ebf2047194399" /><Relationship Type="http://schemas.openxmlformats.org/officeDocument/2006/relationships/notesSlide" Target="/ppt/notesSlides/notesSlide13.xml" Id="R0d35b535c6054e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5dccd9d5c43bd" /><Relationship Type="http://schemas.openxmlformats.org/officeDocument/2006/relationships/image" Target="/ppt/media/image2.jpeg" Id="R143954e96fbf4a26" /><Relationship Type="http://schemas.openxmlformats.org/officeDocument/2006/relationships/notesSlide" Target="/ppt/notesSlides/notesSlide14.xml" Id="Rbe709e944ec74d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63777bd094938" /><Relationship Type="http://schemas.openxmlformats.org/officeDocument/2006/relationships/image" Target="/ppt/media/image3.jpeg" Id="R4922a9443d244537" /><Relationship Type="http://schemas.openxmlformats.org/officeDocument/2006/relationships/notesSlide" Target="/ppt/notesSlides/notesSlide15.xml" Id="R281f7c314df34b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40c2367da4595" /><Relationship Type="http://schemas.openxmlformats.org/officeDocument/2006/relationships/notesSlide" Target="/ppt/notesSlides/notesSlide16.xml" Id="Raeee16853e8349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2f4344d75482b" /><Relationship Type="http://schemas.openxmlformats.org/officeDocument/2006/relationships/notesSlide" Target="/ppt/notesSlides/notesSlide17.xml" Id="Rfaf936a1d05344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a20bef3b64801" /><Relationship Type="http://schemas.openxmlformats.org/officeDocument/2006/relationships/notesSlide" Target="/ppt/notesSlides/notesSlide18.xml" Id="R04fe3eac85af4f9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Exact accuracy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一般深思 B1</c:v>
              </c:pt>
              <c:pt idx="1">
                <c:v>語用分解 Ours</c:v>
              </c:pt>
            </c:strLit>
          </c:cat>
          <c:val>
            <c:numLit>
              <c:formatCode>General</c:formatCode>
              <c:ptCount val="2"/>
              <c:pt idx="0">
                <c:v>52.7</c:v>
              </c:pt>
              <c:pt idx="1">
                <c:v>68.7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7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7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B1A1F-BFF9-4DCD-82D3-91049868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INTERPRETABLE HUMAN MODEL · M15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0020E-9E87-4BD9-AAB7-E8C10616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666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把「理解」變成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可以驗證的計算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32601-17A8-487F-B304-BEBFDFC7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9E7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D9E7F7"/>
                </a:solidFill>
                <a:latin typeface="Noto Sans CJK TC"/>
                <a:ea typeface="Noto Sans CJK TC"/>
                <a:cs typeface="Noto Sans CJK TC"/>
              </a:rPr>
              <a:t>UruhaBrain：從人腦方程式構想到 300 題同模型確認實驗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2D89A-8A88-45F0-9035-BCE1B991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FBEB5-95BA-4A3C-BF6C-F7D94A5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20 分鐘研究進度報告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6DCF1-CFD6-4013-9AA3-9253CFE7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AFC5D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FC5DE"/>
                </a:solidFill>
                <a:latin typeface="Noto Sans CJK TC"/>
                <a:ea typeface="Noto Sans CJK TC"/>
                <a:cs typeface="Noto Sans CJK TC"/>
              </a:rPr>
              <a:t>Jerry Chang · 2026.08.19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A4DD5-607A-47E1-A2FD-F43383ED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04850"/>
            <a:ext cx="4000500" cy="52578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351f59dd54be5"/>
          <a:srcRect xmlns:a="http://schemas.openxmlformats.org/drawingml/2006/main" l="28943" t="0" r="289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3350" y="933450"/>
            <a:ext cx="3543300" cy="4800600"/>
          </a:xfrm>
          <a:prstGeom xmlns:a="http://schemas.openxmlformats.org/drawingml/2006/main" prst="roundRect">
            <a:avLst>
              <a:gd name="adj" fmla="val 430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A88B5-9968-4459-BFC5-EFD5C755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674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研究願景 → 可操作定義 → 對照實驗 → 誠實結論</a:t>
            </a:r>
          </a:p>
        </p:txBody>
      </p:sp>
    </p:spTree>
    <p:extLst>
      <p:ext uri="{BB962C8B-B14F-4D97-AF65-F5344CB8AC3E}">
        <p14:creationId xmlns:p14="http://schemas.microsoft.com/office/powerpoint/2010/main" val="952047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B8B1E-9984-4A71-9BD5-6B39B5B3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DE69D-5A8E-40FE-B75A-844362B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為什麼我不滿足於「有回答語意」？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E4949-83FE-44BC-A497-0E44D4BB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610E9-8A53-49E4-873D-310B186F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9D771-7ED0-4103-9F61-C80745BE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6191250" cy="4210050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C0E03-17F5-4C52-B3F8-9260F667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同一句話，可能在等三種完全不同的回應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DABED-DB25-4859-A2D7-832D35E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561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79CED-9822-4603-BD04-BC4E1274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3175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「我從早上就一直坐不住，腦子停不下來。」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621D6-5139-4BC8-A002-E2D744A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2A23E-F063-491A-B701-174C0181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E27CC-A379-4681-9121-A8AC82B0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真正求解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2321A-6AA0-489A-A622-105AE26F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052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是不是沒睡？現在要怎麼讓腦袋停下來？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49D07-EACD-410E-B843-65B5728F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C92B8-AAFD-42F8-9E37-3480059D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2CFE4-C0D8-44E6-B779-ACEA3471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尋求被接住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0AE6B-5D0C-4467-9333-7C539247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719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我其實很累，只是想有人懂我現在的狀態。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52B1B-1FA9-480E-B6C2-57A51247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0CB5C-9F78-4F70-8B0A-88C68B42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572EB-4BCD-4171-9CC6-FB253913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等待吐槽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E994E-6CB7-4761-8E9F-28DACD8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387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你是過動症嗎？——帶點熟人式玩笑。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ECDE0-9D59-476A-98A0-75DA1040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667250" cy="4210050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8E3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0CE1B-691A-4C07-9B53-FB840239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52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研究問題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6F6C8-2720-439C-9706-15C96B69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0275"/>
            <a:ext cx="3829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系統能不能不只看字面，還推測使用者真正期待哪一種回應？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544C2-88A8-44BE-95DB-4E39D3FC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19525"/>
            <a:ext cx="3829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重點不是假裝讀心，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而是讓推測有證據、有替代假設，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並在後續對話中被驗證或修正。</a:t>
            </a:r>
          </a:p>
        </p:txBody>
      </p:sp>
    </p:spTree>
    <p:extLst>
      <p:ext uri="{BB962C8B-B14F-4D97-AF65-F5344CB8AC3E}">
        <p14:creationId xmlns:p14="http://schemas.microsoft.com/office/powerpoint/2010/main" val="2137053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D9549-69D4-40E3-A9A2-7B9230A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RESEARCH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4ADDD-2B49-42C1-931D-04ACC33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我的長期目標：可解釋的人類行為方程式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6A2FA-8147-4FD0-8A4D-A7F65B21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E93DD-6B36-48EA-8026-BD155FBA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B020B-7DC5-46FC-8C27-2E6AE86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不是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B8E78-1766-4AC6-924F-5AA642A8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619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4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6AE68-5BF5-4899-84F5-FA25B81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輸入 → LLM → 一句看似合理的回答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837EC-C0DD-4615-AF47-9C3EA0D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而是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23FF5-1701-40DA-87C4-8A951FCA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66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A1594-A23B-43A5-A053-75AF2DC5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P(回應｜輸入、記憶、情緒、關係、目的、習慣、人格、不確定性)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DA1BA-7FAE-4F9C-B5E5-DC295A4C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Uruha 不是架構本身，而是第一個可收斂、可對照的 person-specific 常數。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F046A-F777-4177-B7C7-7DF6328E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架構應該能換人；資料、參數與公開人格證據才決定是哪一個人。</a:t>
            </a:r>
          </a:p>
        </p:txBody>
      </p:sp>
    </p:spTree>
    <p:extLst>
      <p:ext uri="{BB962C8B-B14F-4D97-AF65-F5344CB8AC3E}">
        <p14:creationId xmlns:p14="http://schemas.microsoft.com/office/powerpoint/2010/main" val="1612279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DAB03-34A4-4BA1-9779-47F9BA0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OPERATIONAL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0D87B-A247-48BE-B305-580303AE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把「理解」改寫成可以被推翻的五個步驟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4C0E0-0DF1-4757-A1FB-3AC4C67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1E459-87C7-4D34-9585-9AFDDADB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2C305-E621-4379-919D-5D7F1A34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DD93D-B6ED-45DA-9F78-25F47092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F176D-588F-4B8E-9CD9-A45E0DC0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A909A-94FC-45D2-9E97-291C820D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形成假設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A0AE4-8083-42E1-BD9C-BB8058D8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可能意圖、情緒、關係訊號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DB4A5-47B0-4F83-97F4-4BB05AE8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02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795C8-36B3-4FB0-BF82-3E35109C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AD5C6-DAF1-4A9A-A85B-A368AA83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764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8EF73-ACCD-4140-845F-AEA495A4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列出證據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BDA99-3CA7-458E-BBDE-9050217B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18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字面內容、歷史與可用訊號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3624B-7C26-4ADF-916D-F3F6A025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22FC3-24D7-4588-92D9-6A011C92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F55C2-FFB0-4B8E-B81C-ED01803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764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0ED76-BC3E-4C2E-B38B-0A9EC0E5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76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做出預測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87DE7-62C6-49CD-875F-DD0742A0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下一步行為或期待回覆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1E075-803E-48A8-B9BE-3E8E7298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C2902-B31D-4A87-8740-A50C0CD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340C0-6FF7-4FA6-8AEE-EA1C78AB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764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7C0BE-C83E-4F97-B5BD-2BB46EFA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76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等待驗證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FFF8D-67A0-4967-B688-3976DE01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後續支持、反駁或仍未知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161B3-6DB8-4FDC-8642-E523A81C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7A986-9C53-4173-9B73-D3FC2C93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85446-B800-419B-AC6D-64A5F2F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764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B9D98-0867-478E-95E0-2B5627D2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76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校正模型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DF62E4-1DE8-424C-B399-46A59D5F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718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降低信心、撤銷或更新</a:t>
            </a:r>
          </a:p>
        </p:txBody>
      </p: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4792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73392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1992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30592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41CC97-1D3D-4560-98F2-CF9FF808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10439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F1D1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9135E-5D45-4C55-AA24-C63D418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8A5A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8A5A00"/>
                </a:solidFill>
                <a:latin typeface="Noto Sans CJK TC"/>
                <a:ea typeface="Noto Sans CJK TC"/>
                <a:cs typeface="Noto Sans CJK TC"/>
              </a:rPr>
              <a:t>科學邊界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E69A47-A7D4-4C82-BFFC-496971E8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244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6A47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6A4700"/>
                </a:solidFill>
                <a:latin typeface="Noto Sans CJK TC"/>
                <a:ea typeface="Noto Sans CJK TC"/>
                <a:cs typeface="Noto Sans CJK TC"/>
              </a:rPr>
              <a:t>這些是可測試的計算變數，不是私人心理真值；未知要保留空白，不能靠 prompt 把故事補完。</a:t>
            </a:r>
          </a:p>
        </p:txBody>
      </p:sp>
    </p:spTree>
    <p:extLst>
      <p:ext uri="{BB962C8B-B14F-4D97-AF65-F5344CB8AC3E}">
        <p14:creationId xmlns:p14="http://schemas.microsoft.com/office/powerpoint/2010/main" val="700350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F9B7E1-8C45-4FB6-81DE-DABAFDCF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LITERATURE 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775E3-6851-452E-8976-C62123AF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我不是從零發明評測：六篇文獻各自提供一塊拼圖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C773D-8EE3-4A98-B0F8-5845DFE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3F680-EC73-4D9D-91E4-E8AF3A07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88F58-8290-4E94-896B-E9F1D01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18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F607F-41C3-43B5-94E0-BE6B43A6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 · Sravanthi et al.,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375DA-072F-4A07-8D2F-228E170C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5257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14 個語用任務、指示語 T13 公開題庫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F381D-4052-4777-BA20-71DA132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F4DA2-D409-4CF4-85C2-EFAAA6B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097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測窄語用能力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43DB2-1A61-4F7A-B6DE-D64F5323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1118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C2685-C284-4C20-8C2D-D6CA91A1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LoCoMo · Maharana et al.,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600A1-9125-41CD-B1EA-D6C8A41F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長對話需分解成 QA、摘要與生成任務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B7532-5515-44A3-AAEB-7520FB3D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F0F2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6283A-A9E3-40CA-8010-29A135B4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測長期記憶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D4B29-4555-4843-BFC4-3C222900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118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17AC0-6125-478B-ADAB-AE37D9E2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Gneiting &amp; Raftery, 2007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CFDC6-BEB9-4AA4-B8C4-1E6A43C0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575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Brier / NLL：機率要為錯誤信心付代價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EF94B-9514-4FCA-AD4B-C632E847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76575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F0F2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3C435-1AAE-4D0A-AB4C-5F7D7C4C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146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測機率品質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E47D3-E93A-45F7-B559-8B0CB6C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86175"/>
            <a:ext cx="1118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8F1A4-C96D-4A51-AD96-A43D3C6E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Guo et al., 2017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20398-90E7-43D3-87F1-ECBA1C02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00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ECE、reliability diagram 與校準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C6905-342C-4313-AFD2-6F0E5098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290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F0F2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E7B26-1836-473F-9E9C-251CF67D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67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測信心可靠度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D1940-DC6C-492F-AC33-2210ACC0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118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B0458-9EBE-447A-91BD-3C35DA86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Peyrard et al., 2021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B53DD-36E4-41A3-87C3-3484BE97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6247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同一題要做 instance-level paired comparison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8587D-8479-491C-8034-44B3F3A8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81525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F0F2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12D72-8210-478A-8D46-957E65FA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9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公平成對比較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9C022-3215-4EFA-8EEA-1A14B72B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11182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5CBD49-186E-4F06-AA94-E1E6AE31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Berg-Kirkpatrick et al., 2012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DEF318-CD60-4FD0-962C-A7864F21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149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bootstrap 與 NLP 統計顯著性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18408B-4F56-4B57-AEF9-79704E57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F0F2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3B265F-D81C-4125-809B-81F2DF67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721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報告不確定性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76A681-8896-453E-B721-CB2B87A2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注意：我借的是資料與評測原則，不是把這些論文的模型直接貼進系統。</a:t>
            </a:r>
          </a:p>
        </p:txBody>
      </p:sp>
    </p:spTree>
    <p:extLst>
      <p:ext uri="{BB962C8B-B14F-4D97-AF65-F5344CB8AC3E}">
        <p14:creationId xmlns:p14="http://schemas.microsoft.com/office/powerpoint/2010/main" val="13127723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BD0188-DF98-4951-A113-F20F7EA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HYBRID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41910-EE7F-4626-95C8-7270A223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實作方法：LLM 負責語意，明確演算法負責狀態與驗證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9DC2C-7D3E-472C-AA87-3A4A38AC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5B9DB-0F9F-4596-83AE-FD1535CC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7EA79-15CA-4266-92CA-5232494E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1571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A7B93-B327-46DF-AD01-32337BD9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08D68-58BC-4D74-8F2B-D26050F6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可觀察歷史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98C89-3F42-471B-A5C1-2F052145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來源、時間、事件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270E9-F787-4A82-9970-DB3A322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1571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EBCD4-2547-4E1F-97ED-4E0E9DEB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98545-CD50-4967-A280-703BD7D8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結構化記憶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7637B-6866-424E-A20B-236EEE71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強度、衰減、來源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14FC4-31D8-4FB8-AC99-9E764CC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14550"/>
            <a:ext cx="1571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D9222-A7A4-4C93-8881-46F879B1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145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8974D-7828-4BA9-9130-83626A9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估計人類狀態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1805E-4561-43A7-AF61-63A32473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情緒／關係／目標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216D2-1CDC-4936-AFBD-E28414A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571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CE00A-C1C3-476E-ADC0-4FBE6EA8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55E3D-7B7A-441C-B826-0BC95F13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狀態轉移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1A6F7-0CF8-4C3B-AAF8-8BE757A6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8127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事件後如何改變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AEA86-C866-4B52-9C28-8DD78ED4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1571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1C72F-0375-44FF-B773-F6F28B6A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ECE4C-7F16-4A67-8FA1-E0413707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機率行為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D2032-5AB7-445A-869F-1573114A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8127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候選與信心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4A0A2-CAFE-4FC7-B6F9-FB251E63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1571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A010D-10D5-4EAC-BB45-A14C4AE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D743A5-03AC-46B9-9376-26C3E11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66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自然語言輸出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F7A1D-283D-47B4-98B6-E6B48051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最後才由 LLM 表達</a:t>
            </a:r>
          </a:p>
        </p:txBody>
      </p:sp>
      <p:cxnSp>
        <p:nvCxnSpPr>
          <p:cNvPr id="7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066925" y="25622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33825" y="25622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00725" y="25622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67625" y="25622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cxnSp>
        <p:nvCxnSpPr>
          <p:cNvPr id="77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534525" y="25622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BC1860-9758-42FE-8EC1-37125306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0439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0C7725-146C-425B-BE56-E082384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可追溯與可干預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F8C69E-6831-4D55-9073-900D771C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來源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A91130-FAEB-4821-90DF-144C0A1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672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每個記憶回到原始證據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8B679F-CE6B-4F7F-84CD-B06633E9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24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快照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5A4A46-8CD0-4DF3-ACD5-14DFD225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672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每輪保留狀態與決策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9F1905-01A6-4616-9A33-1FF3EDC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24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Ablation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2F9C31-1A8E-4A89-8EA0-82C5D4D1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672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移除元件看效果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F90C10-ABEA-4053-B47F-88BF1420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Intervention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6BAD89-D63D-45BC-B906-CF8CD0DB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改變變數看機率怎麼動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F4BF00-ABE0-4EA1-9CE9-D30D5F0B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核心貢獻：在輸入和回答之間，放入可檢查、可調參、可做對照實驗的狀態層。</a:t>
            </a:r>
          </a:p>
        </p:txBody>
      </p:sp>
    </p:spTree>
    <p:extLst>
      <p:ext uri="{BB962C8B-B14F-4D97-AF65-F5344CB8AC3E}">
        <p14:creationId xmlns:p14="http://schemas.microsoft.com/office/powerpoint/2010/main" val="115197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6D7BD-8AAF-4DF3-B8AB-8802D2D3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RESEARCH PROGRESSION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7DE7A-E045-4940-AFF2-3230F1DA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研究不是一路成功：M1–M15 留下可重現的證據鏈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D23BC-D955-4329-928B-42D6DD4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15F81-9C88-49F8-A49B-DFF48628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1DE60-4E0F-4C30-BC32-B678A594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1952625" cy="257175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D4A53-DDA7-42F4-9C5D-9D67F1FB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B095F-4C5B-4290-9661-3FA0F871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M1–M5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0965A-030E-4750-A436-7D80A341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資料與狀態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AE98C-6C02-4216-8EFF-D4F5C1D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57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時間切分、記憶、狀態、轉移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7F231-7F14-4D90-85BC-932ACC2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952625" cy="257175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C60DA-694E-4ACE-9C9E-F7DF24C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C881A-1C73-4F52-821F-05F937A6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8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M6–M10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824E0-E9DC-40CD-B650-750C9CB6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預測與失敗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A3AA0-D9EC-4C40-A74C-715CAA7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71875"/>
            <a:ext cx="157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基線、消融、轉移、語言約束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2ECCC-9A72-4C0F-A99F-2C8E47A3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81200"/>
            <a:ext cx="1952625" cy="257175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E6952-4B1C-4D4C-A82B-0589A41A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252"/>
          </a:solidFill>
          <a:ln xmlns:a="http://schemas.openxmlformats.org/drawingml/2006/main" w="9525">
            <a:solidFill>
              <a:srgbClr val="D752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580BF-7E80-4EA2-A195-C10C4588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M11–M12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AB852-D716-4E83-9A8F-DE1878A6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證據總清算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7A72A-E9BE-407E-8696-E3F271D8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157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中央優勢不支持；保留負結果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7B949-8265-4B66-9DD0-9386DF18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1952625" cy="257175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8B9FC-DD07-4107-8D56-17699C02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60216-CFC6-401E-BD93-155D41A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M13–M14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E8FE8-4D18-4D83-B690-AAE4FB5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003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公開語用基準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8B02B-BD67-4FC5-9B09-8C6B4EEB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71875"/>
            <a:ext cx="157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先失敗，再修 schema；整體仍不確定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18B1F-AD12-4581-9F90-9796A2C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81200"/>
            <a:ext cx="1952625" cy="257175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81153-3DA9-42F6-B79E-FB8A469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329FD4-8A98-4FFD-A0D0-A6C57047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28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72297-2627-44BC-94EF-2FDED049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03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窄能力確認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03481-A19E-4479-93F4-D6BE8322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71875"/>
            <a:ext cx="157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300 新題；五個事前 gates 全通過</a:t>
            </a:r>
          </a:p>
        </p:txBody>
      </p:sp>
      <p:cxnSp>
        <p:nvCxnSpPr>
          <p:cNvPr id="65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47925" y="32670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714875" y="32670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981825" y="32670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48775" y="32670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97A6"/>
            </a:solidFill>
            <a:prstDash val="solid"/>
            <a:tail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4523E-E67E-4D72-9E24-72158EDB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895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1F1949-858F-4E5C-BC86-780B7451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9590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可信度來自：前面的失敗沒有刪掉，M15 也沒有用開發題追分。</a:t>
            </a:r>
          </a:p>
        </p:txBody>
      </p:sp>
    </p:spTree>
    <p:extLst>
      <p:ext uri="{BB962C8B-B14F-4D97-AF65-F5344CB8AC3E}">
        <p14:creationId xmlns:p14="http://schemas.microsoft.com/office/powerpoint/2010/main" val="3586362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4618B8-7C51-4BA2-A175-B95C428F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FAILURE → MECHANISM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5CF6A-BC19-4F17-BF0A-F117BB88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從失敗中選出下一個可反駁假設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CD881-E516-4D0B-A749-D13CC344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FA89A-8FC5-4D02-926A-FEAAB222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1B540-55EC-42AF-A9E8-C5130E14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3333750" cy="385762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D93B2-36FB-48FB-BC63-7DD2A54A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M13｜第一次 PUB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42CBD-099A-4CCD-83E4-758793F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8765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D579B-1B74-42E5-99D9-DC819F08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OURS schema 完整率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8C604-1E2D-407B-BA10-C7854C4C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23.4%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B9019-2338-4906-A8E6-0A175077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implementation-fidelity confound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B1D95-402D-4210-9543-EC18BF4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→ 不是乾淨的因果比較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AD264-1C02-40DF-BF17-BEDFE412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修正：以 condition-specific JSON Schema 強制欄位與型別。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1C13F-2C99-492E-82F3-89BD3DAC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385762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69C7A-C51B-4902-ABA4-48383E9D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M14｜schema 修復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AD1D9-4C4F-432E-B5D0-1A2BD06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8765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3F985-CDF6-4A02-921B-C861B813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3365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全任務 Ours−Generic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674D6-2679-4A9B-9D5D-A3191255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813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+9.4pp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63B3A-28AB-4620-BE5B-70C88387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7660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95% CI 跨 0；不能稱優勢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98DDD-2AD8-41EB-B720-AA98A60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57625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但 T13 指示語：+37.5pp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70A9B-BC1D-4C9B-B741-E7D1362A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005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→ 只能當 development signal，不能直接當答案。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2310B-B886-4757-B727-199FD66A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333750" cy="385762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29142-755C-45A4-9B9D-F2F0D2C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M15｜前瞻確認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F3846-631D-434B-9375-460F643F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8765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D4085-43B4-48A3-B8E1-630561B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3365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固定新題數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B6F0A-C770-40CD-B943-C969D1A9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n = 300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E645F-7B70-498C-A08D-D740216E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與 M13/M14 overlap =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904DB-57CD-42FF-8BEF-AF837AF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57625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事前固定 +15pp SESOI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E2580F-30B9-4A36-A294-60B7A99A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90% power、無 optional stopping、0 retry。</a:t>
            </a:r>
          </a:p>
        </p:txBody>
      </p:sp>
    </p:spTree>
    <p:extLst>
      <p:ext uri="{BB962C8B-B14F-4D97-AF65-F5344CB8AC3E}">
        <p14:creationId xmlns:p14="http://schemas.microsoft.com/office/powerpoint/2010/main" val="3772321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14C25-4C65-42F5-90BD-76837F7A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CONFIRMATORY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B8A46-9CC9-4B9A-80EF-7FC89CE1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M15 的研究問題被刻意縮小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EA838-E3C3-46BC-86A1-2CAC3621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9AD10-54F4-47EE-A19B-E2F55920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45702-B135-477A-8418-1561190D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105918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C3575-6DF9-4D6A-B38C-FC294A8F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47850"/>
            <a:ext cx="9944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同一個 qwen3.5:9b、同一批新 PUB T13 題目下，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明確的語用分解是否比一般深思更會判斷指示語參照？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8F037-3F74-40B4-AD3E-A7E03017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953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A8B7A-B9F9-4B9E-ADE3-45B19C73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H₁｜實務效果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7B504-1491-456F-9722-068FA09B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Ours − Generic ≥ +15pp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C8BA1-8119-44AB-84EB-C2E7255C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0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觀察效果要大到值得增加專用推理流程。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0607C-E39F-458D-88D2-5FF2F4EE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4953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89DBA-465F-41ED-97D7-7DB3E785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38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H₂｜統計證據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13E55-A9B9-41BD-8C34-1DFEEC7C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CI 下界 &gt; 0 且 p ≤ .05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C3521-255F-4ED7-9EA0-CD2CAA3B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0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同時要求答案與 schema 解析皆為 100%。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AFEE9-427C-434A-937F-1E27FDB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這不是『理解所有人』的假設；只是先驗證一個語用機制。</a:t>
            </a:r>
          </a:p>
        </p:txBody>
      </p:sp>
    </p:spTree>
    <p:extLst>
      <p:ext uri="{BB962C8B-B14F-4D97-AF65-F5344CB8AC3E}">
        <p14:creationId xmlns:p14="http://schemas.microsoft.com/office/powerpoint/2010/main" val="518335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818D9-44A6-4DD3-A746-7CACD744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VARIABLES AND CONTROL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3B9D9-F2C4-48E2-83C8-5685EE34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實驗設計：只有推理 scaffold 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1127-0049-420C-AD04-D827EF69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A88FF-EEF5-45F8-B93A-F1F456AB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1E0EE-A853-4FB0-83E7-AE136879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C2C36-492D-4266-B775-678F0C4F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B7A9A-EE94-4CD7-BB65-F8859F61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自變因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BDBE0-ADCC-40F3-A674-8D2B2E26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97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推理流程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B6E5C-712C-46BC-BB5E-EC2A8146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00200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一般深思 B1 vs 語用分解 Ours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32B8F-E374-429B-8205-100F3B35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EDC1C-C517-4057-89B4-815D2021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67379-0EBD-4A58-B42B-BCF9ABF0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依變因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C1AA6-4706-4C34-BDAF-00B2F757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860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主要結果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B31EC-98FE-461D-B236-B39D204D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同題 exact-answer accuracy；輔以 CI、McNemar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CCC6D-989A-4BFB-89AB-B509EB57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10EA5-FBA6-4E65-9E19-1F7A2CAF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6174"/>
          </a:solidFill>
          <a:ln xmlns:a="http://schemas.openxmlformats.org/drawingml/2006/main" w="9525">
            <a:solidFill>
              <a:srgbClr val="5361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F3A88-462E-4B2D-9C39-ADBD9548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控制變因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49866-E85B-42EE-9884-98B9E752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623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保持相同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41FA7-DE95-478C-BB72-D214852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52800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模型、題目、選項、seed、temperature、schema、token 上限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F2569-3F81-4C08-9A78-F27EF4F3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AFA64-4975-488A-B870-D4A69180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6CED3-7332-446C-80AE-48790F4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對照組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833C5-2155-48BE-A869-FB44FCFC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B1 Generic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103AD-7461-40E9-B98A-FD7BDD3F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29100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不是直接回答；而是有觀察→推理→反證的強對照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F8DC5-5A38-4365-9255-DC0354A9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DD5D2-5154-41CA-8C1F-E99847C3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252"/>
          </a:solidFill>
          <a:ln xmlns:a="http://schemas.openxmlformats.org/drawingml/2006/main" w="9525">
            <a:solidFill>
              <a:srgbClr val="D752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D3B8C-2410-4B15-BC6A-88B61C70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20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代價／混淆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7B7A68-1753-458A-96F5-ED2EB769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149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需一起報告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BEE7C-2B10-414B-8F47-E4A12C2E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05400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Ours token +9.0%；無法說效果完全免費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F09B8-2C89-4037-9A38-E813FD1D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公平性的核心：兩個條件看見完全相同的問題；比較的不是兩個不同模型。</a:t>
            </a:r>
          </a:p>
        </p:txBody>
      </p:sp>
    </p:spTree>
    <p:extLst>
      <p:ext uri="{BB962C8B-B14F-4D97-AF65-F5344CB8AC3E}">
        <p14:creationId xmlns:p14="http://schemas.microsoft.com/office/powerpoint/2010/main" val="679176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3C1881-6768-42F7-898D-7C5E1FBE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CONTROLLED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095D4-DBC6-4683-B359-0B941835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同模型對照：相同輸入，只替換中間的思考結構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D097A-106E-4199-9990-C3775AA3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F2DD5-A2F8-4007-9EBD-9D3001F3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35C9C-FBD0-4FD2-8EBB-5D27FA74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736DF-453D-4FD5-B823-1C934CC1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74"/>
          </a:solidFill>
          <a:ln xmlns:a="http://schemas.openxmlformats.org/drawingml/2006/main" w="0">
            <a:solidFill>
              <a:srgbClr val="5361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DA52E-7CF3-4C13-A5FD-FC96B2C3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1485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同一輸入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17F22-3DA7-444F-86E2-93EDC4B5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PUB T13 · 新題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F6AE7-8FCC-4423-99F2-88F7398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8CA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B1E83-4017-49D0-BE09-CE5AFC24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72D"/>
          </a:solidFill>
          <a:ln xmlns:a="http://schemas.openxmlformats.org/drawingml/2006/main" w="0">
            <a:solidFill>
              <a:srgbClr val="E5A7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39157-DB02-4F05-AAD7-8C5AB3C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287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一般深思 B1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A5544-6F10-4DD8-BA5A-59650A5E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觀察 → 推理 → 反證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E7993-616D-4693-98AF-95991B63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F77C5-6023-4F7B-BE70-09C943D8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C90D6-193D-45D5-8B1E-317D9855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語用分解 Ours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FB6DE-3CE5-4CD2-B0B7-77D25B05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95725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字面 → 目標 → 證據 → 替代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A2C02-1D78-4D2D-9658-8EB3CA8D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76375"/>
            <a:ext cx="2095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044B8-205B-49F9-ADF3-1B6A3037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7637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227CA-08F2-4765-BAB8-CBEE058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28775"/>
            <a:ext cx="1771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同一判分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E3161-62DB-45F2-ACE1-BA43C112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exact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B8E46-C958-4BA9-9871-39F056B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2095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FFBC5-0EFD-4DC7-A29A-A37D51A8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89E88C-21A0-472D-84D0-0EDC2802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1771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同一判分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22E5B-59DE-4F7D-900B-CEEEC50D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9572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exact answer</a:t>
            </a:r>
          </a:p>
        </p:txBody>
      </p:sp>
      <p:cxnSp>
        <p:nvCxnSpPr>
          <p:cNvPr id="5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76500" y="1924050"/>
            <a:ext cx="857250" cy="28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E5A72D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76500" y="2209800"/>
            <a:ext cx="857250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191250" y="1924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5A72D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191250" y="38766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21BFF-58D6-40E9-A0B4-DD321C0F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76375"/>
            <a:ext cx="1428750" cy="28479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F4A9D-3D27-461E-86AC-6A361858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145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固定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78898E-A43B-43DB-8DCD-183890E9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1047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qwen3.5:9b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T = 0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seed 固定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320 tokens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strict schema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0 retries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3ADB86-69F0-4003-BF39-DEC4B8F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這個設計回答：提升來自專用語用分解，還是只是模型多想一下？</a:t>
            </a:r>
          </a:p>
        </p:txBody>
      </p:sp>
    </p:spTree>
    <p:extLst>
      <p:ext uri="{BB962C8B-B14F-4D97-AF65-F5344CB8AC3E}">
        <p14:creationId xmlns:p14="http://schemas.microsoft.com/office/powerpoint/2010/main" val="1888201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BF7A80-4A7F-4F03-A4BC-B72433BC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PREREGISTRATION AND POWER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82959-5D4A-40D4-AF8B-6B06DA85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在看答案以前，先把成功條件鎖死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B88E3-6971-4B9E-BDE0-58039691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481A9-3120-4C2C-BC07-E27868D8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A77F7-1A78-43FD-9EAC-B0183E7D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C9ADB-5C2C-4C32-BBBB-CD629D3E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確認題數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0F39D-731A-41F8-89E8-8FC6CC99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AF8FF-B9D9-48A3-BD24-F2BB282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n=299 尚未達 90% power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702F3-D20B-4031-855C-05176F1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240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E0237-DBD1-4604-9369-45737953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764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Prospective power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81E2C-6A1E-46FE-BC07-3473A388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90.07%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5D43-6571-47A6-A626-76590C69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alpha = 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C9BAA-F5D9-49B2-9C54-DD81B7F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240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176DF-04E1-4CBD-87F9-AEB9EC9E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764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SESOI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965BF-B435-4070-BB65-750BCAFB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+15pp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90A28-4674-4E31-B680-0A5AB0EF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至少約每 7 題多答對 1 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A775C-3138-4429-AEFA-C5B7ED51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240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6D821-FFFB-4348-B885-CD5B3A86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764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資料重疊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3EF3D-3E3D-4E02-A4E2-9D2881D5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24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44F73-6294-4E17-886C-4060A831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M13/M14 case 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DBE5A-2011-4012-A18E-7E6D619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240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D92C6-D498-4F64-8064-6B26CA16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764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Optional stopping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8B157-D5DD-4234-BA0B-392E4B20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24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禁止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98909-6DC2-46C4-90AC-537327FC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193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固定跑完 300 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45AD5-2CD1-47BB-BFFF-B1FB7A5A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107823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A4ABE-9587-4BBC-8A2E-2C96C1E2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五個事前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3FCE81-92E7-43A2-A037-D3C402A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1762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1CDB1-6BC7-4144-A279-BEEEA5F8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H1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C5163-821F-487C-878F-308D6F52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答案 parse = 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2DC0FE-1CB8-466E-8BBB-A7DC56CD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76700"/>
            <a:ext cx="1762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17E66-EF5E-4E84-9AB1-6E12ED5B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195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H2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F7B37E-401D-41F4-BCFF-3E335318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91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schema = 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4E2EB6-5BA3-4E17-90DC-E80F5048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76700"/>
            <a:ext cx="1762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347DC-3675-41AC-9890-13A6D0DC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95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H3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FD8212-0646-41D6-857F-8F472577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91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Δ ≥ +15pp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378CEC-0AF7-4D61-AE1B-D5F2029C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76700"/>
            <a:ext cx="1762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F40A0C-1838-4112-892C-13D38F59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195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H4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CAA06F-25C7-41DE-B44E-498036FA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CI lower &gt; 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0EAE19-A940-410F-9E9D-436D9BBA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76700"/>
            <a:ext cx="1762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68772F-13E5-4951-9E76-A455BDB1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95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H5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D1E692-E1AD-4C29-807B-311F9FB4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91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McNemar p ≤ .05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20B5B5-CA7E-401E-BBD1-189B271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原則：任何一個 gate 失敗，都不能在結果出來後改門檻。</a:t>
            </a:r>
          </a:p>
        </p:txBody>
      </p:sp>
    </p:spTree>
    <p:extLst>
      <p:ext uri="{BB962C8B-B14F-4D97-AF65-F5344CB8AC3E}">
        <p14:creationId xmlns:p14="http://schemas.microsoft.com/office/powerpoint/2010/main" val="9258838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4BF8A-822C-4DEC-A750-F125D29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CONFIRMATORY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4F745-4A21-4180-8B33-244D2A0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結果：語用分解在這個窄任務上提升 16.0 個百分點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4B136-5FE8-4576-87B0-67275E42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AD2E7-F7C1-4458-8FD7-B19B4BCF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D344C-DFA2-49FA-8ED8-FC84DD62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6858000" cy="445770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76300" y="1857375"/>
          <a:ext xmlns:a="http://schemas.openxmlformats.org/drawingml/2006/main" cx="61150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6ebf204719439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FD9C6-EAF6-479E-8445-9ADEF126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611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Exact answer accuracy (%)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1E258-DCCA-4D3D-B8CC-E43D18B9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4290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7A34D-4DA6-49EF-B69A-27FE75FD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配對差異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6ACCE-EAD6-4844-B60F-877F7116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+16.0pp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D8BD6-AD34-44C7-84F0-DEE19AD2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observed sample 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C0CFF-202A-476F-9276-FB41CC1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34290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16756-15A0-4F3B-A53D-94600962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95% paired bootstrap 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925CB-2262-4702-8482-170683E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956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+7.0 → +25.0pp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F0942-D1C0-47DC-BB4B-809CF3DF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20,000 resamples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6A157-9505-4B88-924C-3008E758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34290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83202-7849-4D8D-8A66-63F6E13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Exact McNemar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7947D-805A-4101-B8C3-C7533A8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 = 0.000794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50204-9846-4DEF-BA34-D0F8BAF0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6255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two-sided · preregistered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E126C-A27C-4F84-A127-FEAFCFC4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Ours 勝 / 平 / 負 = 123 / 102 / 75　｜　五個 gates 全部通過</a:t>
            </a:r>
          </a:p>
        </p:txBody>
      </p:sp>
    </p:spTree>
    <p:extLst>
      <p:ext uri="{BB962C8B-B14F-4D97-AF65-F5344CB8AC3E}">
        <p14:creationId xmlns:p14="http://schemas.microsoft.com/office/powerpoint/2010/main" val="806750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050B3-9A94-4260-B477-20357BB2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SAFARI DASHBOARD SCREENSHOT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C8219-BD19-4D3F-ABA9-ED68153E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實際成果畫面（1）：整個對照實驗一眼可讀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6661B-FAC4-4C41-8F58-D5A6FB8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C2596-03CD-411E-AAC2-18C41397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F6519-6F1B-470B-B4C6-82FD0E24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8486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954e96fbf4a26"/>
          <a:stretch xmlns:a="http://schemas.openxmlformats.org/drawingml/2006/main"/>
        </p:blipFill>
        <p:spPr>
          <a:xfrm xmlns:a="http://schemas.openxmlformats.org/drawingml/2006/main">
            <a:off x="518220" y="1466850"/>
            <a:ext cx="7612261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9E801-004B-48A4-9631-44084896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28196-7640-4673-91D4-6A7E3CCA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718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90F4C-558D-494B-AA14-E1792839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7DD1F-C6BA-4213-B0E2-D847BFFF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290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B9B12-182B-450F-A679-00F790FD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B7FC1-B84F-4956-8B20-C30DC32A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290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9DBA4-8700-44A3-A2B6-D0686DD7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391D9-8DD6-44A6-A26B-323ABFD7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DD34D-75BA-4E88-97B0-903FAF05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430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64FFD-8419-459B-8DBC-446844A4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結果卡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25558-6E48-4733-956B-3BD620D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68.7%、52.7%、+16pp、p 值都放在最上方。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0D430-B689-422B-8768-8DCE872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718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482D7-E15A-4E0B-A1B8-29311382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8BAB1-7087-47AD-8263-BC543273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718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DF56B-8851-41C6-8C88-CD0EFBA3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24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同模型流程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34FD2-4443-4069-80CA-C93F3CB1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同一輸入分到 Generic 與 Pragmatic 兩條 lane。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264DA1-A9CE-46E4-8207-E979AB83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3C723-15B4-4691-84B8-5299A3C6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D40D7-6AA3-4749-8C27-77E53826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005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1AF4E-774F-4FFE-93D1-4ABEB8C9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52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事前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F1F16B-293E-427C-A68D-13A7DD18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五個條件逐一 PASS，不只看一個漂亮平均。</a:t>
            </a:r>
          </a:p>
        </p:txBody>
      </p:sp>
    </p:spTree>
    <p:extLst>
      <p:ext uri="{BB962C8B-B14F-4D97-AF65-F5344CB8AC3E}">
        <p14:creationId xmlns:p14="http://schemas.microsoft.com/office/powerpoint/2010/main" val="19795852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C1A8C-F504-4330-8711-7A6F9902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CASE-LEVEL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00C18-9AAB-4711-A92B-9A50DE34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實際成果畫面（2）：能追到是哪個中間變數改變答案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A7334-5351-43A4-9318-43A3B228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1B8AB-B907-4796-AC56-093FE130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BCA86-FDF6-43E2-AFF1-AACA2C90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8486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EE2E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2a9443d244537"/>
          <a:stretch xmlns:a="http://schemas.openxmlformats.org/drawingml/2006/main"/>
        </p:blipFill>
        <p:spPr>
          <a:xfrm xmlns:a="http://schemas.openxmlformats.org/drawingml/2006/main">
            <a:off x="518220" y="1466850"/>
            <a:ext cx="7612261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7BE7A-5E39-4399-881C-07B105A0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10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25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CB367-47D6-45BD-823A-D51AA0EE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3865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617D4-0987-4426-B0FF-9C7ED828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10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0817B-FFA4-4FF0-B8D7-B11B3E37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B8752-38C0-4ABF-9DAF-65843E6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2CF30-D7E9-46BA-A6D5-CC2E9035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526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1｜一般深思：WRONG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9FB80-6462-47EE-B46C-97F7751D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推理文字其實說「no」，但最後 answer_index 指到 yes。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→ 中間思考與最終決策沒有對齊。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A4A7A-A87F-4B0C-A788-531C153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FCDF-F78A-403A-A834-3C24A8CC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481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2｜語用分解：CORRECT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157F7-AFEB-4839-AFBE-542B144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 broccoli、pineapples、there 分開成字面、目標、證據與替代。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→ final answer = no。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BB9F6-B7D2-4BBC-9368-56770ECE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6742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案例：PUB-T13-112｜「I put the pineapples there」不等於 broccoli 在 closet。</a:t>
            </a:r>
          </a:p>
        </p:txBody>
      </p:sp>
    </p:spTree>
    <p:extLst>
      <p:ext uri="{BB962C8B-B14F-4D97-AF65-F5344CB8AC3E}">
        <p14:creationId xmlns:p14="http://schemas.microsoft.com/office/powerpoint/2010/main" val="20149448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B94AE-594D-426F-A2C9-162D7B80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INTERPRETATION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1A2B3-8603-4D4F-BFB0-61DCEA9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結果怎麼解讀：一個完整的研究單元，不是完整的人類模型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ECAD2-9116-450D-9F18-2A22F1E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710DB-D510-4600-A341-BB3888B7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5AA9B-F8C6-4B7A-8F72-C1623CC4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276850" cy="4019550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419F3-6F02-40DB-9A41-D30A6067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現在可以說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59A32-7A03-43E7-B506-60EC0418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572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同一模型、同一題的成對比較</a:t>
            </a:r>
          </a:p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300 個與開發集不重疊的新 PUB T13 案例</a:t>
            </a:r>
          </a:p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語用分解取得 +16pp focused advantage</a:t>
            </a:r>
          </a:p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完整 prereg、power、CI、p 值與成本紀錄</a:t>
            </a:r>
          </a:p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逐案例可追到中間 reasoning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C9772-5FED-4F4E-9E58-033A87A1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5276850" cy="4019550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C0E65-AC94-4178-8EE7-554E0AC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現在不能說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CBE6C-F506-4D63-9144-CEAC61A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4572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已理解所有人類語用與言外之意</a:t>
            </a:r>
          </a:p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已證明長期人類理解或 felt understanding</a:t>
            </a:r>
          </a:p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已完成 Uruha 真人／公開人格 fidelity 驗證</a:t>
            </a:r>
          </a:p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已排除 foundation model 預訓練污染</a:t>
            </a:r>
          </a:p>
          <a:p xmlns:a="http://schemas.openxmlformats.org/drawingml/2006/main">
            <a:pPr marL="24" indent="-15" algn="l">
              <a:lnSpc>
                <a:spcPct val="115000"/>
              </a:lnSpc>
              <a:spcAft>
                <a:spcPts val="12"/>
              </a:spcAft>
              <a:buNone/>
              <a:def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已得到真實人腦方程式或主觀意識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1FC5-089F-4114-877E-4C2905C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7C8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6AD4F-515E-485D-8E3F-CBC09AA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資源代價：Ours tokens +9.0%｜aggregate latency +4.8%</a:t>
            </a:r>
          </a:p>
        </p:txBody>
      </p:sp>
    </p:spTree>
    <p:extLst>
      <p:ext uri="{BB962C8B-B14F-4D97-AF65-F5344CB8AC3E}">
        <p14:creationId xmlns:p14="http://schemas.microsoft.com/office/powerpoint/2010/main" val="7236253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F8F38-F8D4-4E9E-AC77-0475B11C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9DFFF-AF66-49FF-A848-3AF8E40B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我已經證明的，不是「系統有意識」；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而是「一個可解釋的中間機制，能在窄任務上帶來可重現優勢」。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EDFCD-CA44-48A7-8D8B-CB221B82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24765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55CD9-B8F1-4AAB-B502-3DB02D7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933F7-5B74-4960-B1F6-38737CF2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Token-matched placebo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8B03B-6E0A-417A-A528-8B6D0758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rPr>
              <a:t>排除多想／多 token 的效果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CC17F-B6AE-4931-851D-99E74FA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24765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62AC9-752E-4C9F-9FDD-E3D8B55B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078C6-B24F-4AC9-A2F3-50A85B4B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8615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跨模型＋選項排列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75135-4D48-48E3-AB78-040314EB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rPr>
              <a:t>檢查效果是否只屬於 qwen3.5:9b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E291B-E12D-4134-BBB9-DB5BEDFE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4765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FD39F-EDC6-46B1-8BC5-F796BE2F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86402-FFFE-4991-9B08-3DF7A8C4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Fresh multi-turn holdout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351C9-BBC3-4558-B8B7-7DC53BEB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481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rPr>
              <a:t>測隱含需求被否定後是否真的修正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6C910-EC3C-433A-8016-D12ED5D6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4765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0DD4D-A0AF-49D6-9FA9-86614C41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8F3F8-2302-420B-B09E-0E9BD3F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8615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Uruha temporal ground truth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40AA7-8AA8-49CC-BEB2-CB351F3F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481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rPr>
              <a:t>回到長期個體行為預測主線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24A80-CECE-4E58-B7B8-6BA079DF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78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一句話總結：先把人類回應前的中間變數變成可測試假設，再一步一步逼近「同樣輸入，得到同樣回應」。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3C0AA-1202-430D-AA41-945CE19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BD0E7"/>
                </a:solidFill>
                <a:latin typeface="Noto Sans CJK TC"/>
                <a:ea typeface="Noto Sans CJK TC"/>
                <a:cs typeface="Noto Sans CJK TC"/>
              </a:rPr>
              <a:t>下一步不是做更漂亮的聊天，而是做更嚴格的反例。</a:t>
            </a:r>
          </a:p>
        </p:txBody>
      </p:sp>
    </p:spTree>
    <p:extLst>
      <p:ext uri="{BB962C8B-B14F-4D97-AF65-F5344CB8AC3E}">
        <p14:creationId xmlns:p14="http://schemas.microsoft.com/office/powerpoint/2010/main" val="15244540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1B2DF5-495A-4FF2-A8DD-04E98D2A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REFERENCES ·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B9D18-317C-47F5-B8D3-91431BEB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主要參考文獻與本研究使用方式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3E9DB-07D4-45EA-9739-A3D009F0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RESEARCH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27EB3-40E5-4B0C-B4B9-C7F4F953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22989-AF07-4781-B5C4-8238AC82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Sravanthi et al. (2024)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B2583-FE7C-409E-AFD0-CC77055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525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PUB: A Pragmatics Understanding Benchmark…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06E46-FF7E-4E2E-84F7-4FDEB8D5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52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PUB T13 指示語資料與任務定義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1DC4F-38B5-4EA7-9E84-DF0FA34C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8"/>
          </a:solidFill>
          <a:ln xmlns:a="http://schemas.openxmlformats.org/drawingml/2006/main" w="0">
            <a:solidFill>
              <a:srgbClr val="DE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45010-9760-4223-A4FA-26A99FC2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Maharana et al. (2024)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E26ED-518D-420E-857F-D2823648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19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Evaluating Very Long-Term Conversational Memory…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C6066-0BF3-4B23-AEA9-5783CFF0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19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長期記憶任務分解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CEABD-EAA3-4EF6-9003-F126459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8"/>
          </a:solidFill>
          <a:ln xmlns:a="http://schemas.openxmlformats.org/drawingml/2006/main" w="0">
            <a:solidFill>
              <a:srgbClr val="DE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E77A4-D6C0-4FF6-96B7-C7BA8B26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Gneiting &amp; Raftery (2007)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39EBD-E220-4368-B6B4-4C419C91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Strictly Proper Scoring Rules…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1A03E-FF43-43FB-88D2-600E476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Brier / NLL 機率評測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F8FFC-9F75-44DF-AC17-1516C32D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8"/>
          </a:solidFill>
          <a:ln xmlns:a="http://schemas.openxmlformats.org/drawingml/2006/main" w="0">
            <a:solidFill>
              <a:srgbClr val="DE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6C650-2D4B-4E46-A17F-41302E1A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Guo et al. (2017)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9ABE8-EC11-4DC0-89B2-58CFF939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On Calibration of Modern Neural Networks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73C9C-1E27-4B65-BBD7-D61D8A9E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ECE 與 reliability diagram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ABF22-EB07-4EE2-954E-2EFD76CD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8"/>
          </a:solidFill>
          <a:ln xmlns:a="http://schemas.openxmlformats.org/drawingml/2006/main" w="0">
            <a:solidFill>
              <a:srgbClr val="DE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2E08D-49CC-42EB-B5F8-7D89289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Peyrard et al. (2021)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D69BD-4E42-4D68-8DBB-D6B2AEBB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95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Better than Average: Paired Evaluation…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AD74D-95CC-499E-BDD5-229125A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同題成對比較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FD049-8A76-4C93-9050-56E21CD5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8"/>
          </a:solidFill>
          <a:ln xmlns:a="http://schemas.openxmlformats.org/drawingml/2006/main" w="0">
            <a:solidFill>
              <a:srgbClr val="DE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B830A-E0C2-4D10-BB42-EC4B70B8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Berg-Kirkpatrick et al. (2012)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A3A5B-3C13-4CD9-A544-EDD54667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Statistical Significance in NLP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4380F2-B842-4F40-8676-F4EBB0BC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bootstrap 不確定性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6B1E1-9B6A-4ABF-A0D4-210C2493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8"/>
          </a:solidFill>
          <a:ln xmlns:a="http://schemas.openxmlformats.org/drawingml/2006/main" w="0">
            <a:solidFill>
              <a:srgbClr val="DE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63427-00CF-4812-87F8-CDAD041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Liu et al. (2016)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31FBFA-8536-46AC-BE9F-CA18C6D3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530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How NOT To Evaluate Your Dialogue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5A9716-61C7-41B0-B204-DF793076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自動文字指標不能代替真人品質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D4AF56-BA40-45A7-90FF-112162A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8"/>
          </a:solidFill>
          <a:ln xmlns:a="http://schemas.openxmlformats.org/drawingml/2006/main" w="0">
            <a:solidFill>
              <a:srgbClr val="DEE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92C366-A876-4FB0-8CC8-1D851072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104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2B58E0-CC42-48AE-8980-4B226FFA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完整 URL 已放在每頁講者備註；PPT 可直接進入 Presenter View 使用。</a:t>
            </a:r>
          </a:p>
        </p:txBody>
      </p:sp>
    </p:spTree>
    <p:extLst>
      <p:ext uri="{BB962C8B-B14F-4D97-AF65-F5344CB8AC3E}">
        <p14:creationId xmlns:p14="http://schemas.microsoft.com/office/powerpoint/2010/main" val="173678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2026-08-18T18:15:24.1860000Z</dcterms:created>
  <dcterms:modified xsi:type="dcterms:W3CDTF">2026-08-18T18:15:24.1860000Z</dcterms:modified>
</coreProperties>
</file>